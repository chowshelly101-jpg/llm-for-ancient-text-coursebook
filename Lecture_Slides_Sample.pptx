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33" r:id="rId3"/>
    <p:sldId id="263" r:id="rId5"/>
    <p:sldId id="258" r:id="rId6"/>
    <p:sldId id="264" r:id="rId7"/>
    <p:sldId id="295" r:id="rId8"/>
    <p:sldId id="297" r:id="rId9"/>
    <p:sldId id="260" r:id="rId10"/>
    <p:sldId id="285" r:id="rId11"/>
    <p:sldId id="301" r:id="rId12"/>
    <p:sldId id="302" r:id="rId13"/>
    <p:sldId id="303" r:id="rId14"/>
    <p:sldId id="298" r:id="rId15"/>
    <p:sldId id="296" r:id="rId16"/>
    <p:sldId id="269" r:id="rId17"/>
    <p:sldId id="306" r:id="rId18"/>
    <p:sldId id="270" r:id="rId19"/>
    <p:sldId id="304" r:id="rId20"/>
    <p:sldId id="305" r:id="rId21"/>
    <p:sldId id="307" r:id="rId22"/>
    <p:sldId id="276" r:id="rId23"/>
    <p:sldId id="275" r:id="rId24"/>
    <p:sldId id="308" r:id="rId25"/>
    <p:sldId id="326" r:id="rId26"/>
    <p:sldId id="309" r:id="rId27"/>
    <p:sldId id="273" r:id="rId28"/>
    <p:sldId id="299" r:id="rId29"/>
    <p:sldId id="278" r:id="rId30"/>
    <p:sldId id="332" r:id="rId31"/>
    <p:sldId id="328" r:id="rId32"/>
    <p:sldId id="310" r:id="rId33"/>
    <p:sldId id="311" r:id="rId34"/>
    <p:sldId id="284" r:id="rId35"/>
    <p:sldId id="329" r:id="rId36"/>
    <p:sldId id="312" r:id="rId37"/>
    <p:sldId id="313" r:id="rId38"/>
    <p:sldId id="314" r:id="rId39"/>
    <p:sldId id="315" r:id="rId40"/>
    <p:sldId id="316" r:id="rId41"/>
    <p:sldId id="317" r:id="rId42"/>
    <p:sldId id="300" r:id="rId43"/>
    <p:sldId id="318" r:id="rId44"/>
  </p:sldIdLst>
  <p:sldSz cx="12192000" cy="6858000"/>
  <p:notesSz cx="6858000" cy="9144000"/>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31" userDrawn="1">
          <p15:clr>
            <a:srgbClr val="A4A3A4"/>
          </p15:clr>
        </p15:guide>
        <p15:guide id="2" pos="40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557199"/>
    <a:srgbClr val="A0ACC3"/>
    <a:srgbClr val="7F7F7F"/>
    <a:srgbClr val="A9A9A9"/>
    <a:srgbClr val="9FACC3"/>
    <a:srgbClr val="9CC5FD"/>
    <a:srgbClr val="3A6695"/>
    <a:srgbClr val="134263"/>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877" autoAdjust="0"/>
    <p:restoredTop sz="65052" autoAdjust="0"/>
  </p:normalViewPr>
  <p:slideViewPr>
    <p:cSldViewPr snapToGrid="0" showGuides="1">
      <p:cViewPr varScale="1">
        <p:scale>
          <a:sx n="53" d="100"/>
          <a:sy n="53" d="100"/>
        </p:scale>
        <p:origin x="1171" y="58"/>
      </p:cViewPr>
      <p:guideLst>
        <p:guide orient="horz" pos="2031"/>
        <p:guide pos="4044"/>
      </p:guideLst>
    </p:cSldViewPr>
  </p:slideViewPr>
  <p:outlineViewPr>
    <p:cViewPr>
      <p:scale>
        <a:sx n="33" d="100"/>
        <a:sy n="33" d="100"/>
      </p:scale>
      <p:origin x="0" y="0"/>
    </p:cViewPr>
  </p:outlineViewPr>
  <p:notesTextViewPr>
    <p:cViewPr>
      <p:scale>
        <a:sx n="3" d="2"/>
        <a:sy n="3" d="2"/>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8" Type="http://schemas.openxmlformats.org/officeDocument/2006/relationships/tags" Target="tags/tag9.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None/>
            </a:pPr>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2.jpeg"/><Relationship Id="rId3" Type="http://schemas.openxmlformats.org/officeDocument/2006/relationships/tags" Target="../tags/tag2.xml"/><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7.xml"/><Relationship Id="rId6" Type="http://schemas.openxmlformats.org/officeDocument/2006/relationships/image" Target="../media/image2.jpeg"/><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7.xml"/><Relationship Id="rId2" Type="http://schemas.openxmlformats.org/officeDocument/2006/relationships/image" Target="../media/image2.jpeg"/><Relationship Id="rId1" Type="http://schemas.openxmlformats.org/officeDocument/2006/relationships/tags" Target="../tags/tag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7.xml"/><Relationship Id="rId2" Type="http://schemas.openxmlformats.org/officeDocument/2006/relationships/image" Target="../media/image11.png"/><Relationship Id="rId1" Type="http://schemas.openxmlformats.org/officeDocument/2006/relationships/image" Target="../media/image2.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2"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3"/>
            </p:custDataLst>
          </p:nvPr>
        </p:nvPicPr>
        <p:blipFill>
          <a:blip r:embed="rId2"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164548"/>
            <a:ext cx="12192000" cy="2861362"/>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descr="南京农业大学招生网_2022年南京农业大学艺术类招生简章_南京农业大学专业成绩查询-美术高考网www.mshao.com"/>
          <p:cNvPicPr>
            <a:picLocks noChangeAspect="1" noChangeArrowheads="1"/>
          </p:cNvPicPr>
          <p:nvPr/>
        </p:nvPicPr>
        <p:blipFill>
          <a:blip r:embed="rId4">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3775010" y="660604"/>
            <a:ext cx="4259282" cy="985548"/>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938235" y="3253129"/>
            <a:ext cx="10315102" cy="707886"/>
          </a:xfrm>
          <a:prstGeom prst="rect">
            <a:avLst/>
          </a:prstGeom>
          <a:noFill/>
        </p:spPr>
        <p:txBody>
          <a:bodyPr wrap="square" rtlCol="0">
            <a:spAutoFit/>
          </a:bodyPr>
          <a:lstStyle/>
          <a:p>
            <a:pPr algn="ctr"/>
            <a:r>
              <a:rPr lang="zh-CN" altLang="en-US" sz="4000" b="1" dirty="0">
                <a:solidFill>
                  <a:schemeClr val="bg1">
                    <a:lumMod val="95000"/>
                  </a:schemeClr>
                </a:solidFill>
                <a:latin typeface="微软雅黑" panose="020B0503020204020204" pitchFamily="34" charset="-122"/>
                <a:ea typeface="微软雅黑" panose="020B0503020204020204" pitchFamily="34" charset="-122"/>
              </a:rPr>
              <a:t>第一章 大语言模型基础原理与垂直领域应用</a:t>
            </a:r>
            <a:endParaRPr lang="zh-CN" altLang="en-US" sz="4000" b="1" dirty="0">
              <a:solidFill>
                <a:schemeClr val="bg1">
                  <a:lumMod val="95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rot="5400000">
            <a:off x="640241" y="1927534"/>
            <a:ext cx="1895069" cy="3084279"/>
            <a:chOff x="5287963" y="2346952"/>
            <a:chExt cx="1611313" cy="3162300"/>
          </a:xfrm>
        </p:grpSpPr>
        <p:grpSp>
          <p:nvGrpSpPr>
            <p:cNvPr id="16" name="组合 15"/>
            <p:cNvGrpSpPr/>
            <p:nvPr/>
          </p:nvGrpSpPr>
          <p:grpSpPr>
            <a:xfrm>
              <a:off x="5287963" y="2346952"/>
              <a:ext cx="1611313" cy="1192212"/>
              <a:chOff x="5287963" y="1844676"/>
              <a:chExt cx="1611313" cy="1192212"/>
            </a:xfrm>
          </p:grpSpPr>
          <p:sp>
            <p:nvSpPr>
              <p:cNvPr id="44" name="Line 9"/>
              <p:cNvSpPr>
                <a:spLocks noChangeShapeType="1"/>
              </p:cNvSpPr>
              <p:nvPr/>
            </p:nvSpPr>
            <p:spPr bwMode="auto">
              <a:xfrm flipV="1">
                <a:off x="6091238" y="1844676"/>
                <a:ext cx="0" cy="239713"/>
              </a:xfrm>
              <a:prstGeom prst="line">
                <a:avLst/>
              </a:prstGeom>
              <a:noFill/>
              <a:ln w="46038" cap="rnd">
                <a:solidFill>
                  <a:srgbClr val="557199"/>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5" name="Line 10"/>
              <p:cNvSpPr>
                <a:spLocks noChangeShapeType="1"/>
              </p:cNvSpPr>
              <p:nvPr/>
            </p:nvSpPr>
            <p:spPr bwMode="auto">
              <a:xfrm flipV="1">
                <a:off x="6370638" y="1949451"/>
                <a:ext cx="122238" cy="209550"/>
              </a:xfrm>
              <a:prstGeom prst="line">
                <a:avLst/>
              </a:prstGeom>
              <a:noFill/>
              <a:ln w="46038" cap="rnd">
                <a:solidFill>
                  <a:srgbClr val="557199"/>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6" name="Line 11"/>
              <p:cNvSpPr>
                <a:spLocks noChangeShapeType="1"/>
              </p:cNvSpPr>
              <p:nvPr/>
            </p:nvSpPr>
            <p:spPr bwMode="auto">
              <a:xfrm flipV="1">
                <a:off x="6573838" y="2239963"/>
                <a:ext cx="211138" cy="122238"/>
              </a:xfrm>
              <a:prstGeom prst="line">
                <a:avLst/>
              </a:prstGeom>
              <a:noFill/>
              <a:ln w="46038" cap="rnd">
                <a:solidFill>
                  <a:srgbClr val="557199"/>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7" name="Line 12"/>
              <p:cNvSpPr>
                <a:spLocks noChangeShapeType="1"/>
              </p:cNvSpPr>
              <p:nvPr/>
            </p:nvSpPr>
            <p:spPr bwMode="auto">
              <a:xfrm>
                <a:off x="6646863" y="2638426"/>
                <a:ext cx="252413" cy="0"/>
              </a:xfrm>
              <a:prstGeom prst="line">
                <a:avLst/>
              </a:prstGeom>
              <a:noFill/>
              <a:ln w="46038" cap="rnd">
                <a:solidFill>
                  <a:srgbClr val="557199"/>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8" name="Line 13"/>
              <p:cNvSpPr>
                <a:spLocks noChangeShapeType="1"/>
              </p:cNvSpPr>
              <p:nvPr/>
            </p:nvSpPr>
            <p:spPr bwMode="auto">
              <a:xfrm>
                <a:off x="6573838" y="2916238"/>
                <a:ext cx="211138" cy="120650"/>
              </a:xfrm>
              <a:prstGeom prst="line">
                <a:avLst/>
              </a:prstGeom>
              <a:noFill/>
              <a:ln w="46038" cap="rnd">
                <a:solidFill>
                  <a:srgbClr val="557199"/>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9" name="Line 14"/>
              <p:cNvSpPr>
                <a:spLocks noChangeShapeType="1"/>
              </p:cNvSpPr>
              <p:nvPr/>
            </p:nvSpPr>
            <p:spPr bwMode="auto">
              <a:xfrm flipH="1" flipV="1">
                <a:off x="5689600" y="1949451"/>
                <a:ext cx="122238" cy="209550"/>
              </a:xfrm>
              <a:prstGeom prst="line">
                <a:avLst/>
              </a:prstGeom>
              <a:noFill/>
              <a:ln w="46038" cap="rnd">
                <a:solidFill>
                  <a:srgbClr val="557199"/>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0" name="Line 15"/>
              <p:cNvSpPr>
                <a:spLocks noChangeShapeType="1"/>
              </p:cNvSpPr>
              <p:nvPr/>
            </p:nvSpPr>
            <p:spPr bwMode="auto">
              <a:xfrm flipH="1" flipV="1">
                <a:off x="5397500" y="2239963"/>
                <a:ext cx="211138" cy="122238"/>
              </a:xfrm>
              <a:prstGeom prst="line">
                <a:avLst/>
              </a:prstGeom>
              <a:noFill/>
              <a:ln w="46038" cap="rnd">
                <a:solidFill>
                  <a:srgbClr val="557199"/>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1" name="Line 16"/>
              <p:cNvSpPr>
                <a:spLocks noChangeShapeType="1"/>
              </p:cNvSpPr>
              <p:nvPr/>
            </p:nvSpPr>
            <p:spPr bwMode="auto">
              <a:xfrm flipH="1">
                <a:off x="5287963" y="2638426"/>
                <a:ext cx="244475" cy="0"/>
              </a:xfrm>
              <a:prstGeom prst="line">
                <a:avLst/>
              </a:prstGeom>
              <a:noFill/>
              <a:ln w="46038" cap="rnd">
                <a:solidFill>
                  <a:srgbClr val="557199"/>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52" name="Line 17"/>
              <p:cNvSpPr>
                <a:spLocks noChangeShapeType="1"/>
              </p:cNvSpPr>
              <p:nvPr/>
            </p:nvSpPr>
            <p:spPr bwMode="auto">
              <a:xfrm flipH="1">
                <a:off x="5397500" y="2916238"/>
                <a:ext cx="211138" cy="120650"/>
              </a:xfrm>
              <a:prstGeom prst="line">
                <a:avLst/>
              </a:prstGeom>
              <a:noFill/>
              <a:ln w="46038" cap="rnd">
                <a:solidFill>
                  <a:srgbClr val="557199"/>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grpSp>
        <p:grpSp>
          <p:nvGrpSpPr>
            <p:cNvPr id="17" name="组合 16"/>
            <p:cNvGrpSpPr/>
            <p:nvPr/>
          </p:nvGrpSpPr>
          <p:grpSpPr>
            <a:xfrm>
              <a:off x="5686425" y="2720014"/>
              <a:ext cx="809625" cy="1139825"/>
              <a:chOff x="5686425" y="2217738"/>
              <a:chExt cx="809625" cy="1139825"/>
            </a:xfrm>
          </p:grpSpPr>
          <p:sp>
            <p:nvSpPr>
              <p:cNvPr id="37" name="Freeform 5"/>
              <p:cNvSpPr/>
              <p:nvPr/>
            </p:nvSpPr>
            <p:spPr bwMode="auto">
              <a:xfrm>
                <a:off x="6091238" y="2336801"/>
                <a:ext cx="282575" cy="282575"/>
              </a:xfrm>
              <a:custGeom>
                <a:avLst/>
                <a:gdLst>
                  <a:gd name="T0" fmla="*/ 146 w 146"/>
                  <a:gd name="T1" fmla="*/ 147 h 147"/>
                  <a:gd name="T2" fmla="*/ 0 w 146"/>
                  <a:gd name="T3" fmla="*/ 0 h 147"/>
                </a:gdLst>
                <a:ahLst/>
                <a:cxnLst>
                  <a:cxn ang="0">
                    <a:pos x="T0" y="T1"/>
                  </a:cxn>
                  <a:cxn ang="0">
                    <a:pos x="T2" y="T3"/>
                  </a:cxn>
                </a:cxnLst>
                <a:rect l="0" t="0" r="r" b="b"/>
                <a:pathLst>
                  <a:path w="146" h="147">
                    <a:moveTo>
                      <a:pt x="146" y="147"/>
                    </a:moveTo>
                    <a:cubicBezTo>
                      <a:pt x="146" y="66"/>
                      <a:pt x="81" y="0"/>
                      <a:pt x="0" y="0"/>
                    </a:cubicBezTo>
                  </a:path>
                </a:pathLst>
              </a:custGeom>
              <a:noFill/>
              <a:ln w="46038" cap="rnd">
                <a:solidFill>
                  <a:srgbClr val="9FACC3"/>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8" name="Freeform 6"/>
              <p:cNvSpPr/>
              <p:nvPr/>
            </p:nvSpPr>
            <p:spPr bwMode="auto">
              <a:xfrm>
                <a:off x="6143625" y="2800351"/>
                <a:ext cx="104775" cy="422275"/>
              </a:xfrm>
              <a:custGeom>
                <a:avLst/>
                <a:gdLst>
                  <a:gd name="T0" fmla="*/ 23 w 66"/>
                  <a:gd name="T1" fmla="*/ 266 h 266"/>
                  <a:gd name="T2" fmla="*/ 0 w 66"/>
                  <a:gd name="T3" fmla="*/ 262 h 266"/>
                  <a:gd name="T4" fmla="*/ 44 w 66"/>
                  <a:gd name="T5" fmla="*/ 0 h 266"/>
                  <a:gd name="T6" fmla="*/ 66 w 66"/>
                  <a:gd name="T7" fmla="*/ 4 h 266"/>
                  <a:gd name="T8" fmla="*/ 23 w 66"/>
                  <a:gd name="T9" fmla="*/ 266 h 266"/>
                  <a:gd name="T10" fmla="*/ 23 w 66"/>
                  <a:gd name="T11" fmla="*/ 266 h 266"/>
                </a:gdLst>
                <a:ahLst/>
                <a:cxnLst>
                  <a:cxn ang="0">
                    <a:pos x="T0" y="T1"/>
                  </a:cxn>
                  <a:cxn ang="0">
                    <a:pos x="T2" y="T3"/>
                  </a:cxn>
                  <a:cxn ang="0">
                    <a:pos x="T4" y="T5"/>
                  </a:cxn>
                  <a:cxn ang="0">
                    <a:pos x="T6" y="T7"/>
                  </a:cxn>
                  <a:cxn ang="0">
                    <a:pos x="T8" y="T9"/>
                  </a:cxn>
                  <a:cxn ang="0">
                    <a:pos x="T10" y="T11"/>
                  </a:cxn>
                </a:cxnLst>
                <a:rect l="0" t="0" r="r" b="b"/>
                <a:pathLst>
                  <a:path w="66" h="266">
                    <a:moveTo>
                      <a:pt x="23" y="266"/>
                    </a:moveTo>
                    <a:lnTo>
                      <a:pt x="0" y="262"/>
                    </a:lnTo>
                    <a:lnTo>
                      <a:pt x="44" y="0"/>
                    </a:lnTo>
                    <a:lnTo>
                      <a:pt x="66" y="4"/>
                    </a:lnTo>
                    <a:lnTo>
                      <a:pt x="23" y="266"/>
                    </a:lnTo>
                    <a:lnTo>
                      <a:pt x="23" y="266"/>
                    </a:lnTo>
                    <a:close/>
                  </a:path>
                </a:pathLst>
              </a:custGeom>
              <a:solidFill>
                <a:srgbClr val="9FACC3"/>
              </a:solidFill>
              <a:ln w="9525">
                <a:solidFill>
                  <a:srgbClr val="9FACC3"/>
                </a:solidFill>
                <a:round/>
              </a:ln>
            </p:spPr>
            <p:txBody>
              <a:bodyPr vert="horz" wrap="square" lIns="91440" tIns="45720" rIns="91440" bIns="45720" numCol="1" anchor="t" anchorCtr="0" compatLnSpc="1"/>
              <a:lstStyle/>
              <a:p>
                <a:endParaRPr lang="zh-CN" altLang="en-US"/>
              </a:p>
            </p:txBody>
          </p:sp>
          <p:sp>
            <p:nvSpPr>
              <p:cNvPr id="39" name="Freeform 7"/>
              <p:cNvSpPr/>
              <p:nvPr/>
            </p:nvSpPr>
            <p:spPr bwMode="auto">
              <a:xfrm>
                <a:off x="5932488" y="2800351"/>
                <a:ext cx="104775" cy="422275"/>
              </a:xfrm>
              <a:custGeom>
                <a:avLst/>
                <a:gdLst>
                  <a:gd name="T0" fmla="*/ 44 w 66"/>
                  <a:gd name="T1" fmla="*/ 266 h 266"/>
                  <a:gd name="T2" fmla="*/ 0 w 66"/>
                  <a:gd name="T3" fmla="*/ 4 h 266"/>
                  <a:gd name="T4" fmla="*/ 23 w 66"/>
                  <a:gd name="T5" fmla="*/ 0 h 266"/>
                  <a:gd name="T6" fmla="*/ 66 w 66"/>
                  <a:gd name="T7" fmla="*/ 262 h 266"/>
                  <a:gd name="T8" fmla="*/ 44 w 66"/>
                  <a:gd name="T9" fmla="*/ 266 h 266"/>
                  <a:gd name="T10" fmla="*/ 44 w 66"/>
                  <a:gd name="T11" fmla="*/ 266 h 266"/>
                </a:gdLst>
                <a:ahLst/>
                <a:cxnLst>
                  <a:cxn ang="0">
                    <a:pos x="T0" y="T1"/>
                  </a:cxn>
                  <a:cxn ang="0">
                    <a:pos x="T2" y="T3"/>
                  </a:cxn>
                  <a:cxn ang="0">
                    <a:pos x="T4" y="T5"/>
                  </a:cxn>
                  <a:cxn ang="0">
                    <a:pos x="T6" y="T7"/>
                  </a:cxn>
                  <a:cxn ang="0">
                    <a:pos x="T8" y="T9"/>
                  </a:cxn>
                  <a:cxn ang="0">
                    <a:pos x="T10" y="T11"/>
                  </a:cxn>
                </a:cxnLst>
                <a:rect l="0" t="0" r="r" b="b"/>
                <a:pathLst>
                  <a:path w="66" h="266">
                    <a:moveTo>
                      <a:pt x="44" y="266"/>
                    </a:moveTo>
                    <a:lnTo>
                      <a:pt x="0" y="4"/>
                    </a:lnTo>
                    <a:lnTo>
                      <a:pt x="23" y="0"/>
                    </a:lnTo>
                    <a:lnTo>
                      <a:pt x="66" y="262"/>
                    </a:lnTo>
                    <a:lnTo>
                      <a:pt x="44" y="266"/>
                    </a:lnTo>
                    <a:lnTo>
                      <a:pt x="44" y="266"/>
                    </a:lnTo>
                    <a:close/>
                  </a:path>
                </a:pathLst>
              </a:custGeom>
              <a:solidFill>
                <a:srgbClr val="9FACC3"/>
              </a:solidFill>
              <a:ln w="9525">
                <a:solidFill>
                  <a:srgbClr val="9FACC3"/>
                </a:solidFill>
                <a:round/>
              </a:ln>
            </p:spPr>
            <p:txBody>
              <a:bodyPr vert="horz" wrap="square" lIns="91440" tIns="45720" rIns="91440" bIns="45720" numCol="1" anchor="t" anchorCtr="0" compatLnSpc="1"/>
              <a:lstStyle/>
              <a:p>
                <a:endParaRPr lang="zh-CN" altLang="en-US"/>
              </a:p>
            </p:txBody>
          </p:sp>
          <p:sp>
            <p:nvSpPr>
              <p:cNvPr id="40" name="Freeform 8"/>
              <p:cNvSpPr/>
              <p:nvPr/>
            </p:nvSpPr>
            <p:spPr bwMode="auto">
              <a:xfrm>
                <a:off x="5959475" y="2801938"/>
                <a:ext cx="269875" cy="58738"/>
              </a:xfrm>
              <a:custGeom>
                <a:avLst/>
                <a:gdLst>
                  <a:gd name="T0" fmla="*/ 139 w 139"/>
                  <a:gd name="T1" fmla="*/ 30 h 30"/>
                  <a:gd name="T2" fmla="*/ 126 w 139"/>
                  <a:gd name="T3" fmla="*/ 17 h 30"/>
                  <a:gd name="T4" fmla="*/ 122 w 139"/>
                  <a:gd name="T5" fmla="*/ 10 h 30"/>
                  <a:gd name="T6" fmla="*/ 118 w 139"/>
                  <a:gd name="T7" fmla="*/ 17 h 30"/>
                  <a:gd name="T8" fmla="*/ 104 w 139"/>
                  <a:gd name="T9" fmla="*/ 30 h 30"/>
                  <a:gd name="T10" fmla="*/ 91 w 139"/>
                  <a:gd name="T11" fmla="*/ 17 h 30"/>
                  <a:gd name="T12" fmla="*/ 87 w 139"/>
                  <a:gd name="T13" fmla="*/ 10 h 30"/>
                  <a:gd name="T14" fmla="*/ 83 w 139"/>
                  <a:gd name="T15" fmla="*/ 17 h 30"/>
                  <a:gd name="T16" fmla="*/ 70 w 139"/>
                  <a:gd name="T17" fmla="*/ 30 h 30"/>
                  <a:gd name="T18" fmla="*/ 57 w 139"/>
                  <a:gd name="T19" fmla="*/ 17 h 30"/>
                  <a:gd name="T20" fmla="*/ 52 w 139"/>
                  <a:gd name="T21" fmla="*/ 10 h 30"/>
                  <a:gd name="T22" fmla="*/ 48 w 139"/>
                  <a:gd name="T23" fmla="*/ 17 h 30"/>
                  <a:gd name="T24" fmla="*/ 35 w 139"/>
                  <a:gd name="T25" fmla="*/ 30 h 30"/>
                  <a:gd name="T26" fmla="*/ 22 w 139"/>
                  <a:gd name="T27" fmla="*/ 17 h 30"/>
                  <a:gd name="T28" fmla="*/ 18 w 139"/>
                  <a:gd name="T29" fmla="*/ 10 h 30"/>
                  <a:gd name="T30" fmla="*/ 13 w 139"/>
                  <a:gd name="T31" fmla="*/ 17 h 30"/>
                  <a:gd name="T32" fmla="*/ 0 w 139"/>
                  <a:gd name="T33" fmla="*/ 30 h 30"/>
                  <a:gd name="T34" fmla="*/ 0 w 139"/>
                  <a:gd name="T35" fmla="*/ 20 h 30"/>
                  <a:gd name="T36" fmla="*/ 4 w 139"/>
                  <a:gd name="T37" fmla="*/ 13 h 30"/>
                  <a:gd name="T38" fmla="*/ 18 w 139"/>
                  <a:gd name="T39" fmla="*/ 0 h 30"/>
                  <a:gd name="T40" fmla="*/ 31 w 139"/>
                  <a:gd name="T41" fmla="*/ 13 h 30"/>
                  <a:gd name="T42" fmla="*/ 35 w 139"/>
                  <a:gd name="T43" fmla="*/ 20 h 30"/>
                  <a:gd name="T44" fmla="*/ 39 w 139"/>
                  <a:gd name="T45" fmla="*/ 13 h 30"/>
                  <a:gd name="T46" fmla="*/ 52 w 139"/>
                  <a:gd name="T47" fmla="*/ 0 h 30"/>
                  <a:gd name="T48" fmla="*/ 65 w 139"/>
                  <a:gd name="T49" fmla="*/ 13 h 30"/>
                  <a:gd name="T50" fmla="*/ 70 w 139"/>
                  <a:gd name="T51" fmla="*/ 20 h 30"/>
                  <a:gd name="T52" fmla="*/ 74 w 139"/>
                  <a:gd name="T53" fmla="*/ 13 h 30"/>
                  <a:gd name="T54" fmla="*/ 87 w 139"/>
                  <a:gd name="T55" fmla="*/ 0 h 30"/>
                  <a:gd name="T56" fmla="*/ 100 w 139"/>
                  <a:gd name="T57" fmla="*/ 13 h 30"/>
                  <a:gd name="T58" fmla="*/ 104 w 139"/>
                  <a:gd name="T59" fmla="*/ 20 h 30"/>
                  <a:gd name="T60" fmla="*/ 109 w 139"/>
                  <a:gd name="T61" fmla="*/ 13 h 30"/>
                  <a:gd name="T62" fmla="*/ 122 w 139"/>
                  <a:gd name="T63" fmla="*/ 0 h 30"/>
                  <a:gd name="T64" fmla="*/ 135 w 139"/>
                  <a:gd name="T65" fmla="*/ 13 h 30"/>
                  <a:gd name="T66" fmla="*/ 139 w 139"/>
                  <a:gd name="T67" fmla="*/ 20 h 30"/>
                  <a:gd name="T68" fmla="*/ 139 w 139"/>
                  <a:gd name="T69"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9" h="30">
                    <a:moveTo>
                      <a:pt x="139" y="30"/>
                    </a:moveTo>
                    <a:cubicBezTo>
                      <a:pt x="132" y="30"/>
                      <a:pt x="128" y="22"/>
                      <a:pt x="126" y="17"/>
                    </a:cubicBezTo>
                    <a:cubicBezTo>
                      <a:pt x="125" y="15"/>
                      <a:pt x="123" y="10"/>
                      <a:pt x="122" y="10"/>
                    </a:cubicBezTo>
                    <a:cubicBezTo>
                      <a:pt x="121" y="10"/>
                      <a:pt x="119" y="15"/>
                      <a:pt x="118" y="17"/>
                    </a:cubicBezTo>
                    <a:cubicBezTo>
                      <a:pt x="115" y="22"/>
                      <a:pt x="112" y="30"/>
                      <a:pt x="104" y="30"/>
                    </a:cubicBezTo>
                    <a:cubicBezTo>
                      <a:pt x="97" y="30"/>
                      <a:pt x="94" y="22"/>
                      <a:pt x="91" y="17"/>
                    </a:cubicBezTo>
                    <a:cubicBezTo>
                      <a:pt x="90" y="15"/>
                      <a:pt x="88" y="10"/>
                      <a:pt x="87" y="10"/>
                    </a:cubicBezTo>
                    <a:cubicBezTo>
                      <a:pt x="86" y="10"/>
                      <a:pt x="84" y="15"/>
                      <a:pt x="83" y="17"/>
                    </a:cubicBezTo>
                    <a:cubicBezTo>
                      <a:pt x="80" y="22"/>
                      <a:pt x="77" y="30"/>
                      <a:pt x="70" y="30"/>
                    </a:cubicBezTo>
                    <a:cubicBezTo>
                      <a:pt x="62" y="30"/>
                      <a:pt x="59" y="22"/>
                      <a:pt x="57" y="17"/>
                    </a:cubicBezTo>
                    <a:cubicBezTo>
                      <a:pt x="56" y="15"/>
                      <a:pt x="53" y="10"/>
                      <a:pt x="52" y="10"/>
                    </a:cubicBezTo>
                    <a:cubicBezTo>
                      <a:pt x="51" y="10"/>
                      <a:pt x="49" y="15"/>
                      <a:pt x="48" y="17"/>
                    </a:cubicBezTo>
                    <a:cubicBezTo>
                      <a:pt x="46" y="22"/>
                      <a:pt x="42" y="30"/>
                      <a:pt x="35" y="30"/>
                    </a:cubicBezTo>
                    <a:cubicBezTo>
                      <a:pt x="27" y="30"/>
                      <a:pt x="24" y="22"/>
                      <a:pt x="22" y="17"/>
                    </a:cubicBezTo>
                    <a:cubicBezTo>
                      <a:pt x="21" y="15"/>
                      <a:pt x="19" y="10"/>
                      <a:pt x="18" y="10"/>
                    </a:cubicBezTo>
                    <a:cubicBezTo>
                      <a:pt x="16" y="10"/>
                      <a:pt x="14" y="15"/>
                      <a:pt x="13" y="17"/>
                    </a:cubicBezTo>
                    <a:cubicBezTo>
                      <a:pt x="11" y="22"/>
                      <a:pt x="8" y="30"/>
                      <a:pt x="0" y="30"/>
                    </a:cubicBezTo>
                    <a:cubicBezTo>
                      <a:pt x="0" y="20"/>
                      <a:pt x="0" y="20"/>
                      <a:pt x="0" y="20"/>
                    </a:cubicBezTo>
                    <a:cubicBezTo>
                      <a:pt x="1" y="20"/>
                      <a:pt x="3" y="15"/>
                      <a:pt x="4" y="13"/>
                    </a:cubicBezTo>
                    <a:cubicBezTo>
                      <a:pt x="7" y="8"/>
                      <a:pt x="10" y="0"/>
                      <a:pt x="18" y="0"/>
                    </a:cubicBezTo>
                    <a:cubicBezTo>
                      <a:pt x="25" y="0"/>
                      <a:pt x="28" y="8"/>
                      <a:pt x="31" y="13"/>
                    </a:cubicBezTo>
                    <a:cubicBezTo>
                      <a:pt x="32" y="15"/>
                      <a:pt x="34" y="20"/>
                      <a:pt x="35" y="20"/>
                    </a:cubicBezTo>
                    <a:cubicBezTo>
                      <a:pt x="36" y="20"/>
                      <a:pt x="38" y="15"/>
                      <a:pt x="39" y="13"/>
                    </a:cubicBezTo>
                    <a:cubicBezTo>
                      <a:pt x="42" y="8"/>
                      <a:pt x="45" y="0"/>
                      <a:pt x="52" y="0"/>
                    </a:cubicBezTo>
                    <a:cubicBezTo>
                      <a:pt x="60" y="0"/>
                      <a:pt x="63" y="8"/>
                      <a:pt x="65" y="13"/>
                    </a:cubicBezTo>
                    <a:cubicBezTo>
                      <a:pt x="66" y="15"/>
                      <a:pt x="68" y="20"/>
                      <a:pt x="70" y="20"/>
                    </a:cubicBezTo>
                    <a:cubicBezTo>
                      <a:pt x="71" y="20"/>
                      <a:pt x="73" y="15"/>
                      <a:pt x="74" y="13"/>
                    </a:cubicBezTo>
                    <a:cubicBezTo>
                      <a:pt x="76" y="8"/>
                      <a:pt x="80" y="0"/>
                      <a:pt x="87" y="0"/>
                    </a:cubicBezTo>
                    <a:cubicBezTo>
                      <a:pt x="95" y="0"/>
                      <a:pt x="98" y="8"/>
                      <a:pt x="100" y="13"/>
                    </a:cubicBezTo>
                    <a:cubicBezTo>
                      <a:pt x="101" y="15"/>
                      <a:pt x="103" y="20"/>
                      <a:pt x="104" y="20"/>
                    </a:cubicBezTo>
                    <a:cubicBezTo>
                      <a:pt x="106" y="20"/>
                      <a:pt x="108" y="15"/>
                      <a:pt x="109" y="13"/>
                    </a:cubicBezTo>
                    <a:cubicBezTo>
                      <a:pt x="111" y="8"/>
                      <a:pt x="114" y="0"/>
                      <a:pt x="122" y="0"/>
                    </a:cubicBezTo>
                    <a:cubicBezTo>
                      <a:pt x="129" y="0"/>
                      <a:pt x="132" y="8"/>
                      <a:pt x="135" y="13"/>
                    </a:cubicBezTo>
                    <a:cubicBezTo>
                      <a:pt x="136" y="15"/>
                      <a:pt x="138" y="20"/>
                      <a:pt x="139" y="20"/>
                    </a:cubicBezTo>
                    <a:cubicBezTo>
                      <a:pt x="139" y="30"/>
                      <a:pt x="139" y="30"/>
                      <a:pt x="139" y="30"/>
                    </a:cubicBezTo>
                    <a:close/>
                  </a:path>
                </a:pathLst>
              </a:custGeom>
              <a:solidFill>
                <a:srgbClr val="9FACC3"/>
              </a:solidFill>
              <a:ln w="9525">
                <a:solidFill>
                  <a:srgbClr val="9FACC3"/>
                </a:solidFill>
                <a:round/>
              </a:ln>
            </p:spPr>
            <p:txBody>
              <a:bodyPr vert="horz" wrap="square" lIns="91440" tIns="45720" rIns="91440" bIns="45720" numCol="1" anchor="t" anchorCtr="0" compatLnSpc="1"/>
              <a:lstStyle/>
              <a:p>
                <a:endParaRPr lang="zh-CN" altLang="en-US"/>
              </a:p>
            </p:txBody>
          </p:sp>
          <p:sp>
            <p:nvSpPr>
              <p:cNvPr id="41" name="Freeform 18"/>
              <p:cNvSpPr/>
              <p:nvPr/>
            </p:nvSpPr>
            <p:spPr bwMode="auto">
              <a:xfrm>
                <a:off x="5686425" y="2217738"/>
                <a:ext cx="809625" cy="973138"/>
              </a:xfrm>
              <a:custGeom>
                <a:avLst/>
                <a:gdLst>
                  <a:gd name="T0" fmla="*/ 0 w 418"/>
                  <a:gd name="T1" fmla="*/ 209 h 506"/>
                  <a:gd name="T2" fmla="*/ 209 w 418"/>
                  <a:gd name="T3" fmla="*/ 0 h 506"/>
                  <a:gd name="T4" fmla="*/ 418 w 418"/>
                  <a:gd name="T5" fmla="*/ 209 h 506"/>
                  <a:gd name="T6" fmla="*/ 334 w 418"/>
                  <a:gd name="T7" fmla="*/ 414 h 506"/>
                  <a:gd name="T8" fmla="*/ 315 w 418"/>
                  <a:gd name="T9" fmla="*/ 506 h 506"/>
                  <a:gd name="T10" fmla="*/ 224 w 418"/>
                  <a:gd name="T11" fmla="*/ 506 h 506"/>
                  <a:gd name="T12" fmla="*/ 194 w 418"/>
                  <a:gd name="T13" fmla="*/ 506 h 506"/>
                  <a:gd name="T14" fmla="*/ 102 w 418"/>
                  <a:gd name="T15" fmla="*/ 506 h 506"/>
                  <a:gd name="T16" fmla="*/ 83 w 418"/>
                  <a:gd name="T17" fmla="*/ 414 h 506"/>
                  <a:gd name="T18" fmla="*/ 0 w 418"/>
                  <a:gd name="T19" fmla="*/ 209 h 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8" h="506">
                    <a:moveTo>
                      <a:pt x="0" y="209"/>
                    </a:moveTo>
                    <a:cubicBezTo>
                      <a:pt x="0" y="93"/>
                      <a:pt x="93" y="0"/>
                      <a:pt x="209" y="0"/>
                    </a:cubicBezTo>
                    <a:cubicBezTo>
                      <a:pt x="325" y="0"/>
                      <a:pt x="418" y="93"/>
                      <a:pt x="418" y="209"/>
                    </a:cubicBezTo>
                    <a:cubicBezTo>
                      <a:pt x="418" y="216"/>
                      <a:pt x="413" y="312"/>
                      <a:pt x="334" y="414"/>
                    </a:cubicBezTo>
                    <a:cubicBezTo>
                      <a:pt x="311" y="445"/>
                      <a:pt x="315" y="506"/>
                      <a:pt x="315" y="506"/>
                    </a:cubicBezTo>
                    <a:cubicBezTo>
                      <a:pt x="283" y="506"/>
                      <a:pt x="256" y="506"/>
                      <a:pt x="224" y="506"/>
                    </a:cubicBezTo>
                    <a:cubicBezTo>
                      <a:pt x="214" y="506"/>
                      <a:pt x="204" y="506"/>
                      <a:pt x="194" y="506"/>
                    </a:cubicBezTo>
                    <a:cubicBezTo>
                      <a:pt x="162" y="506"/>
                      <a:pt x="134" y="506"/>
                      <a:pt x="102" y="506"/>
                    </a:cubicBezTo>
                    <a:cubicBezTo>
                      <a:pt x="102" y="506"/>
                      <a:pt x="106" y="445"/>
                      <a:pt x="83" y="414"/>
                    </a:cubicBezTo>
                    <a:cubicBezTo>
                      <a:pt x="5" y="312"/>
                      <a:pt x="0" y="216"/>
                      <a:pt x="0" y="209"/>
                    </a:cubicBezTo>
                    <a:close/>
                  </a:path>
                </a:pathLst>
              </a:custGeom>
              <a:noFill/>
              <a:ln w="77788" cap="rnd">
                <a:solidFill>
                  <a:srgbClr val="557199"/>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42" name="Line 19"/>
              <p:cNvSpPr>
                <a:spLocks noChangeShapeType="1"/>
              </p:cNvSpPr>
              <p:nvPr/>
            </p:nvSpPr>
            <p:spPr bwMode="auto">
              <a:xfrm>
                <a:off x="5897563" y="3273426"/>
                <a:ext cx="385763" cy="0"/>
              </a:xfrm>
              <a:prstGeom prst="line">
                <a:avLst/>
              </a:prstGeom>
              <a:noFill/>
              <a:ln w="77788" cap="rnd">
                <a:solidFill>
                  <a:srgbClr val="557199"/>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43" name="Line 20"/>
              <p:cNvSpPr>
                <a:spLocks noChangeShapeType="1"/>
              </p:cNvSpPr>
              <p:nvPr/>
            </p:nvSpPr>
            <p:spPr bwMode="auto">
              <a:xfrm>
                <a:off x="5926138" y="3357563"/>
                <a:ext cx="330200" cy="0"/>
              </a:xfrm>
              <a:prstGeom prst="line">
                <a:avLst/>
              </a:prstGeom>
              <a:noFill/>
              <a:ln w="77788" cap="rnd">
                <a:solidFill>
                  <a:srgbClr val="557199"/>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grpSp>
        <p:grpSp>
          <p:nvGrpSpPr>
            <p:cNvPr id="18" name="组合 17"/>
            <p:cNvGrpSpPr/>
            <p:nvPr/>
          </p:nvGrpSpPr>
          <p:grpSpPr>
            <a:xfrm>
              <a:off x="5664200" y="3937627"/>
              <a:ext cx="1074738" cy="1571625"/>
              <a:chOff x="5664200" y="3435351"/>
              <a:chExt cx="1074738" cy="1571625"/>
            </a:xfrm>
          </p:grpSpPr>
          <p:sp>
            <p:nvSpPr>
              <p:cNvPr id="19" name="Line 21"/>
              <p:cNvSpPr>
                <a:spLocks noChangeShapeType="1"/>
              </p:cNvSpPr>
              <p:nvPr/>
            </p:nvSpPr>
            <p:spPr bwMode="auto">
              <a:xfrm>
                <a:off x="5975350" y="3435351"/>
                <a:ext cx="231775" cy="0"/>
              </a:xfrm>
              <a:prstGeom prst="line">
                <a:avLst/>
              </a:prstGeom>
              <a:noFill/>
              <a:ln w="77788" cap="rnd">
                <a:solidFill>
                  <a:srgbClr val="557199"/>
                </a:solidFill>
                <a:prstDash val="solid"/>
                <a:rou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zh-CN" altLang="en-US"/>
              </a:p>
            </p:txBody>
          </p:sp>
          <p:sp>
            <p:nvSpPr>
              <p:cNvPr id="20" name="Freeform 22"/>
              <p:cNvSpPr/>
              <p:nvPr/>
            </p:nvSpPr>
            <p:spPr bwMode="auto">
              <a:xfrm>
                <a:off x="5880100" y="3644901"/>
                <a:ext cx="795338" cy="317500"/>
              </a:xfrm>
              <a:custGeom>
                <a:avLst/>
                <a:gdLst>
                  <a:gd name="T0" fmla="*/ 327 w 410"/>
                  <a:gd name="T1" fmla="*/ 0 h 165"/>
                  <a:gd name="T2" fmla="*/ 410 w 410"/>
                  <a:gd name="T3" fmla="*/ 82 h 165"/>
                  <a:gd name="T4" fmla="*/ 410 w 410"/>
                  <a:gd name="T5" fmla="*/ 82 h 165"/>
                  <a:gd name="T6" fmla="*/ 327 w 410"/>
                  <a:gd name="T7" fmla="*/ 165 h 165"/>
                  <a:gd name="T8" fmla="*/ 0 w 410"/>
                  <a:gd name="T9" fmla="*/ 165 h 165"/>
                </a:gdLst>
                <a:ahLst/>
                <a:cxnLst>
                  <a:cxn ang="0">
                    <a:pos x="T0" y="T1"/>
                  </a:cxn>
                  <a:cxn ang="0">
                    <a:pos x="T2" y="T3"/>
                  </a:cxn>
                  <a:cxn ang="0">
                    <a:pos x="T4" y="T5"/>
                  </a:cxn>
                  <a:cxn ang="0">
                    <a:pos x="T6" y="T7"/>
                  </a:cxn>
                  <a:cxn ang="0">
                    <a:pos x="T8" y="T9"/>
                  </a:cxn>
                </a:cxnLst>
                <a:rect l="0" t="0" r="r" b="b"/>
                <a:pathLst>
                  <a:path w="410" h="165">
                    <a:moveTo>
                      <a:pt x="327" y="0"/>
                    </a:moveTo>
                    <a:cubicBezTo>
                      <a:pt x="373" y="0"/>
                      <a:pt x="410" y="37"/>
                      <a:pt x="410" y="82"/>
                    </a:cubicBezTo>
                    <a:cubicBezTo>
                      <a:pt x="410" y="82"/>
                      <a:pt x="410" y="82"/>
                      <a:pt x="410" y="82"/>
                    </a:cubicBezTo>
                    <a:cubicBezTo>
                      <a:pt x="410" y="128"/>
                      <a:pt x="373" y="165"/>
                      <a:pt x="327" y="165"/>
                    </a:cubicBezTo>
                    <a:cubicBezTo>
                      <a:pt x="0" y="165"/>
                      <a:pt x="0" y="165"/>
                      <a:pt x="0" y="165"/>
                    </a:cubicBezTo>
                  </a:path>
                </a:pathLst>
              </a:custGeom>
              <a:noFill/>
              <a:ln w="61913" cap="rnd">
                <a:solidFill>
                  <a:srgbClr val="557199"/>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21" name="Freeform 23"/>
              <p:cNvSpPr/>
              <p:nvPr/>
            </p:nvSpPr>
            <p:spPr bwMode="auto">
              <a:xfrm>
                <a:off x="6116638" y="4364038"/>
                <a:ext cx="622300" cy="642938"/>
              </a:xfrm>
              <a:custGeom>
                <a:avLst/>
                <a:gdLst>
                  <a:gd name="T0" fmla="*/ 213 w 321"/>
                  <a:gd name="T1" fmla="*/ 0 h 334"/>
                  <a:gd name="T2" fmla="*/ 321 w 321"/>
                  <a:gd name="T3" fmla="*/ 108 h 334"/>
                  <a:gd name="T4" fmla="*/ 321 w 321"/>
                  <a:gd name="T5" fmla="*/ 108 h 334"/>
                  <a:gd name="T6" fmla="*/ 213 w 321"/>
                  <a:gd name="T7" fmla="*/ 216 h 334"/>
                  <a:gd name="T8" fmla="*/ 0 w 321"/>
                  <a:gd name="T9" fmla="*/ 216 h 334"/>
                  <a:gd name="T10" fmla="*/ 0 w 321"/>
                  <a:gd name="T11" fmla="*/ 334 h 334"/>
                </a:gdLst>
                <a:ahLst/>
                <a:cxnLst>
                  <a:cxn ang="0">
                    <a:pos x="T0" y="T1"/>
                  </a:cxn>
                  <a:cxn ang="0">
                    <a:pos x="T2" y="T3"/>
                  </a:cxn>
                  <a:cxn ang="0">
                    <a:pos x="T4" y="T5"/>
                  </a:cxn>
                  <a:cxn ang="0">
                    <a:pos x="T6" y="T7"/>
                  </a:cxn>
                  <a:cxn ang="0">
                    <a:pos x="T8" y="T9"/>
                  </a:cxn>
                  <a:cxn ang="0">
                    <a:pos x="T10" y="T11"/>
                  </a:cxn>
                </a:cxnLst>
                <a:rect l="0" t="0" r="r" b="b"/>
                <a:pathLst>
                  <a:path w="321" h="334">
                    <a:moveTo>
                      <a:pt x="213" y="0"/>
                    </a:moveTo>
                    <a:cubicBezTo>
                      <a:pt x="273" y="0"/>
                      <a:pt x="321" y="49"/>
                      <a:pt x="321" y="108"/>
                    </a:cubicBezTo>
                    <a:cubicBezTo>
                      <a:pt x="321" y="108"/>
                      <a:pt x="321" y="108"/>
                      <a:pt x="321" y="108"/>
                    </a:cubicBezTo>
                    <a:cubicBezTo>
                      <a:pt x="321" y="168"/>
                      <a:pt x="273" y="216"/>
                      <a:pt x="213" y="216"/>
                    </a:cubicBezTo>
                    <a:cubicBezTo>
                      <a:pt x="0" y="216"/>
                      <a:pt x="0" y="216"/>
                      <a:pt x="0" y="216"/>
                    </a:cubicBezTo>
                    <a:cubicBezTo>
                      <a:pt x="0" y="334"/>
                      <a:pt x="0" y="334"/>
                      <a:pt x="0" y="334"/>
                    </a:cubicBezTo>
                  </a:path>
                </a:pathLst>
              </a:custGeom>
              <a:noFill/>
              <a:ln w="61913" cap="rnd">
                <a:solidFill>
                  <a:srgbClr val="557199"/>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2" name="Freeform 24"/>
              <p:cNvSpPr/>
              <p:nvPr/>
            </p:nvSpPr>
            <p:spPr bwMode="auto">
              <a:xfrm>
                <a:off x="5664200" y="3962401"/>
                <a:ext cx="879475" cy="401638"/>
              </a:xfrm>
              <a:custGeom>
                <a:avLst/>
                <a:gdLst>
                  <a:gd name="T0" fmla="*/ 453 w 453"/>
                  <a:gd name="T1" fmla="*/ 208 h 208"/>
                  <a:gd name="T2" fmla="*/ 104 w 453"/>
                  <a:gd name="T3" fmla="*/ 208 h 208"/>
                  <a:gd name="T4" fmla="*/ 0 w 453"/>
                  <a:gd name="T5" fmla="*/ 104 h 208"/>
                  <a:gd name="T6" fmla="*/ 0 w 453"/>
                  <a:gd name="T7" fmla="*/ 104 h 208"/>
                  <a:gd name="T8" fmla="*/ 104 w 453"/>
                  <a:gd name="T9" fmla="*/ 0 h 208"/>
                </a:gdLst>
                <a:ahLst/>
                <a:cxnLst>
                  <a:cxn ang="0">
                    <a:pos x="T0" y="T1"/>
                  </a:cxn>
                  <a:cxn ang="0">
                    <a:pos x="T2" y="T3"/>
                  </a:cxn>
                  <a:cxn ang="0">
                    <a:pos x="T4" y="T5"/>
                  </a:cxn>
                  <a:cxn ang="0">
                    <a:pos x="T6" y="T7"/>
                  </a:cxn>
                  <a:cxn ang="0">
                    <a:pos x="T8" y="T9"/>
                  </a:cxn>
                </a:cxnLst>
                <a:rect l="0" t="0" r="r" b="b"/>
                <a:pathLst>
                  <a:path w="453" h="208">
                    <a:moveTo>
                      <a:pt x="453" y="208"/>
                    </a:moveTo>
                    <a:cubicBezTo>
                      <a:pt x="104" y="208"/>
                      <a:pt x="104" y="208"/>
                      <a:pt x="104" y="208"/>
                    </a:cubicBezTo>
                    <a:cubicBezTo>
                      <a:pt x="47" y="208"/>
                      <a:pt x="0" y="161"/>
                      <a:pt x="0" y="104"/>
                    </a:cubicBezTo>
                    <a:cubicBezTo>
                      <a:pt x="0" y="104"/>
                      <a:pt x="0" y="104"/>
                      <a:pt x="0" y="104"/>
                    </a:cubicBezTo>
                    <a:cubicBezTo>
                      <a:pt x="0" y="46"/>
                      <a:pt x="47" y="0"/>
                      <a:pt x="104" y="0"/>
                    </a:cubicBezTo>
                  </a:path>
                </a:pathLst>
              </a:custGeom>
              <a:noFill/>
              <a:ln w="61913" cap="rnd">
                <a:solidFill>
                  <a:srgbClr val="557199"/>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36" name="Freeform 25"/>
              <p:cNvSpPr/>
              <p:nvPr/>
            </p:nvSpPr>
            <p:spPr bwMode="auto">
              <a:xfrm>
                <a:off x="6097588" y="3479801"/>
                <a:ext cx="415925" cy="165100"/>
              </a:xfrm>
              <a:custGeom>
                <a:avLst/>
                <a:gdLst>
                  <a:gd name="T0" fmla="*/ 215 w 215"/>
                  <a:gd name="T1" fmla="*/ 86 h 86"/>
                  <a:gd name="T2" fmla="*/ 86 w 215"/>
                  <a:gd name="T3" fmla="*/ 86 h 86"/>
                  <a:gd name="T4" fmla="*/ 0 w 215"/>
                  <a:gd name="T5" fmla="*/ 0 h 86"/>
                  <a:gd name="T6" fmla="*/ 0 w 215"/>
                  <a:gd name="T7" fmla="*/ 0 h 86"/>
                </a:gdLst>
                <a:ahLst/>
                <a:cxnLst>
                  <a:cxn ang="0">
                    <a:pos x="T0" y="T1"/>
                  </a:cxn>
                  <a:cxn ang="0">
                    <a:pos x="T2" y="T3"/>
                  </a:cxn>
                  <a:cxn ang="0">
                    <a:pos x="T4" y="T5"/>
                  </a:cxn>
                  <a:cxn ang="0">
                    <a:pos x="T6" y="T7"/>
                  </a:cxn>
                </a:cxnLst>
                <a:rect l="0" t="0" r="r" b="b"/>
                <a:pathLst>
                  <a:path w="215" h="86">
                    <a:moveTo>
                      <a:pt x="215" y="86"/>
                    </a:moveTo>
                    <a:cubicBezTo>
                      <a:pt x="86" y="86"/>
                      <a:pt x="86" y="86"/>
                      <a:pt x="86" y="86"/>
                    </a:cubicBezTo>
                    <a:cubicBezTo>
                      <a:pt x="39" y="86"/>
                      <a:pt x="0" y="48"/>
                      <a:pt x="0" y="0"/>
                    </a:cubicBezTo>
                    <a:cubicBezTo>
                      <a:pt x="0" y="0"/>
                      <a:pt x="0" y="0"/>
                      <a:pt x="0" y="0"/>
                    </a:cubicBezTo>
                  </a:path>
                </a:pathLst>
              </a:custGeom>
              <a:noFill/>
              <a:ln w="61913" cap="rnd">
                <a:solidFill>
                  <a:srgbClr val="557199"/>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grpSp>
      </p:grpSp>
      <p:grpSp>
        <p:nvGrpSpPr>
          <p:cNvPr id="11" name="Group 4"/>
          <p:cNvGrpSpPr>
            <a:grpSpLocks noChangeAspect="1"/>
          </p:cNvGrpSpPr>
          <p:nvPr/>
        </p:nvGrpSpPr>
        <p:grpSpPr bwMode="auto">
          <a:xfrm rot="5400000" flipV="1">
            <a:off x="2853204" y="2508014"/>
            <a:ext cx="3346584" cy="1977462"/>
            <a:chOff x="431" y="1080"/>
            <a:chExt cx="3291" cy="2077"/>
          </a:xfrm>
          <a:solidFill>
            <a:srgbClr val="10A981"/>
          </a:solidFill>
        </p:grpSpPr>
        <p:sp>
          <p:nvSpPr>
            <p:cNvPr id="12" name="Rectangle 5"/>
            <p:cNvSpPr>
              <a:spLocks noChangeArrowheads="1"/>
            </p:cNvSpPr>
            <p:nvPr>
              <p:custDataLst>
                <p:tags r:id="rId1"/>
              </p:custDataLst>
            </p:nvPr>
          </p:nvSpPr>
          <p:spPr bwMode="auto">
            <a:xfrm>
              <a:off x="431" y="1274"/>
              <a:ext cx="2956" cy="48"/>
            </a:xfrm>
            <a:prstGeom prst="rect">
              <a:avLst/>
            </a:prstGeom>
            <a:solidFill>
              <a:srgbClr val="557199"/>
            </a:solidFill>
            <a:ln w="9525">
              <a:solidFill>
                <a:srgbClr val="0B7358"/>
              </a:solidFill>
              <a:miter lim="800000"/>
            </a:ln>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13" name="Freeform 6"/>
            <p:cNvSpPr/>
            <p:nvPr>
              <p:custDataLst>
                <p:tags r:id="rId2"/>
              </p:custDataLst>
            </p:nvPr>
          </p:nvSpPr>
          <p:spPr bwMode="auto">
            <a:xfrm>
              <a:off x="624" y="1080"/>
              <a:ext cx="918" cy="2077"/>
            </a:xfrm>
            <a:custGeom>
              <a:avLst/>
              <a:gdLst>
                <a:gd name="T0" fmla="*/ 1340 w 1340"/>
                <a:gd name="T1" fmla="*/ 283 h 1574"/>
                <a:gd name="T2" fmla="*/ 1340 w 1340"/>
                <a:gd name="T3" fmla="*/ 1291 h 1574"/>
                <a:gd name="T4" fmla="*/ 812 w 1340"/>
                <a:gd name="T5" fmla="*/ 1574 h 1574"/>
                <a:gd name="T6" fmla="*/ 284 w 1340"/>
                <a:gd name="T7" fmla="*/ 1291 h 1574"/>
                <a:gd name="T8" fmla="*/ 284 w 1340"/>
                <a:gd name="T9" fmla="*/ 283 h 1574"/>
                <a:gd name="T10" fmla="*/ 0 w 1340"/>
                <a:gd name="T11" fmla="*/ 0 h 1574"/>
                <a:gd name="T12" fmla="*/ 1056 w 1340"/>
                <a:gd name="T13" fmla="*/ 0 h 1574"/>
                <a:gd name="T14" fmla="*/ 1340 w 1340"/>
                <a:gd name="T15" fmla="*/ 283 h 15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40" h="1574">
                  <a:moveTo>
                    <a:pt x="1340" y="283"/>
                  </a:moveTo>
                  <a:cubicBezTo>
                    <a:pt x="1340" y="1291"/>
                    <a:pt x="1340" y="1291"/>
                    <a:pt x="1340" y="1291"/>
                  </a:cubicBezTo>
                  <a:cubicBezTo>
                    <a:pt x="812" y="1574"/>
                    <a:pt x="812" y="1574"/>
                    <a:pt x="812" y="1574"/>
                  </a:cubicBezTo>
                  <a:cubicBezTo>
                    <a:pt x="284" y="1291"/>
                    <a:pt x="284" y="1291"/>
                    <a:pt x="284" y="1291"/>
                  </a:cubicBezTo>
                  <a:cubicBezTo>
                    <a:pt x="284" y="283"/>
                    <a:pt x="284" y="283"/>
                    <a:pt x="284" y="283"/>
                  </a:cubicBezTo>
                  <a:cubicBezTo>
                    <a:pt x="284" y="126"/>
                    <a:pt x="157" y="0"/>
                    <a:pt x="0" y="0"/>
                  </a:cubicBezTo>
                  <a:cubicBezTo>
                    <a:pt x="1056" y="0"/>
                    <a:pt x="1056" y="0"/>
                    <a:pt x="1056" y="0"/>
                  </a:cubicBezTo>
                  <a:cubicBezTo>
                    <a:pt x="1213" y="0"/>
                    <a:pt x="1340" y="126"/>
                    <a:pt x="1340" y="283"/>
                  </a:cubicBezTo>
                  <a:close/>
                </a:path>
              </a:pathLst>
            </a:custGeom>
            <a:solidFill>
              <a:srgbClr val="55719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14" name="Freeform 7"/>
            <p:cNvSpPr/>
            <p:nvPr>
              <p:custDataLst>
                <p:tags r:id="rId3"/>
              </p:custDataLst>
            </p:nvPr>
          </p:nvSpPr>
          <p:spPr bwMode="auto">
            <a:xfrm>
              <a:off x="431" y="1080"/>
              <a:ext cx="388" cy="194"/>
            </a:xfrm>
            <a:custGeom>
              <a:avLst/>
              <a:gdLst>
                <a:gd name="T0" fmla="*/ 567 w 567"/>
                <a:gd name="T1" fmla="*/ 283 h 283"/>
                <a:gd name="T2" fmla="*/ 284 w 567"/>
                <a:gd name="T3" fmla="*/ 0 h 283"/>
                <a:gd name="T4" fmla="*/ 0 w 567"/>
                <a:gd name="T5" fmla="*/ 283 h 283"/>
              </a:gdLst>
              <a:ahLst/>
              <a:cxnLst>
                <a:cxn ang="0">
                  <a:pos x="T0" y="T1"/>
                </a:cxn>
                <a:cxn ang="0">
                  <a:pos x="T2" y="T3"/>
                </a:cxn>
                <a:cxn ang="0">
                  <a:pos x="T4" y="T5"/>
                </a:cxn>
              </a:cxnLst>
              <a:rect l="0" t="0" r="r" b="b"/>
              <a:pathLst>
                <a:path w="567" h="283">
                  <a:moveTo>
                    <a:pt x="567" y="283"/>
                  </a:moveTo>
                  <a:cubicBezTo>
                    <a:pt x="567" y="126"/>
                    <a:pt x="440" y="0"/>
                    <a:pt x="284" y="0"/>
                  </a:cubicBezTo>
                  <a:cubicBezTo>
                    <a:pt x="127" y="0"/>
                    <a:pt x="0" y="126"/>
                    <a:pt x="0" y="283"/>
                  </a:cubicBezTo>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65" name="Freeform 8"/>
            <p:cNvSpPr/>
            <p:nvPr>
              <p:custDataLst>
                <p:tags r:id="rId4"/>
              </p:custDataLst>
            </p:nvPr>
          </p:nvSpPr>
          <p:spPr bwMode="auto">
            <a:xfrm>
              <a:off x="2805" y="1080"/>
              <a:ext cx="917" cy="2077"/>
            </a:xfrm>
            <a:custGeom>
              <a:avLst/>
              <a:gdLst>
                <a:gd name="T0" fmla="*/ 1339 w 1339"/>
                <a:gd name="T1" fmla="*/ 283 h 1574"/>
                <a:gd name="T2" fmla="*/ 1339 w 1339"/>
                <a:gd name="T3" fmla="*/ 1291 h 1574"/>
                <a:gd name="T4" fmla="*/ 811 w 1339"/>
                <a:gd name="T5" fmla="*/ 1574 h 1574"/>
                <a:gd name="T6" fmla="*/ 283 w 1339"/>
                <a:gd name="T7" fmla="*/ 1291 h 1574"/>
                <a:gd name="T8" fmla="*/ 283 w 1339"/>
                <a:gd name="T9" fmla="*/ 283 h 1574"/>
                <a:gd name="T10" fmla="*/ 0 w 1339"/>
                <a:gd name="T11" fmla="*/ 0 h 1574"/>
                <a:gd name="T12" fmla="*/ 1056 w 1339"/>
                <a:gd name="T13" fmla="*/ 0 h 1574"/>
                <a:gd name="T14" fmla="*/ 1339 w 1339"/>
                <a:gd name="T15" fmla="*/ 283 h 15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39" h="1574">
                  <a:moveTo>
                    <a:pt x="1339" y="283"/>
                  </a:moveTo>
                  <a:cubicBezTo>
                    <a:pt x="1339" y="1291"/>
                    <a:pt x="1339" y="1291"/>
                    <a:pt x="1339" y="1291"/>
                  </a:cubicBezTo>
                  <a:cubicBezTo>
                    <a:pt x="811" y="1574"/>
                    <a:pt x="811" y="1574"/>
                    <a:pt x="811" y="1574"/>
                  </a:cubicBezTo>
                  <a:cubicBezTo>
                    <a:pt x="283" y="1291"/>
                    <a:pt x="283" y="1291"/>
                    <a:pt x="283" y="1291"/>
                  </a:cubicBezTo>
                  <a:cubicBezTo>
                    <a:pt x="283" y="283"/>
                    <a:pt x="283" y="283"/>
                    <a:pt x="283" y="283"/>
                  </a:cubicBezTo>
                  <a:cubicBezTo>
                    <a:pt x="283" y="126"/>
                    <a:pt x="156" y="0"/>
                    <a:pt x="0" y="0"/>
                  </a:cubicBezTo>
                  <a:cubicBezTo>
                    <a:pt x="1056" y="0"/>
                    <a:pt x="1056" y="0"/>
                    <a:pt x="1056" y="0"/>
                  </a:cubicBezTo>
                  <a:cubicBezTo>
                    <a:pt x="1212" y="0"/>
                    <a:pt x="1339" y="126"/>
                    <a:pt x="1339" y="283"/>
                  </a:cubicBezTo>
                  <a:close/>
                </a:path>
              </a:pathLst>
            </a:custGeom>
            <a:solidFill>
              <a:srgbClr val="55719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sp>
          <p:nvSpPr>
            <p:cNvPr id="66" name="Freeform 9"/>
            <p:cNvSpPr/>
            <p:nvPr>
              <p:custDataLst>
                <p:tags r:id="rId5"/>
              </p:custDataLst>
            </p:nvPr>
          </p:nvSpPr>
          <p:spPr bwMode="auto">
            <a:xfrm>
              <a:off x="2611" y="1080"/>
              <a:ext cx="388" cy="194"/>
            </a:xfrm>
            <a:custGeom>
              <a:avLst/>
              <a:gdLst>
                <a:gd name="T0" fmla="*/ 567 w 567"/>
                <a:gd name="T1" fmla="*/ 283 h 283"/>
                <a:gd name="T2" fmla="*/ 284 w 567"/>
                <a:gd name="T3" fmla="*/ 0 h 283"/>
                <a:gd name="T4" fmla="*/ 0 w 567"/>
                <a:gd name="T5" fmla="*/ 283 h 283"/>
              </a:gdLst>
              <a:ahLst/>
              <a:cxnLst>
                <a:cxn ang="0">
                  <a:pos x="T0" y="T1"/>
                </a:cxn>
                <a:cxn ang="0">
                  <a:pos x="T2" y="T3"/>
                </a:cxn>
                <a:cxn ang="0">
                  <a:pos x="T4" y="T5"/>
                </a:cxn>
              </a:cxnLst>
              <a:rect l="0" t="0" r="r" b="b"/>
              <a:pathLst>
                <a:path w="567" h="283">
                  <a:moveTo>
                    <a:pt x="567" y="283"/>
                  </a:moveTo>
                  <a:cubicBezTo>
                    <a:pt x="567" y="126"/>
                    <a:pt x="440" y="0"/>
                    <a:pt x="284" y="0"/>
                  </a:cubicBezTo>
                  <a:cubicBezTo>
                    <a:pt x="127" y="0"/>
                    <a:pt x="0" y="126"/>
                    <a:pt x="0" y="283"/>
                  </a:cubicBezTo>
                </a:path>
              </a:pathLst>
            </a:custGeom>
            <a:solidFill>
              <a:srgbClr val="595959"/>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a:latin typeface="Roboto Light" panose="02000000000000000000" pitchFamily="2" charset="0"/>
                <a:ea typeface="Roboto Light" panose="02000000000000000000" pitchFamily="2" charset="0"/>
              </a:endParaRPr>
            </a:p>
          </p:txBody>
        </p:sp>
      </p:grpSp>
      <p:sp>
        <p:nvSpPr>
          <p:cNvPr id="88" name="文本框 87"/>
          <p:cNvSpPr txBox="1"/>
          <p:nvPr/>
        </p:nvSpPr>
        <p:spPr>
          <a:xfrm>
            <a:off x="3473387" y="2320776"/>
            <a:ext cx="1977462" cy="523220"/>
          </a:xfrm>
          <a:prstGeom prst="rect">
            <a:avLst/>
          </a:prstGeom>
          <a:noFill/>
        </p:spPr>
        <p:txBody>
          <a:bodyPr wrap="square" rtlCol="0">
            <a:spAutoFit/>
          </a:bodyPr>
          <a:lstStyle/>
          <a:p>
            <a:pPr algn="ctr"/>
            <a:r>
              <a:rPr lang="zh-CN" altLang="en-US" sz="2800" dirty="0">
                <a:solidFill>
                  <a:schemeClr val="bg1"/>
                </a:solidFill>
                <a:latin typeface="宋体" pitchFamily="2" charset="-122"/>
                <a:ea typeface="宋体" pitchFamily="2" charset="-122"/>
              </a:rPr>
              <a:t>章节内容</a:t>
            </a:r>
            <a:endParaRPr lang="en-US" altLang="zh-CN" sz="2800" dirty="0">
              <a:solidFill>
                <a:schemeClr val="bg1"/>
              </a:solidFill>
              <a:latin typeface="宋体" pitchFamily="2" charset="-122"/>
              <a:ea typeface="宋体" pitchFamily="2" charset="-122"/>
            </a:endParaRPr>
          </a:p>
        </p:txBody>
      </p:sp>
      <p:sp>
        <p:nvSpPr>
          <p:cNvPr id="89" name="文本框 88"/>
          <p:cNvSpPr txBox="1"/>
          <p:nvPr/>
        </p:nvSpPr>
        <p:spPr>
          <a:xfrm>
            <a:off x="3473387" y="4523989"/>
            <a:ext cx="1977462" cy="523220"/>
          </a:xfrm>
          <a:prstGeom prst="rect">
            <a:avLst/>
          </a:prstGeom>
          <a:noFill/>
        </p:spPr>
        <p:txBody>
          <a:bodyPr wrap="square" rtlCol="0">
            <a:spAutoFit/>
          </a:bodyPr>
          <a:lstStyle/>
          <a:p>
            <a:pPr algn="ctr"/>
            <a:r>
              <a:rPr lang="zh-CN" altLang="en-US" sz="2800" dirty="0">
                <a:solidFill>
                  <a:schemeClr val="bg1"/>
                </a:solidFill>
                <a:latin typeface="宋体" pitchFamily="2" charset="-122"/>
                <a:ea typeface="宋体" pitchFamily="2" charset="-122"/>
              </a:rPr>
              <a:t>教学目标</a:t>
            </a:r>
            <a:endParaRPr lang="en-US" altLang="zh-CN" sz="2800" dirty="0">
              <a:solidFill>
                <a:schemeClr val="bg1"/>
              </a:solidFill>
              <a:latin typeface="宋体" pitchFamily="2" charset="-122"/>
              <a:ea typeface="宋体" pitchFamily="2" charset="-122"/>
            </a:endParaRPr>
          </a:p>
        </p:txBody>
      </p:sp>
      <p:sp>
        <p:nvSpPr>
          <p:cNvPr id="154" name="文本框 153"/>
          <p:cNvSpPr txBox="1"/>
          <p:nvPr/>
        </p:nvSpPr>
        <p:spPr>
          <a:xfrm>
            <a:off x="5909803" y="2024957"/>
            <a:ext cx="5356379" cy="1193596"/>
          </a:xfrm>
          <a:prstGeom prst="rect">
            <a:avLst/>
          </a:prstGeom>
          <a:noFill/>
        </p:spPr>
        <p:txBody>
          <a:bodyPr wrap="square" rtlCol="0">
            <a:spAutoFit/>
          </a:bodyPr>
          <a:lstStyle/>
          <a:p>
            <a:pPr>
              <a:lnSpc>
                <a:spcPct val="125000"/>
              </a:lnSpc>
            </a:pPr>
            <a:r>
              <a:rPr lang="zh-CN" altLang="en-US" sz="2000" dirty="0">
                <a:solidFill>
                  <a:srgbClr val="595959"/>
                </a:solidFill>
                <a:latin typeface="宋体" pitchFamily="2" charset="-122"/>
                <a:ea typeface="宋体" pitchFamily="2" charset="-122"/>
              </a:rPr>
              <a:t>该章节主要介绍语言模型的发展简史和大语言模型构建的基础原理。并介绍大语言模型在垂直领域的应用场景。</a:t>
            </a:r>
            <a:endParaRPr lang="zh-CN" altLang="en-US" sz="2000" dirty="0">
              <a:solidFill>
                <a:srgbClr val="595959"/>
              </a:solidFill>
              <a:latin typeface="宋体" pitchFamily="2" charset="-122"/>
              <a:ea typeface="宋体" pitchFamily="2" charset="-122"/>
            </a:endParaRPr>
          </a:p>
        </p:txBody>
      </p:sp>
      <p:sp>
        <p:nvSpPr>
          <p:cNvPr id="155" name="文本框 154"/>
          <p:cNvSpPr txBox="1"/>
          <p:nvPr/>
        </p:nvSpPr>
        <p:spPr>
          <a:xfrm>
            <a:off x="5910782" y="4102248"/>
            <a:ext cx="5356379" cy="1578317"/>
          </a:xfrm>
          <a:prstGeom prst="rect">
            <a:avLst/>
          </a:prstGeom>
          <a:noFill/>
        </p:spPr>
        <p:txBody>
          <a:bodyPr wrap="square" rtlCol="0">
            <a:spAutoFit/>
          </a:bodyPr>
          <a:lstStyle/>
          <a:p>
            <a:pPr>
              <a:lnSpc>
                <a:spcPct val="125000"/>
              </a:lnSpc>
            </a:pPr>
            <a:r>
              <a:rPr lang="en-US" altLang="zh-CN" sz="2000" dirty="0">
                <a:solidFill>
                  <a:srgbClr val="595959"/>
                </a:solidFill>
                <a:latin typeface="宋体" pitchFamily="2" charset="-122"/>
                <a:ea typeface="宋体" pitchFamily="2" charset="-122"/>
              </a:rPr>
              <a:t>1.</a:t>
            </a:r>
            <a:r>
              <a:rPr lang="zh-CN" altLang="en-US" sz="2000" dirty="0">
                <a:solidFill>
                  <a:srgbClr val="595959"/>
                </a:solidFill>
                <a:latin typeface="宋体" pitchFamily="2" charset="-122"/>
                <a:ea typeface="宋体" pitchFamily="2" charset="-122"/>
              </a:rPr>
              <a:t>使学生初步了解大语言模型的基础原理以及垂直领域的概念。</a:t>
            </a:r>
            <a:endParaRPr lang="zh-CN" altLang="en-US" sz="2000" dirty="0">
              <a:solidFill>
                <a:srgbClr val="595959"/>
              </a:solidFill>
              <a:latin typeface="宋体" pitchFamily="2" charset="-122"/>
              <a:ea typeface="宋体" pitchFamily="2" charset="-122"/>
            </a:endParaRPr>
          </a:p>
          <a:p>
            <a:pPr>
              <a:lnSpc>
                <a:spcPct val="125000"/>
              </a:lnSpc>
            </a:pPr>
            <a:r>
              <a:rPr lang="en-US" altLang="zh-CN" sz="2000" dirty="0">
                <a:solidFill>
                  <a:srgbClr val="595959"/>
                </a:solidFill>
                <a:latin typeface="宋体" pitchFamily="2" charset="-122"/>
                <a:ea typeface="宋体" pitchFamily="2" charset="-122"/>
              </a:rPr>
              <a:t>2.</a:t>
            </a:r>
            <a:r>
              <a:rPr lang="zh-CN" altLang="en-US" sz="2000" dirty="0">
                <a:solidFill>
                  <a:srgbClr val="595959"/>
                </a:solidFill>
                <a:latin typeface="宋体" pitchFamily="2" charset="-122"/>
                <a:ea typeface="宋体" pitchFamily="2" charset="-122"/>
              </a:rPr>
              <a:t>了解大语言模型在古籍处理领域有哪些具体的应用场景。</a:t>
            </a:r>
            <a:endParaRPr lang="zh-CN" altLang="en-US" sz="2000" dirty="0">
              <a:solidFill>
                <a:srgbClr val="595959"/>
              </a:solidFill>
              <a:latin typeface="宋体" pitchFamily="2" charset="-122"/>
              <a:ea typeface="宋体" pitchFamily="2" charset="-122"/>
            </a:endParaRPr>
          </a:p>
        </p:txBody>
      </p:sp>
      <p:pic>
        <p:nvPicPr>
          <p:cNvPr id="168" name="Picture 2" descr="南京农业大学招生网_2022年南京农业大学艺术类招生简章_南京农业大学专业成绩查询-美术高考网www.mshao.com"/>
          <p:cNvPicPr>
            <a:picLocks noChangeAspect="1" noChangeArrowheads="1"/>
          </p:cNvPicPr>
          <p:nvPr/>
        </p:nvPicPr>
        <p:blipFill>
          <a:blip r:embed="rId6">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13335" y="155593"/>
            <a:ext cx="2730300" cy="6317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圆角矩形 16"/>
          <p:cNvSpPr/>
          <p:nvPr/>
        </p:nvSpPr>
        <p:spPr>
          <a:xfrm>
            <a:off x="-1608166" y="1892300"/>
            <a:ext cx="5651845" cy="3073400"/>
          </a:xfrm>
          <a:prstGeom prst="roundRect">
            <a:avLst>
              <a:gd name="adj" fmla="val 50000"/>
            </a:avLst>
          </a:pr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圆角矩形 1"/>
          <p:cNvSpPr/>
          <p:nvPr/>
        </p:nvSpPr>
        <p:spPr>
          <a:xfrm>
            <a:off x="-1380744" y="1998319"/>
            <a:ext cx="5269115" cy="2861362"/>
          </a:xfrm>
          <a:prstGeom prst="roundRect">
            <a:avLst>
              <a:gd name="adj" fmla="val 50000"/>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5642044" y="1204577"/>
            <a:ext cx="911156" cy="577144"/>
          </a:xfrm>
          <a:prstGeom prst="roundRect">
            <a:avLst>
              <a:gd name="adj" fmla="val 50000"/>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01</a:t>
            </a:r>
            <a:endParaRPr lang="zh-CN" altLang="en-US" b="1" dirty="0"/>
          </a:p>
        </p:txBody>
      </p:sp>
      <p:sp>
        <p:nvSpPr>
          <p:cNvPr id="6" name="圆角矩形 5"/>
          <p:cNvSpPr/>
          <p:nvPr/>
        </p:nvSpPr>
        <p:spPr>
          <a:xfrm>
            <a:off x="5642044" y="2172502"/>
            <a:ext cx="911156" cy="577144"/>
          </a:xfrm>
          <a:prstGeom prst="roundRect">
            <a:avLst>
              <a:gd name="adj" fmla="val 50000"/>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02</a:t>
            </a:r>
            <a:endParaRPr lang="zh-CN" altLang="en-US" b="1" dirty="0"/>
          </a:p>
        </p:txBody>
      </p:sp>
      <p:sp>
        <p:nvSpPr>
          <p:cNvPr id="7" name="圆角矩形 6"/>
          <p:cNvSpPr/>
          <p:nvPr/>
        </p:nvSpPr>
        <p:spPr>
          <a:xfrm>
            <a:off x="5642044" y="3140427"/>
            <a:ext cx="911156" cy="577144"/>
          </a:xfrm>
          <a:prstGeom prst="roundRect">
            <a:avLst>
              <a:gd name="adj" fmla="val 50000"/>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03</a:t>
            </a:r>
            <a:endParaRPr lang="zh-CN" altLang="en-US" b="1" dirty="0"/>
          </a:p>
        </p:txBody>
      </p:sp>
      <p:sp>
        <p:nvSpPr>
          <p:cNvPr id="8" name="圆角矩形 7"/>
          <p:cNvSpPr/>
          <p:nvPr/>
        </p:nvSpPr>
        <p:spPr>
          <a:xfrm>
            <a:off x="5642044" y="4108352"/>
            <a:ext cx="911156" cy="577144"/>
          </a:xfrm>
          <a:prstGeom prst="roundRect">
            <a:avLst>
              <a:gd name="adj" fmla="val 50000"/>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04</a:t>
            </a:r>
            <a:endParaRPr lang="zh-CN" altLang="en-US" b="1" dirty="0"/>
          </a:p>
        </p:txBody>
      </p:sp>
      <p:sp>
        <p:nvSpPr>
          <p:cNvPr id="9" name="圆角矩形 8"/>
          <p:cNvSpPr/>
          <p:nvPr/>
        </p:nvSpPr>
        <p:spPr>
          <a:xfrm>
            <a:off x="5642044" y="5076279"/>
            <a:ext cx="911156" cy="577144"/>
          </a:xfrm>
          <a:prstGeom prst="roundRect">
            <a:avLst>
              <a:gd name="adj" fmla="val 50000"/>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05</a:t>
            </a:r>
            <a:endParaRPr lang="zh-CN" altLang="en-US" b="1" dirty="0"/>
          </a:p>
        </p:txBody>
      </p:sp>
      <p:sp>
        <p:nvSpPr>
          <p:cNvPr id="59" name="圆角矩形 58"/>
          <p:cNvSpPr/>
          <p:nvPr/>
        </p:nvSpPr>
        <p:spPr>
          <a:xfrm>
            <a:off x="6746943" y="1204577"/>
            <a:ext cx="3682929" cy="577144"/>
          </a:xfrm>
          <a:prstGeom prst="roundRect">
            <a:avLst>
              <a:gd name="adj" fmla="val 50000"/>
            </a:avLst>
          </a:pr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语言模型简介</a:t>
            </a:r>
            <a:endParaRPr lang="zh-CN" altLang="en-US" sz="2000" b="1" dirty="0">
              <a:latin typeface="微软雅黑" panose="020B0503020204020204" pitchFamily="34" charset="-122"/>
              <a:ea typeface="微软雅黑" panose="020B0503020204020204" pitchFamily="34" charset="-122"/>
            </a:endParaRPr>
          </a:p>
        </p:txBody>
      </p:sp>
      <p:sp>
        <p:nvSpPr>
          <p:cNvPr id="60" name="圆角矩形 59"/>
          <p:cNvSpPr/>
          <p:nvPr/>
        </p:nvSpPr>
        <p:spPr>
          <a:xfrm>
            <a:off x="6746944" y="2172502"/>
            <a:ext cx="3682930" cy="577144"/>
          </a:xfrm>
          <a:prstGeom prst="roundRect">
            <a:avLst>
              <a:gd name="adj" fmla="val 50000"/>
            </a:avLst>
          </a:pr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语言模型发展史</a:t>
            </a:r>
            <a:endParaRPr lang="zh-CN" altLang="en-US" sz="2000" b="1" dirty="0">
              <a:latin typeface="微软雅黑" panose="020B0503020204020204" pitchFamily="34" charset="-122"/>
              <a:ea typeface="微软雅黑" panose="020B0503020204020204" pitchFamily="34" charset="-122"/>
            </a:endParaRPr>
          </a:p>
        </p:txBody>
      </p:sp>
      <p:sp>
        <p:nvSpPr>
          <p:cNvPr id="61" name="圆角矩形 60"/>
          <p:cNvSpPr/>
          <p:nvPr/>
        </p:nvSpPr>
        <p:spPr>
          <a:xfrm>
            <a:off x="6746944" y="3140427"/>
            <a:ext cx="3682930" cy="577144"/>
          </a:xfrm>
          <a:prstGeom prst="roundRect">
            <a:avLst>
              <a:gd name="adj" fmla="val 50000"/>
            </a:avLst>
          </a:pr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大语言模型技术原理</a:t>
            </a:r>
            <a:endParaRPr lang="zh-CN" altLang="en-US" sz="2000" b="1" dirty="0">
              <a:latin typeface="微软雅黑" panose="020B0503020204020204" pitchFamily="34" charset="-122"/>
              <a:ea typeface="微软雅黑" panose="020B0503020204020204" pitchFamily="34" charset="-122"/>
            </a:endParaRPr>
          </a:p>
        </p:txBody>
      </p:sp>
      <p:sp>
        <p:nvSpPr>
          <p:cNvPr id="62" name="圆角矩形 61"/>
          <p:cNvSpPr/>
          <p:nvPr/>
        </p:nvSpPr>
        <p:spPr>
          <a:xfrm>
            <a:off x="6746944" y="4108352"/>
            <a:ext cx="3682930" cy="577144"/>
          </a:xfrm>
          <a:prstGeom prst="roundRect">
            <a:avLst>
              <a:gd name="adj" fmla="val 50000"/>
            </a:avLst>
          </a:pr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大语言模型的应用</a:t>
            </a:r>
            <a:endParaRPr lang="zh-CN" altLang="en-US" sz="2000" b="1" dirty="0">
              <a:latin typeface="微软雅黑" panose="020B0503020204020204" pitchFamily="34" charset="-122"/>
              <a:ea typeface="微软雅黑" panose="020B0503020204020204" pitchFamily="34" charset="-122"/>
            </a:endParaRPr>
          </a:p>
        </p:txBody>
      </p:sp>
      <p:sp>
        <p:nvSpPr>
          <p:cNvPr id="63" name="圆角矩形 62"/>
          <p:cNvSpPr/>
          <p:nvPr/>
        </p:nvSpPr>
        <p:spPr>
          <a:xfrm>
            <a:off x="6746943" y="5076279"/>
            <a:ext cx="3682931" cy="577144"/>
          </a:xfrm>
          <a:prstGeom prst="roundRect">
            <a:avLst>
              <a:gd name="adj" fmla="val 50000"/>
            </a:avLst>
          </a:pr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latin typeface="微软雅黑" panose="020B0503020204020204" pitchFamily="34" charset="-122"/>
                <a:ea typeface="微软雅黑" panose="020B0503020204020204" pitchFamily="34" charset="-122"/>
              </a:rPr>
              <a:t>代码获取与代码运行环境配置</a:t>
            </a:r>
            <a:endParaRPr lang="zh-CN" altLang="en-US" sz="2000" b="1" dirty="0">
              <a:latin typeface="微软雅黑" panose="020B0503020204020204" pitchFamily="34" charset="-122"/>
              <a:ea typeface="微软雅黑" panose="020B0503020204020204" pitchFamily="34" charset="-122"/>
            </a:endParaRPr>
          </a:p>
        </p:txBody>
      </p:sp>
      <p:sp>
        <p:nvSpPr>
          <p:cNvPr id="64" name="TextBox 78"/>
          <p:cNvSpPr txBox="1"/>
          <p:nvPr/>
        </p:nvSpPr>
        <p:spPr>
          <a:xfrm>
            <a:off x="748855" y="3733289"/>
            <a:ext cx="2063385" cy="502766"/>
          </a:xfrm>
          <a:prstGeom prst="rect">
            <a:avLst/>
          </a:prstGeom>
          <a:noFill/>
        </p:spPr>
        <p:txBody>
          <a:bodyPr wrap="none" rtlCol="0">
            <a:spAutoFit/>
          </a:bodyPr>
          <a:lstStyle/>
          <a:p>
            <a:pPr algn="ctr"/>
            <a:r>
              <a:rPr lang="en-US" altLang="zh-CN" sz="2665" b="1" dirty="0">
                <a:solidFill>
                  <a:schemeClr val="bg1"/>
                </a:solidFill>
                <a:latin typeface="Impact MT Std" pitchFamily="34" charset="0"/>
                <a:ea typeface="微软雅黑" panose="020B0503020204020204" pitchFamily="34" charset="-122"/>
              </a:rPr>
              <a:t>CONTENTS</a:t>
            </a:r>
            <a:endParaRPr lang="zh-CN" altLang="en-US" sz="2665" b="1" dirty="0">
              <a:solidFill>
                <a:schemeClr val="bg1"/>
              </a:solidFill>
              <a:latin typeface="Impact MT Std" pitchFamily="34" charset="0"/>
              <a:ea typeface="微软雅黑" panose="020B0503020204020204" pitchFamily="34" charset="-122"/>
            </a:endParaRPr>
          </a:p>
        </p:txBody>
      </p:sp>
      <p:sp>
        <p:nvSpPr>
          <p:cNvPr id="65" name="TextBox 79"/>
          <p:cNvSpPr txBox="1"/>
          <p:nvPr/>
        </p:nvSpPr>
        <p:spPr>
          <a:xfrm>
            <a:off x="824197" y="2677173"/>
            <a:ext cx="1912703" cy="995209"/>
          </a:xfrm>
          <a:prstGeom prst="rect">
            <a:avLst/>
          </a:prstGeom>
          <a:noFill/>
        </p:spPr>
        <p:txBody>
          <a:bodyPr wrap="none" rtlCol="0">
            <a:spAutoFit/>
          </a:bodyPr>
          <a:lstStyle/>
          <a:p>
            <a:pPr algn="ctr"/>
            <a:r>
              <a:rPr lang="zh-CN" altLang="en-US" sz="5865" b="1" dirty="0">
                <a:solidFill>
                  <a:schemeClr val="bg1"/>
                </a:solidFill>
                <a:latin typeface="微软雅黑" panose="020B0503020204020204" pitchFamily="34" charset="-122"/>
                <a:ea typeface="微软雅黑" panose="020B0503020204020204" pitchFamily="34" charset="-122"/>
              </a:rPr>
              <a:t>目 录</a:t>
            </a:r>
            <a:endParaRPr lang="zh-CN" altLang="en-US" sz="5865"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617872" y="-4617869"/>
            <a:ext cx="2956264" cy="12192002"/>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2266814"/>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2726076"/>
            <a:ext cx="1196340" cy="460375"/>
          </a:xfrm>
          <a:prstGeom prst="rect">
            <a:avLst/>
          </a:prstGeom>
          <a:noFill/>
        </p:spPr>
        <p:txBody>
          <a:bodyPr wrap="none" rtlCol="0">
            <a:spAutoFit/>
          </a:bodyPr>
          <a:lstStyle/>
          <a:p>
            <a:r>
              <a:rPr lang="en-US" altLang="zh-CN" sz="2400" dirty="0">
                <a:solidFill>
                  <a:srgbClr val="557199"/>
                </a:solidFill>
                <a:latin typeface="微软雅黑" panose="020B0503020204020204" pitchFamily="34" charset="-122"/>
                <a:ea typeface="微软雅黑" panose="020B0503020204020204" pitchFamily="34" charset="-122"/>
              </a:rPr>
              <a:t>Part.01</a:t>
            </a:r>
            <a:endParaRPr lang="en-US" altLang="zh-CN" sz="2400" dirty="0">
              <a:solidFill>
                <a:srgbClr val="557199"/>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0791" y="4518448"/>
            <a:ext cx="5537198" cy="707886"/>
          </a:xfrm>
          <a:prstGeom prst="rect">
            <a:avLst/>
          </a:prstGeom>
          <a:noFill/>
          <a:ln>
            <a:noFill/>
          </a:ln>
        </p:spPr>
        <p:txBody>
          <a:bodyPr wrap="square" rtlCol="0">
            <a:spAutoFit/>
          </a:bodyPr>
          <a:lstStyle/>
          <a:p>
            <a:pPr algn="ctr"/>
            <a:r>
              <a:rPr lang="zh-CN" altLang="en-US" sz="4000" b="1" spc="600" dirty="0">
                <a:solidFill>
                  <a:srgbClr val="557199"/>
                </a:solidFill>
                <a:latin typeface="微软雅黑" panose="020B0503020204020204" pitchFamily="34" charset="-122"/>
                <a:ea typeface="微软雅黑" panose="020B0503020204020204" pitchFamily="34" charset="-122"/>
              </a:rPr>
              <a:t>语言模型简介</a:t>
            </a:r>
            <a:endParaRPr lang="zh-CN" altLang="en-US" sz="4000" b="1" spc="600" dirty="0">
              <a:solidFill>
                <a:srgbClr val="55719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0"/>
            <a:ext cx="12192000" cy="792000"/>
            <a:chOff x="0" y="0"/>
            <a:chExt cx="12192000" cy="792000"/>
          </a:xfrm>
        </p:grpSpPr>
        <p:sp>
          <p:nvSpPr>
            <p:cNvPr id="7"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8"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3231850"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rgbClr val="557199"/>
                </a:solidFill>
              </a:endParaRPr>
            </a:p>
          </p:txBody>
        </p:sp>
        <p:cxnSp>
          <p:nvCxnSpPr>
            <p:cNvPr id="10"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LM</a:t>
              </a:r>
              <a:r>
                <a:rPr lang="zh-CN" altLang="en-US" sz="1600" b="1" dirty="0">
                  <a:solidFill>
                    <a:schemeClr val="bg1"/>
                  </a:solidFill>
                  <a:latin typeface="微软雅黑" panose="020B0503020204020204" pitchFamily="34" charset="-122"/>
                  <a:ea typeface="微软雅黑" panose="020B0503020204020204" pitchFamily="34" charset="-122"/>
                </a:rPr>
                <a:t>简介</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12" name="TextBox 7"/>
            <p:cNvSpPr txBox="1"/>
            <p:nvPr/>
          </p:nvSpPr>
          <p:spPr>
            <a:xfrm>
              <a:off x="4989565" y="224420"/>
              <a:ext cx="1501145"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发展史</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3" name="TextBox 9"/>
            <p:cNvSpPr txBox="1"/>
            <p:nvPr/>
          </p:nvSpPr>
          <p:spPr>
            <a:xfrm>
              <a:off x="6699976" y="225772"/>
              <a:ext cx="1501146"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技术原理</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8"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20"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grpSp>
      <p:sp>
        <p:nvSpPr>
          <p:cNvPr id="22" name="学论网-矩形 1"/>
          <p:cNvSpPr/>
          <p:nvPr/>
        </p:nvSpPr>
        <p:spPr>
          <a:xfrm>
            <a:off x="694778" y="1394097"/>
            <a:ext cx="9920831" cy="790303"/>
          </a:xfrm>
          <a:prstGeom prst="rect">
            <a:avLst/>
          </a:prstGeom>
          <a:solidFill>
            <a:srgbClr val="557199"/>
          </a:solidFill>
          <a:ln w="12700" cap="flat" cmpd="sng" algn="ctr">
            <a:solidFill>
              <a:srgbClr val="448AD7"/>
            </a:solidFill>
            <a:prstDash val="solid"/>
          </a:ln>
          <a:effectLst/>
        </p:spPr>
        <p:txBody>
          <a:bodyPr rtlCol="0" anchor="ctr"/>
          <a:lstStyle/>
          <a:p>
            <a:pPr lvl="0"/>
            <a:r>
              <a:rPr lang="zh-CN" altLang="en-US" sz="240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rPr>
              <a:t> 语言模型（</a:t>
            </a:r>
            <a:r>
              <a:rPr lang="en-US" altLang="zh-CN" sz="240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rPr>
              <a:t>Language Model</a:t>
            </a:r>
            <a:r>
              <a:rPr lang="zh-CN" altLang="en-US" sz="240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rPr>
              <a:t>，简称</a:t>
            </a:r>
            <a:r>
              <a:rPr lang="en-US" altLang="zh-CN" sz="240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rPr>
              <a:t>LM</a:t>
            </a:r>
            <a:r>
              <a:rPr lang="zh-CN" altLang="en-US" sz="240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rPr>
              <a:t>）</a:t>
            </a:r>
            <a:endParaRPr lang="zh-CN" altLang="en-US" sz="240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endParaRPr>
          </a:p>
        </p:txBody>
      </p:sp>
      <p:sp>
        <p:nvSpPr>
          <p:cNvPr id="23" name="学论网-矩形 1"/>
          <p:cNvSpPr/>
          <p:nvPr/>
        </p:nvSpPr>
        <p:spPr>
          <a:xfrm>
            <a:off x="694778" y="2308497"/>
            <a:ext cx="9920833" cy="3457303"/>
          </a:xfrm>
          <a:prstGeom prst="rect">
            <a:avLst/>
          </a:prstGeom>
          <a:noFill/>
          <a:ln w="12700" cap="flat" cmpd="sng" algn="ctr">
            <a:solidFill>
              <a:srgbClr val="557199"/>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24" name="学论网-www.xuelun.me"/>
          <p:cNvSpPr txBox="1"/>
          <p:nvPr/>
        </p:nvSpPr>
        <p:spPr>
          <a:xfrm>
            <a:off x="694778" y="2621156"/>
            <a:ext cx="9792247" cy="2236190"/>
          </a:xfrm>
          <a:prstGeom prst="rect">
            <a:avLst/>
          </a:prstGeom>
          <a:noFill/>
          <a:ln>
            <a:noFill/>
          </a:ln>
        </p:spPr>
        <p:txBody>
          <a:bodyPr wrap="square" lIns="0" tIns="0" rIns="0" bIns="0" rtlCol="0">
            <a:spAutoFit/>
          </a:bodyPr>
          <a:lstStyle/>
          <a:p>
            <a:pPr marL="539750" indent="-342900" fontAlgn="auto">
              <a:lnSpc>
                <a:spcPct val="150000"/>
              </a:lnSpc>
              <a:buFont typeface="Arial" panose="020B0604020202090204" pitchFamily="34" charset="0"/>
              <a:buChar char="•"/>
            </a:pPr>
            <a:r>
              <a:rPr lang="zh-CN" altLang="en-US" sz="2000" dirty="0">
                <a:solidFill>
                  <a:srgbClr val="595959"/>
                </a:solidFill>
                <a:latin typeface="楷体" panose="02010609060101010101" pitchFamily="49" charset="-122"/>
                <a:ea typeface="楷体" panose="02010609060101010101" pitchFamily="49" charset="-122"/>
                <a:sym typeface="+mn-ea"/>
              </a:rPr>
              <a:t>语言模型是自然语言处理（</a:t>
            </a:r>
            <a:r>
              <a:rPr lang="en-GB" altLang="zh-CN" sz="2000" dirty="0">
                <a:solidFill>
                  <a:srgbClr val="595959"/>
                </a:solidFill>
                <a:latin typeface="楷体" panose="02010609060101010101" pitchFamily="49" charset="-122"/>
                <a:ea typeface="楷体" panose="02010609060101010101" pitchFamily="49" charset="-122"/>
                <a:sym typeface="+mn-ea"/>
              </a:rPr>
              <a:t>NLP</a:t>
            </a:r>
            <a:r>
              <a:rPr lang="zh-CN" altLang="en-GB" sz="2000" dirty="0">
                <a:solidFill>
                  <a:srgbClr val="595959"/>
                </a:solidFill>
                <a:latin typeface="楷体" panose="02010609060101010101" pitchFamily="49" charset="-122"/>
                <a:ea typeface="楷体" panose="02010609060101010101" pitchFamily="49" charset="-122"/>
                <a:sym typeface="+mn-ea"/>
              </a:rPr>
              <a:t>）</a:t>
            </a:r>
            <a:r>
              <a:rPr lang="zh-CN" altLang="en-US" sz="2000" dirty="0">
                <a:solidFill>
                  <a:srgbClr val="595959"/>
                </a:solidFill>
                <a:latin typeface="楷体" panose="02010609060101010101" pitchFamily="49" charset="-122"/>
                <a:ea typeface="楷体" panose="02010609060101010101" pitchFamily="49" charset="-122"/>
                <a:sym typeface="+mn-ea"/>
              </a:rPr>
              <a:t>领域的核心技术，其主要任务是对自然语言序列进行概率建模</a:t>
            </a:r>
            <a:endParaRPr lang="en-US" altLang="zh-CN" sz="2000" dirty="0">
              <a:solidFill>
                <a:srgbClr val="595959"/>
              </a:solidFill>
              <a:latin typeface="楷体" panose="02010609060101010101" pitchFamily="49" charset="-122"/>
              <a:ea typeface="楷体" panose="02010609060101010101" pitchFamily="49" charset="-122"/>
              <a:sym typeface="+mn-ea"/>
            </a:endParaRPr>
          </a:p>
          <a:p>
            <a:pPr marL="539750" indent="-342900" fontAlgn="auto">
              <a:lnSpc>
                <a:spcPct val="150000"/>
              </a:lnSpc>
              <a:buFont typeface="Arial" panose="020B0604020202090204" pitchFamily="34" charset="0"/>
              <a:buChar char="•"/>
            </a:pPr>
            <a:r>
              <a:rPr lang="zh-CN" altLang="en-US" sz="2000" dirty="0">
                <a:solidFill>
                  <a:srgbClr val="595959"/>
                </a:solidFill>
                <a:latin typeface="楷体" panose="02010609060101010101" pitchFamily="49" charset="-122"/>
                <a:ea typeface="楷体" panose="02010609060101010101" pitchFamily="49" charset="-122"/>
                <a:sym typeface="+mn-ea"/>
              </a:rPr>
              <a:t>具体来说，语言模型就是用来计算一个句子或者一段文本在某种语言中出现的概率，进而预测生成规律，用于各种</a:t>
            </a:r>
            <a:r>
              <a:rPr lang="en-US" altLang="zh-CN" sz="2000" dirty="0">
                <a:solidFill>
                  <a:srgbClr val="595959"/>
                </a:solidFill>
                <a:latin typeface="楷体" panose="02010609060101010101" pitchFamily="49" charset="-122"/>
                <a:ea typeface="楷体" panose="02010609060101010101" pitchFamily="49" charset="-122"/>
                <a:sym typeface="+mn-ea"/>
              </a:rPr>
              <a:t>NLP</a:t>
            </a:r>
            <a:r>
              <a:rPr lang="zh-CN" altLang="en-US" sz="2000" dirty="0">
                <a:solidFill>
                  <a:srgbClr val="595959"/>
                </a:solidFill>
                <a:latin typeface="楷体" panose="02010609060101010101" pitchFamily="49" charset="-122"/>
                <a:ea typeface="楷体" panose="02010609060101010101" pitchFamily="49" charset="-122"/>
                <a:sym typeface="+mn-ea"/>
              </a:rPr>
              <a:t>任务</a:t>
            </a:r>
            <a:endParaRPr lang="en-US" altLang="zh-CN" sz="2000" dirty="0">
              <a:solidFill>
                <a:srgbClr val="595959"/>
              </a:solidFill>
              <a:latin typeface="楷体" panose="02010609060101010101" pitchFamily="49" charset="-122"/>
              <a:ea typeface="楷体" panose="02010609060101010101" pitchFamily="49" charset="-122"/>
              <a:sym typeface="+mn-ea"/>
            </a:endParaRPr>
          </a:p>
          <a:p>
            <a:pPr marL="539750" indent="-342900" fontAlgn="auto">
              <a:lnSpc>
                <a:spcPct val="150000"/>
              </a:lnSpc>
              <a:buFont typeface="Arial" panose="020B0604020202090204" pitchFamily="34" charset="0"/>
              <a:buChar char="•"/>
            </a:pPr>
            <a:r>
              <a:rPr lang="zh-CN" altLang="en-US" sz="2000" dirty="0">
                <a:solidFill>
                  <a:srgbClr val="595959"/>
                </a:solidFill>
                <a:latin typeface="楷体" panose="02010609060101010101" pitchFamily="49" charset="-122"/>
                <a:ea typeface="楷体" panose="02010609060101010101" pitchFamily="49" charset="-122"/>
                <a:sym typeface="+mn-ea"/>
              </a:rPr>
              <a:t>在实体识别、机器翻译、文本生成、问答等任务中发挥关键作用</a:t>
            </a:r>
            <a:endParaRPr lang="en-US" altLang="zh-CN" sz="2000" dirty="0">
              <a:solidFill>
                <a:srgbClr val="595959"/>
              </a:solidFill>
              <a:latin typeface="楷体" panose="02010609060101010101" pitchFamily="49" charset="-122"/>
              <a:ea typeface="楷体" panose="02010609060101010101" pitchFamily="49" charset="-122"/>
              <a:sym typeface="+mn-ea"/>
            </a:endParaRPr>
          </a:p>
        </p:txBody>
      </p:sp>
      <p:pic>
        <p:nvPicPr>
          <p:cNvPr id="3" name="图片 2"/>
          <p:cNvPicPr>
            <a:picLocks noChangeAspect="1"/>
          </p:cNvPicPr>
          <p:nvPr/>
        </p:nvPicPr>
        <p:blipFill>
          <a:blip r:embed="rId2"/>
          <a:stretch>
            <a:fillRect/>
          </a:stretch>
        </p:blipFill>
        <p:spPr>
          <a:xfrm>
            <a:off x="6699976" y="4883238"/>
            <a:ext cx="5232964" cy="175885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617872" y="-4617869"/>
            <a:ext cx="2956264" cy="12192002"/>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2266814"/>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2726076"/>
            <a:ext cx="1209562" cy="461665"/>
          </a:xfrm>
          <a:prstGeom prst="rect">
            <a:avLst/>
          </a:prstGeom>
          <a:noFill/>
        </p:spPr>
        <p:txBody>
          <a:bodyPr wrap="none" rtlCol="0">
            <a:spAutoFit/>
          </a:bodyPr>
          <a:lstStyle/>
          <a:p>
            <a:r>
              <a:rPr lang="en-US" altLang="zh-CN" sz="2400" dirty="0">
                <a:solidFill>
                  <a:srgbClr val="557199"/>
                </a:solidFill>
                <a:latin typeface="微软雅黑" panose="020B0503020204020204" pitchFamily="34" charset="-122"/>
                <a:ea typeface="微软雅黑" panose="020B0503020204020204" pitchFamily="34" charset="-122"/>
              </a:rPr>
              <a:t>Part.02</a:t>
            </a:r>
            <a:endParaRPr lang="en-US" altLang="zh-CN" sz="2400" dirty="0">
              <a:solidFill>
                <a:srgbClr val="557199"/>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0791" y="4518448"/>
            <a:ext cx="5537198" cy="707886"/>
          </a:xfrm>
          <a:prstGeom prst="rect">
            <a:avLst/>
          </a:prstGeom>
          <a:noFill/>
          <a:ln>
            <a:noFill/>
          </a:ln>
        </p:spPr>
        <p:txBody>
          <a:bodyPr wrap="square" rtlCol="0">
            <a:spAutoFit/>
          </a:bodyPr>
          <a:lstStyle/>
          <a:p>
            <a:pPr algn="ctr"/>
            <a:r>
              <a:rPr lang="zh-CN" altLang="en-US" sz="4000" b="1" spc="600" dirty="0">
                <a:solidFill>
                  <a:srgbClr val="557199"/>
                </a:solidFill>
                <a:latin typeface="微软雅黑" panose="020B0503020204020204" pitchFamily="34" charset="-122"/>
                <a:ea typeface="微软雅黑" panose="020B0503020204020204" pitchFamily="34" charset="-122"/>
              </a:rPr>
              <a:t>语言模型发展史</a:t>
            </a:r>
            <a:endParaRPr lang="zh-CN" altLang="en-US" sz="4000" b="1" spc="600" dirty="0">
              <a:solidFill>
                <a:srgbClr val="55719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学论网-矩形 1"/>
          <p:cNvSpPr/>
          <p:nvPr/>
        </p:nvSpPr>
        <p:spPr>
          <a:xfrm>
            <a:off x="937667" y="1636985"/>
            <a:ext cx="10222390" cy="790303"/>
          </a:xfrm>
          <a:prstGeom prst="rect">
            <a:avLst/>
          </a:prstGeom>
          <a:solidFill>
            <a:srgbClr val="557199"/>
          </a:solidFill>
          <a:ln w="12700" cap="flat" cmpd="sng" algn="ctr">
            <a:solidFill>
              <a:srgbClr val="448AD7"/>
            </a:solidFill>
            <a:prstDash val="solid"/>
          </a:ln>
          <a:effectLst/>
        </p:spPr>
        <p:txBody>
          <a:bodyPr rtlCol="0" anchor="ctr"/>
          <a:lstStyle/>
          <a:p>
            <a:pPr lvl="0"/>
            <a:r>
              <a:rPr lang="zh-CN" altLang="en-US" sz="2400" b="1" kern="0" dirty="0">
                <a:gradFill>
                  <a:gsLst>
                    <a:gs pos="100000">
                      <a:schemeClr val="bg1"/>
                    </a:gs>
                    <a:gs pos="0">
                      <a:schemeClr val="bg1">
                        <a:lumMod val="95000"/>
                      </a:schemeClr>
                    </a:gs>
                  </a:gsLst>
                  <a:path path="circle">
                    <a:fillToRect l="100000" b="100000"/>
                  </a:path>
                </a:gradFill>
                <a:ea typeface="微软雅黑" panose="020B0503020204020204" pitchFamily="34" charset="-122"/>
              </a:rPr>
              <a:t>  </a:t>
            </a:r>
            <a:r>
              <a:rPr lang="zh-CN" altLang="en-US" sz="240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rPr>
              <a:t>语言模型发展史的三个关键阶段</a:t>
            </a:r>
            <a:endParaRPr lang="zh-CN" altLang="en-US" sz="240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endParaRPr>
          </a:p>
        </p:txBody>
      </p:sp>
      <p:sp>
        <p:nvSpPr>
          <p:cNvPr id="52" name="学论网-矩形 1"/>
          <p:cNvSpPr/>
          <p:nvPr/>
        </p:nvSpPr>
        <p:spPr>
          <a:xfrm>
            <a:off x="937667" y="2551385"/>
            <a:ext cx="3312000" cy="3620815"/>
          </a:xfrm>
          <a:prstGeom prst="rect">
            <a:avLst/>
          </a:prstGeom>
          <a:noFill/>
          <a:ln w="12700" cap="flat" cmpd="sng" algn="ctr">
            <a:solidFill>
              <a:srgbClr val="557199"/>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3" name="学论网-矩形 1"/>
          <p:cNvSpPr/>
          <p:nvPr/>
        </p:nvSpPr>
        <p:spPr>
          <a:xfrm>
            <a:off x="4392862" y="2551385"/>
            <a:ext cx="3312000" cy="362081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4" name="学论网-矩形 1"/>
          <p:cNvSpPr/>
          <p:nvPr/>
        </p:nvSpPr>
        <p:spPr>
          <a:xfrm>
            <a:off x="7848057" y="2551385"/>
            <a:ext cx="3312000" cy="362081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5" name="学论网-www.xuelun.me"/>
          <p:cNvSpPr txBox="1"/>
          <p:nvPr/>
        </p:nvSpPr>
        <p:spPr>
          <a:xfrm>
            <a:off x="1031943" y="2654110"/>
            <a:ext cx="3097903" cy="2882520"/>
          </a:xfrm>
          <a:prstGeom prst="rect">
            <a:avLst/>
          </a:prstGeom>
          <a:noFill/>
          <a:ln>
            <a:noFill/>
          </a:ln>
        </p:spPr>
        <p:txBody>
          <a:bodyPr wrap="square" lIns="0" tIns="0" rIns="0" bIns="0" rtlCol="0">
            <a:spAutoFit/>
          </a:bodyPr>
          <a:lstStyle/>
          <a:p>
            <a:pPr algn="ctr">
              <a:lnSpc>
                <a:spcPct val="150000"/>
              </a:lnSpc>
            </a:pPr>
            <a:r>
              <a:rPr lang="en-US" altLang="zh-CN" sz="2400" b="1" dirty="0">
                <a:solidFill>
                  <a:srgbClr val="595959"/>
                </a:solidFill>
                <a:latin typeface="微软雅黑" panose="020B0503020204020204" pitchFamily="34" charset="-122"/>
                <a:ea typeface="微软雅黑" panose="020B0503020204020204" pitchFamily="34" charset="-122"/>
              </a:rPr>
              <a:t>01</a:t>
            </a:r>
            <a:r>
              <a:rPr lang="zh-CN" altLang="en-US" sz="2400" b="1" dirty="0">
                <a:solidFill>
                  <a:srgbClr val="595959"/>
                </a:solidFill>
                <a:latin typeface="微软雅黑" panose="020B0503020204020204" pitchFamily="34" charset="-122"/>
                <a:ea typeface="微软雅黑" panose="020B0503020204020204" pitchFamily="34" charset="-122"/>
              </a:rPr>
              <a:t>统计语言模型</a:t>
            </a:r>
            <a:endParaRPr lang="en-US" altLang="zh-CN" sz="2400" b="1"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楷体" panose="02010609060101010101" pitchFamily="49" charset="-122"/>
                <a:ea typeface="楷体" panose="02010609060101010101" pitchFamily="49" charset="-122"/>
              </a:rPr>
              <a:t>利用统计学的方法，认为一个字符的</a:t>
            </a:r>
            <a:r>
              <a:rPr lang="zh-CN" altLang="en-US" sz="2000" b="1" dirty="0">
                <a:solidFill>
                  <a:srgbClr val="595959"/>
                </a:solidFill>
                <a:latin typeface="楷体" panose="02010609060101010101" pitchFamily="49" charset="-122"/>
                <a:ea typeface="楷体" panose="02010609060101010101" pitchFamily="49" charset="-122"/>
              </a:rPr>
              <a:t>出现概率</a:t>
            </a:r>
            <a:r>
              <a:rPr lang="zh-CN" altLang="en-US" sz="2000" dirty="0">
                <a:solidFill>
                  <a:srgbClr val="595959"/>
                </a:solidFill>
                <a:latin typeface="楷体" panose="02010609060101010101" pitchFamily="49" charset="-122"/>
                <a:ea typeface="楷体" panose="02010609060101010101" pitchFamily="49" charset="-122"/>
              </a:rPr>
              <a:t>依赖于前面的若干字符，通过计算字符序列的概率分布来预测下一个字符</a:t>
            </a:r>
            <a:endParaRPr sz="2000" dirty="0">
              <a:solidFill>
                <a:srgbClr val="595959"/>
              </a:solidFill>
              <a:latin typeface="楷体" panose="02010609060101010101" pitchFamily="49" charset="-122"/>
              <a:ea typeface="楷体" panose="02010609060101010101" pitchFamily="49" charset="-122"/>
            </a:endParaRPr>
          </a:p>
        </p:txBody>
      </p:sp>
      <p:sp>
        <p:nvSpPr>
          <p:cNvPr id="56" name="学论网-www.xuelun.me"/>
          <p:cNvSpPr txBox="1"/>
          <p:nvPr/>
        </p:nvSpPr>
        <p:spPr>
          <a:xfrm>
            <a:off x="4586613" y="2654110"/>
            <a:ext cx="2924497" cy="2882520"/>
          </a:xfrm>
          <a:prstGeom prst="rect">
            <a:avLst/>
          </a:prstGeom>
          <a:noFill/>
          <a:ln>
            <a:noFill/>
          </a:ln>
        </p:spPr>
        <p:txBody>
          <a:bodyPr wrap="square" lIns="0" tIns="0" rIns="0" bIns="0" rtlCol="0">
            <a:spAutoFit/>
          </a:bodyPr>
          <a:lstStyle/>
          <a:p>
            <a:pPr algn="ctr">
              <a:lnSpc>
                <a:spcPct val="150000"/>
              </a:lnSpc>
            </a:pPr>
            <a:r>
              <a:rPr lang="en-US" altLang="zh-CN" sz="2400" b="1" dirty="0">
                <a:solidFill>
                  <a:srgbClr val="595959"/>
                </a:solidFill>
                <a:latin typeface="微软雅黑" panose="020B0503020204020204" pitchFamily="34" charset="-122"/>
                <a:ea typeface="微软雅黑" panose="020B0503020204020204" pitchFamily="34" charset="-122"/>
              </a:rPr>
              <a:t>02</a:t>
            </a:r>
            <a:r>
              <a:rPr lang="zh-CN" altLang="en-US" sz="2400" b="1" dirty="0">
                <a:solidFill>
                  <a:srgbClr val="595959"/>
                </a:solidFill>
                <a:latin typeface="微软雅黑" panose="020B0503020204020204" pitchFamily="34" charset="-122"/>
                <a:ea typeface="微软雅黑" panose="020B0503020204020204" pitchFamily="34" charset="-122"/>
              </a:rPr>
              <a:t>神经网络语言模型</a:t>
            </a:r>
            <a:endParaRPr lang="en-US" altLang="zh-CN" sz="2400" b="1"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楷体" panose="02010609060101010101" pitchFamily="49" charset="-122"/>
                <a:ea typeface="楷体" panose="02010609060101010101" pitchFamily="49" charset="-122"/>
              </a:rPr>
              <a:t>通过模拟人类大脑</a:t>
            </a:r>
            <a:r>
              <a:rPr lang="zh-CN" altLang="en-US" sz="2000" b="1" dirty="0">
                <a:solidFill>
                  <a:srgbClr val="595959"/>
                </a:solidFill>
                <a:latin typeface="楷体" panose="02010609060101010101" pitchFamily="49" charset="-122"/>
                <a:ea typeface="楷体" panose="02010609060101010101" pitchFamily="49" charset="-122"/>
              </a:rPr>
              <a:t>神经元</a:t>
            </a:r>
            <a:r>
              <a:rPr lang="zh-CN" altLang="en-US" sz="2000" dirty="0">
                <a:solidFill>
                  <a:srgbClr val="595959"/>
                </a:solidFill>
                <a:latin typeface="楷体" panose="02010609060101010101" pitchFamily="49" charset="-122"/>
                <a:ea typeface="楷体" panose="02010609060101010101" pitchFamily="49" charset="-122"/>
              </a:rPr>
              <a:t>之间的连接来理解复杂的语言结构和语义信息，显著提升了语言模型的性能</a:t>
            </a:r>
            <a:endParaRPr lang="zh-CN" altLang="en-US" sz="2000" dirty="0">
              <a:solidFill>
                <a:srgbClr val="595959"/>
              </a:solidFill>
              <a:latin typeface="楷体" panose="02010609060101010101" pitchFamily="49" charset="-122"/>
              <a:ea typeface="楷体" panose="02010609060101010101" pitchFamily="49" charset="-122"/>
            </a:endParaRPr>
          </a:p>
        </p:txBody>
      </p:sp>
      <p:sp>
        <p:nvSpPr>
          <p:cNvPr id="57" name="学论网-www.xuelun.me"/>
          <p:cNvSpPr txBox="1"/>
          <p:nvPr/>
        </p:nvSpPr>
        <p:spPr>
          <a:xfrm>
            <a:off x="7933593" y="2689699"/>
            <a:ext cx="3140927" cy="2882520"/>
          </a:xfrm>
          <a:prstGeom prst="rect">
            <a:avLst/>
          </a:prstGeom>
          <a:noFill/>
          <a:ln>
            <a:noFill/>
          </a:ln>
        </p:spPr>
        <p:txBody>
          <a:bodyPr wrap="square" lIns="0" tIns="0" rIns="0" bIns="0" rtlCol="0">
            <a:spAutoFit/>
          </a:bodyPr>
          <a:lstStyle/>
          <a:p>
            <a:pPr algn="ctr">
              <a:lnSpc>
                <a:spcPct val="150000"/>
              </a:lnSpc>
            </a:pPr>
            <a:r>
              <a:rPr lang="en-US" altLang="zh-CN" sz="2400" b="1" dirty="0">
                <a:solidFill>
                  <a:srgbClr val="595959"/>
                </a:solidFill>
                <a:latin typeface="微软雅黑" panose="020B0503020204020204" pitchFamily="34" charset="-122"/>
                <a:ea typeface="微软雅黑" panose="020B0503020204020204" pitchFamily="34" charset="-122"/>
              </a:rPr>
              <a:t>03</a:t>
            </a:r>
            <a:r>
              <a:rPr lang="zh-CN" altLang="en-US" sz="2400" b="1" dirty="0">
                <a:solidFill>
                  <a:srgbClr val="595959"/>
                </a:solidFill>
                <a:latin typeface="微软雅黑" panose="020B0503020204020204" pitchFamily="34" charset="-122"/>
                <a:ea typeface="微软雅黑" panose="020B0503020204020204" pitchFamily="34" charset="-122"/>
              </a:rPr>
              <a:t>预训练语言模型</a:t>
            </a:r>
            <a:endParaRPr lang="en-US" altLang="zh-CN" sz="2400" b="1" dirty="0">
              <a:solidFill>
                <a:srgbClr val="595959"/>
              </a:solidFill>
              <a:latin typeface="微软雅黑" panose="020B0503020204020204" pitchFamily="34" charset="-122"/>
              <a:ea typeface="微软雅黑" panose="020B0503020204020204" pitchFamily="34" charset="-122"/>
            </a:endParaRPr>
          </a:p>
          <a:p>
            <a:pPr>
              <a:lnSpc>
                <a:spcPct val="150000"/>
              </a:lnSpc>
            </a:pPr>
            <a:r>
              <a:rPr lang="zh-CN" altLang="en-US" sz="2400" b="1" dirty="0">
                <a:solidFill>
                  <a:srgbClr val="595959"/>
                </a:solidFill>
                <a:latin typeface="微软雅黑" panose="020B0503020204020204" pitchFamily="34" charset="-122"/>
                <a:ea typeface="微软雅黑" panose="020B0503020204020204" pitchFamily="34" charset="-122"/>
              </a:rPr>
              <a:t>     </a:t>
            </a:r>
            <a:r>
              <a:rPr lang="zh-CN" altLang="en-US" sz="2000" dirty="0">
                <a:solidFill>
                  <a:srgbClr val="595959"/>
                </a:solidFill>
                <a:latin typeface="楷体" panose="02010609060101010101" pitchFamily="49" charset="-122"/>
                <a:ea typeface="楷体" panose="02010609060101010101" pitchFamily="49" charset="-122"/>
              </a:rPr>
              <a:t>首先在大规模的文本数据集上进行</a:t>
            </a:r>
            <a:r>
              <a:rPr lang="zh-CN" altLang="en-US" sz="2000" b="1" dirty="0">
                <a:solidFill>
                  <a:srgbClr val="595959"/>
                </a:solidFill>
                <a:latin typeface="楷体" panose="02010609060101010101" pitchFamily="49" charset="-122"/>
                <a:ea typeface="楷体" panose="02010609060101010101" pitchFamily="49" charset="-122"/>
              </a:rPr>
              <a:t>预训练</a:t>
            </a:r>
            <a:r>
              <a:rPr lang="en-GB" sz="2000" dirty="0">
                <a:solidFill>
                  <a:srgbClr val="595959"/>
                </a:solidFill>
                <a:latin typeface="楷体" panose="02010609060101010101" pitchFamily="49" charset="-122"/>
                <a:ea typeface="楷体" panose="02010609060101010101" pitchFamily="49" charset="-122"/>
              </a:rPr>
              <a:t>，</a:t>
            </a:r>
            <a:r>
              <a:rPr lang="zh-CN" altLang="en-US" sz="2000" dirty="0">
                <a:solidFill>
                  <a:srgbClr val="595959"/>
                </a:solidFill>
                <a:latin typeface="楷体" panose="02010609060101010101" pitchFamily="49" charset="-122"/>
                <a:ea typeface="楷体" panose="02010609060101010101" pitchFamily="49" charset="-122"/>
              </a:rPr>
              <a:t>学习通用的特征和知识，再通过</a:t>
            </a:r>
            <a:r>
              <a:rPr lang="zh-CN" altLang="en-US" sz="2000" b="1" dirty="0">
                <a:solidFill>
                  <a:srgbClr val="595959"/>
                </a:solidFill>
                <a:latin typeface="楷体" panose="02010609060101010101" pitchFamily="49" charset="-122"/>
                <a:ea typeface="楷体" panose="02010609060101010101" pitchFamily="49" charset="-122"/>
              </a:rPr>
              <a:t>微调</a:t>
            </a:r>
            <a:r>
              <a:rPr lang="zh-CN" altLang="en-US" sz="2000" dirty="0">
                <a:solidFill>
                  <a:srgbClr val="595959"/>
                </a:solidFill>
                <a:latin typeface="楷体" panose="02010609060101010101" pitchFamily="49" charset="-122"/>
                <a:ea typeface="楷体" panose="02010609060101010101" pitchFamily="49" charset="-122"/>
              </a:rPr>
              <a:t>使模型能够适应不同的下游任务</a:t>
            </a:r>
            <a:endParaRPr sz="2000" dirty="0">
              <a:solidFill>
                <a:srgbClr val="595959"/>
              </a:solidFill>
              <a:latin typeface="楷体" panose="02010609060101010101" pitchFamily="49" charset="-122"/>
              <a:ea typeface="楷体" panose="02010609060101010101" pitchFamily="49" charset="-122"/>
            </a:endParaRPr>
          </a:p>
        </p:txBody>
      </p:sp>
      <p:sp>
        <p:nvSpPr>
          <p:cNvPr id="3"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4" name="直接连接符 179"/>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49336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6" name="直接连接符 181"/>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5033403" y="215903"/>
            <a:ext cx="1442321"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LM</a:t>
            </a:r>
            <a:r>
              <a:rPr lang="zh-CN" altLang="en-US" sz="1600" b="1" dirty="0">
                <a:solidFill>
                  <a:schemeClr val="bg1"/>
                </a:solidFill>
                <a:latin typeface="微软雅黑" panose="020B0503020204020204" pitchFamily="34" charset="-122"/>
                <a:ea typeface="微软雅黑" panose="020B0503020204020204" pitchFamily="34" charset="-122"/>
              </a:rPr>
              <a:t>发展史</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9" name="直接连接符 187"/>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188"/>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9"/>
          <p:cNvSpPr txBox="1"/>
          <p:nvPr/>
        </p:nvSpPr>
        <p:spPr>
          <a:xfrm>
            <a:off x="6699976" y="225772"/>
            <a:ext cx="1501146"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技术原理</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3"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4"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302005" y="956056"/>
            <a:ext cx="269339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经典统计语言模型</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1" name="文本框 14"/>
          <p:cNvSpPr txBox="1"/>
          <p:nvPr/>
        </p:nvSpPr>
        <p:spPr>
          <a:xfrm>
            <a:off x="425752" y="2559710"/>
            <a:ext cx="4156989" cy="2814185"/>
          </a:xfrm>
          <a:prstGeom prst="rect">
            <a:avLst/>
          </a:prstGeom>
          <a:noFill/>
        </p:spPr>
        <p:txBody>
          <a:bodyPr wrap="square" lIns="115205" tIns="57603" rIns="115205" bIns="57603" rtlCol="0">
            <a:spAutoFit/>
          </a:bodyPr>
          <a:lstStyle/>
          <a:p>
            <a:pPr marL="342900" indent="-342900">
              <a:lnSpc>
                <a:spcPct val="150000"/>
              </a:lnSpc>
              <a:spcBef>
                <a:spcPct val="0"/>
              </a:spcBef>
              <a:buFont typeface="Wingdings" panose="05000000000000000000" pitchFamily="2" charset="2"/>
              <a:buChar char="l"/>
            </a:pPr>
            <a:r>
              <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N-gram</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模型的基本假设为某一个词语出现的概率只有前面的</a:t>
            </a:r>
            <a:r>
              <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n-1</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个词语所决定</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342900" indent="-342900">
              <a:lnSpc>
                <a:spcPct val="150000"/>
              </a:lnSpc>
              <a:spcBef>
                <a:spcPct val="0"/>
              </a:spcBef>
              <a:buFont typeface="Wingdings" panose="05000000000000000000" pitchFamily="2" charset="2"/>
              <a:buChar char="l"/>
            </a:pP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优点：简单高效、可解释性强</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342900" indent="-342900">
              <a:lnSpc>
                <a:spcPct val="150000"/>
              </a:lnSpc>
              <a:spcBef>
                <a:spcPct val="0"/>
              </a:spcBef>
              <a:buFont typeface="Wingdings" panose="05000000000000000000" pitchFamily="2" charset="2"/>
              <a:buChar char="l"/>
            </a:pP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缺点：缺乏长距离依赖、缺乏语义理解</a:t>
            </a:r>
            <a:endPar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p:txBody>
      </p:sp>
      <p:sp>
        <p:nvSpPr>
          <p:cNvPr id="32" name="矩形 31"/>
          <p:cNvSpPr/>
          <p:nvPr/>
        </p:nvSpPr>
        <p:spPr>
          <a:xfrm>
            <a:off x="771525" y="1937326"/>
            <a:ext cx="2820003" cy="461665"/>
          </a:xfrm>
          <a:prstGeom prst="rect">
            <a:avLst/>
          </a:prstGeom>
        </p:spPr>
        <p:txBody>
          <a:bodyPr wrap="none">
            <a:spAutoFit/>
          </a:bodyPr>
          <a:lstStyle/>
          <a:p>
            <a:r>
              <a:rPr lang="en-US" altLang="zh-CN" sz="2400" b="1" dirty="0">
                <a:solidFill>
                  <a:schemeClr val="tx1">
                    <a:lumMod val="75000"/>
                    <a:lumOff val="25000"/>
                  </a:schemeClr>
                </a:solidFill>
                <a:latin typeface="宋体" pitchFamily="2" charset="-122"/>
                <a:ea typeface="宋体" pitchFamily="2" charset="-122"/>
              </a:rPr>
              <a:t>N-gram</a:t>
            </a:r>
            <a:r>
              <a:rPr lang="zh-CN" altLang="en-US" sz="2400" b="1" dirty="0">
                <a:solidFill>
                  <a:schemeClr val="tx1">
                    <a:lumMod val="75000"/>
                    <a:lumOff val="25000"/>
                  </a:schemeClr>
                </a:solidFill>
                <a:latin typeface="宋体" pitchFamily="2" charset="-122"/>
                <a:ea typeface="宋体" pitchFamily="2" charset="-122"/>
              </a:rPr>
              <a:t>（</a:t>
            </a:r>
            <a:r>
              <a:rPr lang="en-US" altLang="zh-CN" sz="2400" b="1" dirty="0">
                <a:solidFill>
                  <a:schemeClr val="tx1">
                    <a:lumMod val="75000"/>
                    <a:lumOff val="25000"/>
                  </a:schemeClr>
                </a:solidFill>
                <a:latin typeface="宋体" pitchFamily="2" charset="-122"/>
                <a:ea typeface="宋体" pitchFamily="2" charset="-122"/>
              </a:rPr>
              <a:t>N</a:t>
            </a:r>
            <a:r>
              <a:rPr lang="zh-CN" altLang="en-US" sz="2400" b="1" dirty="0">
                <a:solidFill>
                  <a:schemeClr val="tx1">
                    <a:lumMod val="75000"/>
                    <a:lumOff val="25000"/>
                  </a:schemeClr>
                </a:solidFill>
                <a:latin typeface="宋体" pitchFamily="2" charset="-122"/>
                <a:ea typeface="宋体" pitchFamily="2" charset="-122"/>
              </a:rPr>
              <a:t>元模型）</a:t>
            </a:r>
            <a:endParaRPr lang="zh-CN" altLang="en-US" sz="2400" b="1" dirty="0">
              <a:solidFill>
                <a:schemeClr val="tx1">
                  <a:lumMod val="75000"/>
                  <a:lumOff val="25000"/>
                </a:schemeClr>
              </a:solidFill>
              <a:latin typeface="宋体" pitchFamily="2" charset="-122"/>
              <a:ea typeface="宋体" pitchFamily="2" charset="-122"/>
            </a:endParaRPr>
          </a:p>
        </p:txBody>
      </p:sp>
      <p:sp>
        <p:nvSpPr>
          <p:cNvPr id="36" name="矩形 35"/>
          <p:cNvSpPr/>
          <p:nvPr/>
        </p:nvSpPr>
        <p:spPr>
          <a:xfrm>
            <a:off x="7628270" y="1528840"/>
            <a:ext cx="3435556" cy="461665"/>
          </a:xfrm>
          <a:prstGeom prst="rect">
            <a:avLst/>
          </a:prstGeom>
        </p:spPr>
        <p:txBody>
          <a:bodyPr wrap="none">
            <a:spAutoFit/>
          </a:bodyPr>
          <a:lstStyle/>
          <a:p>
            <a:r>
              <a:rPr lang="en-US" altLang="zh-CN" sz="2400" b="1" dirty="0">
                <a:solidFill>
                  <a:schemeClr val="tx1">
                    <a:lumMod val="75000"/>
                    <a:lumOff val="25000"/>
                  </a:schemeClr>
                </a:solidFill>
                <a:latin typeface="宋体" pitchFamily="2" charset="-122"/>
                <a:ea typeface="宋体" pitchFamily="2" charset="-122"/>
              </a:rPr>
              <a:t>HMM</a:t>
            </a:r>
            <a:r>
              <a:rPr lang="zh-CN" altLang="en-US" sz="2400" b="1" dirty="0">
                <a:solidFill>
                  <a:schemeClr val="tx1">
                    <a:lumMod val="75000"/>
                    <a:lumOff val="25000"/>
                  </a:schemeClr>
                </a:solidFill>
                <a:latin typeface="宋体" pitchFamily="2" charset="-122"/>
                <a:ea typeface="宋体" pitchFamily="2" charset="-122"/>
              </a:rPr>
              <a:t>（隐马尔可夫模型）</a:t>
            </a:r>
            <a:endParaRPr lang="zh-CN" altLang="en-US" sz="2400" b="1" dirty="0">
              <a:solidFill>
                <a:schemeClr val="tx1">
                  <a:lumMod val="75000"/>
                  <a:lumOff val="25000"/>
                </a:schemeClr>
              </a:solidFill>
              <a:latin typeface="宋体" pitchFamily="2" charset="-122"/>
              <a:ea typeface="宋体" pitchFamily="2" charset="-122"/>
            </a:endParaRPr>
          </a:p>
        </p:txBody>
      </p:sp>
      <p:grpSp>
        <p:nvGrpSpPr>
          <p:cNvPr id="20" name="组合 19"/>
          <p:cNvGrpSpPr/>
          <p:nvPr/>
        </p:nvGrpSpPr>
        <p:grpSpPr>
          <a:xfrm>
            <a:off x="4744666" y="3216275"/>
            <a:ext cx="2437765" cy="1131570"/>
            <a:chOff x="4796155" y="3298825"/>
            <a:chExt cx="2437765" cy="1131570"/>
          </a:xfrm>
        </p:grpSpPr>
        <p:sp>
          <p:nvSpPr>
            <p:cNvPr id="13" name="Freeform 12"/>
            <p:cNvSpPr/>
            <p:nvPr/>
          </p:nvSpPr>
          <p:spPr bwMode="auto">
            <a:xfrm>
              <a:off x="6096000" y="3298825"/>
              <a:ext cx="852170" cy="809625"/>
            </a:xfrm>
            <a:custGeom>
              <a:avLst/>
              <a:gdLst>
                <a:gd name="T0" fmla="*/ 51 w 254"/>
                <a:gd name="T1" fmla="*/ 115 h 241"/>
                <a:gd name="T2" fmla="*/ 0 w 254"/>
                <a:gd name="T3" fmla="*/ 241 h 241"/>
                <a:gd name="T4" fmla="*/ 224 w 254"/>
                <a:gd name="T5" fmla="*/ 168 h 241"/>
                <a:gd name="T6" fmla="*/ 244 w 254"/>
                <a:gd name="T7" fmla="*/ 0 h 241"/>
                <a:gd name="T8" fmla="*/ 51 w 254"/>
                <a:gd name="T9" fmla="*/ 115 h 241"/>
              </a:gdLst>
              <a:ahLst/>
              <a:cxnLst>
                <a:cxn ang="0">
                  <a:pos x="T0" y="T1"/>
                </a:cxn>
                <a:cxn ang="0">
                  <a:pos x="T2" y="T3"/>
                </a:cxn>
                <a:cxn ang="0">
                  <a:pos x="T4" y="T5"/>
                </a:cxn>
                <a:cxn ang="0">
                  <a:pos x="T6" y="T7"/>
                </a:cxn>
                <a:cxn ang="0">
                  <a:pos x="T8" y="T9"/>
                </a:cxn>
              </a:cxnLst>
              <a:rect l="0" t="0" r="r" b="b"/>
              <a:pathLst>
                <a:path w="254" h="241">
                  <a:moveTo>
                    <a:pt x="51" y="115"/>
                  </a:moveTo>
                  <a:cubicBezTo>
                    <a:pt x="23" y="154"/>
                    <a:pt x="6" y="197"/>
                    <a:pt x="0" y="241"/>
                  </a:cubicBezTo>
                  <a:cubicBezTo>
                    <a:pt x="224" y="168"/>
                    <a:pt x="224" y="168"/>
                    <a:pt x="224" y="168"/>
                  </a:cubicBezTo>
                  <a:cubicBezTo>
                    <a:pt x="248" y="114"/>
                    <a:pt x="254" y="56"/>
                    <a:pt x="244" y="0"/>
                  </a:cubicBezTo>
                  <a:cubicBezTo>
                    <a:pt x="169" y="10"/>
                    <a:pt x="99" y="49"/>
                    <a:pt x="51" y="115"/>
                  </a:cubicBezTo>
                  <a:close/>
                </a:path>
              </a:pathLst>
            </a:custGeom>
            <a:solidFill>
              <a:srgbClr val="557199"/>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400">
                <a:solidFill>
                  <a:prstClr val="white"/>
                </a:solidFill>
                <a:cs typeface="思源宋体" panose="02020400000000000000" charset="-122"/>
              </a:endParaRPr>
            </a:p>
          </p:txBody>
        </p:sp>
        <p:sp>
          <p:nvSpPr>
            <p:cNvPr id="14" name="Freeform 13"/>
            <p:cNvSpPr/>
            <p:nvPr/>
          </p:nvSpPr>
          <p:spPr bwMode="auto">
            <a:xfrm>
              <a:off x="6096000" y="3862705"/>
              <a:ext cx="1137920" cy="567690"/>
            </a:xfrm>
            <a:custGeom>
              <a:avLst/>
              <a:gdLst>
                <a:gd name="T0" fmla="*/ 115 w 339"/>
                <a:gd name="T1" fmla="*/ 144 h 169"/>
                <a:gd name="T2" fmla="*/ 0 w 339"/>
                <a:gd name="T3" fmla="*/ 73 h 169"/>
                <a:gd name="T4" fmla="*/ 224 w 339"/>
                <a:gd name="T5" fmla="*/ 0 h 169"/>
                <a:gd name="T6" fmla="*/ 339 w 339"/>
                <a:gd name="T7" fmla="*/ 124 h 169"/>
                <a:gd name="T8" fmla="*/ 115 w 339"/>
                <a:gd name="T9" fmla="*/ 144 h 169"/>
              </a:gdLst>
              <a:ahLst/>
              <a:cxnLst>
                <a:cxn ang="0">
                  <a:pos x="T0" y="T1"/>
                </a:cxn>
                <a:cxn ang="0">
                  <a:pos x="T2" y="T3"/>
                </a:cxn>
                <a:cxn ang="0">
                  <a:pos x="T4" y="T5"/>
                </a:cxn>
                <a:cxn ang="0">
                  <a:pos x="T6" y="T7"/>
                </a:cxn>
                <a:cxn ang="0">
                  <a:pos x="T8" y="T9"/>
                </a:cxn>
              </a:cxnLst>
              <a:rect l="0" t="0" r="r" b="b"/>
              <a:pathLst>
                <a:path w="339" h="169">
                  <a:moveTo>
                    <a:pt x="115" y="144"/>
                  </a:moveTo>
                  <a:cubicBezTo>
                    <a:pt x="70" y="130"/>
                    <a:pt x="31" y="105"/>
                    <a:pt x="0" y="73"/>
                  </a:cubicBezTo>
                  <a:cubicBezTo>
                    <a:pt x="224" y="0"/>
                    <a:pt x="224" y="0"/>
                    <a:pt x="224" y="0"/>
                  </a:cubicBezTo>
                  <a:cubicBezTo>
                    <a:pt x="275" y="29"/>
                    <a:pt x="314" y="73"/>
                    <a:pt x="339" y="124"/>
                  </a:cubicBezTo>
                  <a:cubicBezTo>
                    <a:pt x="273" y="160"/>
                    <a:pt x="192" y="169"/>
                    <a:pt x="115" y="144"/>
                  </a:cubicBezTo>
                  <a:close/>
                </a:path>
              </a:pathLst>
            </a:custGeom>
            <a:solidFill>
              <a:srgbClr val="9FACC3"/>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cs typeface="思源宋体" panose="02020400000000000000" charset="-122"/>
              </a:endParaRPr>
            </a:p>
          </p:txBody>
        </p:sp>
        <p:sp>
          <p:nvSpPr>
            <p:cNvPr id="39" name="Freeform 7"/>
            <p:cNvSpPr/>
            <p:nvPr/>
          </p:nvSpPr>
          <p:spPr bwMode="auto">
            <a:xfrm>
              <a:off x="4796155" y="3862705"/>
              <a:ext cx="1137920" cy="567690"/>
            </a:xfrm>
            <a:custGeom>
              <a:avLst/>
              <a:gdLst>
                <a:gd name="T0" fmla="*/ 224 w 339"/>
                <a:gd name="T1" fmla="*/ 144 h 169"/>
                <a:gd name="T2" fmla="*/ 339 w 339"/>
                <a:gd name="T3" fmla="*/ 73 h 169"/>
                <a:gd name="T4" fmla="*/ 115 w 339"/>
                <a:gd name="T5" fmla="*/ 0 h 169"/>
                <a:gd name="T6" fmla="*/ 0 w 339"/>
                <a:gd name="T7" fmla="*/ 124 h 169"/>
                <a:gd name="T8" fmla="*/ 224 w 339"/>
                <a:gd name="T9" fmla="*/ 144 h 169"/>
              </a:gdLst>
              <a:ahLst/>
              <a:cxnLst>
                <a:cxn ang="0">
                  <a:pos x="T0" y="T1"/>
                </a:cxn>
                <a:cxn ang="0">
                  <a:pos x="T2" y="T3"/>
                </a:cxn>
                <a:cxn ang="0">
                  <a:pos x="T4" y="T5"/>
                </a:cxn>
                <a:cxn ang="0">
                  <a:pos x="T6" y="T7"/>
                </a:cxn>
                <a:cxn ang="0">
                  <a:pos x="T8" y="T9"/>
                </a:cxn>
              </a:cxnLst>
              <a:rect l="0" t="0" r="r" b="b"/>
              <a:pathLst>
                <a:path w="339" h="169">
                  <a:moveTo>
                    <a:pt x="224" y="144"/>
                  </a:moveTo>
                  <a:cubicBezTo>
                    <a:pt x="269" y="130"/>
                    <a:pt x="308" y="105"/>
                    <a:pt x="339" y="73"/>
                  </a:cubicBezTo>
                  <a:cubicBezTo>
                    <a:pt x="115" y="0"/>
                    <a:pt x="115" y="0"/>
                    <a:pt x="115" y="0"/>
                  </a:cubicBezTo>
                  <a:cubicBezTo>
                    <a:pt x="64" y="29"/>
                    <a:pt x="25" y="73"/>
                    <a:pt x="0" y="124"/>
                  </a:cubicBezTo>
                  <a:cubicBezTo>
                    <a:pt x="66" y="160"/>
                    <a:pt x="147" y="169"/>
                    <a:pt x="224" y="144"/>
                  </a:cubicBezTo>
                  <a:close/>
                </a:path>
              </a:pathLst>
            </a:custGeom>
            <a:solidFill>
              <a:srgbClr val="557199"/>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400">
                <a:solidFill>
                  <a:prstClr val="white"/>
                </a:solidFill>
                <a:latin typeface="+mn-lt"/>
                <a:ea typeface="+mn-ea"/>
                <a:cs typeface="思源宋体" panose="02020400000000000000" charset="-122"/>
              </a:endParaRPr>
            </a:p>
          </p:txBody>
        </p:sp>
        <p:sp>
          <p:nvSpPr>
            <p:cNvPr id="40" name="Freeform 16"/>
            <p:cNvSpPr/>
            <p:nvPr/>
          </p:nvSpPr>
          <p:spPr bwMode="auto">
            <a:xfrm>
              <a:off x="5081905" y="3298825"/>
              <a:ext cx="852170" cy="809625"/>
            </a:xfrm>
            <a:custGeom>
              <a:avLst/>
              <a:gdLst>
                <a:gd name="T0" fmla="*/ 203 w 254"/>
                <a:gd name="T1" fmla="*/ 115 h 241"/>
                <a:gd name="T2" fmla="*/ 254 w 254"/>
                <a:gd name="T3" fmla="*/ 241 h 241"/>
                <a:gd name="T4" fmla="*/ 30 w 254"/>
                <a:gd name="T5" fmla="*/ 168 h 241"/>
                <a:gd name="T6" fmla="*/ 10 w 254"/>
                <a:gd name="T7" fmla="*/ 0 h 241"/>
                <a:gd name="T8" fmla="*/ 203 w 254"/>
                <a:gd name="T9" fmla="*/ 115 h 241"/>
              </a:gdLst>
              <a:ahLst/>
              <a:cxnLst>
                <a:cxn ang="0">
                  <a:pos x="T0" y="T1"/>
                </a:cxn>
                <a:cxn ang="0">
                  <a:pos x="T2" y="T3"/>
                </a:cxn>
                <a:cxn ang="0">
                  <a:pos x="T4" y="T5"/>
                </a:cxn>
                <a:cxn ang="0">
                  <a:pos x="T6" y="T7"/>
                </a:cxn>
                <a:cxn ang="0">
                  <a:pos x="T8" y="T9"/>
                </a:cxn>
              </a:cxnLst>
              <a:rect l="0" t="0" r="r" b="b"/>
              <a:pathLst>
                <a:path w="254" h="241">
                  <a:moveTo>
                    <a:pt x="203" y="115"/>
                  </a:moveTo>
                  <a:cubicBezTo>
                    <a:pt x="231" y="154"/>
                    <a:pt x="248" y="197"/>
                    <a:pt x="254" y="241"/>
                  </a:cubicBezTo>
                  <a:cubicBezTo>
                    <a:pt x="30" y="168"/>
                    <a:pt x="30" y="168"/>
                    <a:pt x="30" y="168"/>
                  </a:cubicBezTo>
                  <a:cubicBezTo>
                    <a:pt x="6" y="114"/>
                    <a:pt x="0" y="56"/>
                    <a:pt x="10" y="0"/>
                  </a:cubicBezTo>
                  <a:cubicBezTo>
                    <a:pt x="85" y="10"/>
                    <a:pt x="155" y="49"/>
                    <a:pt x="203" y="115"/>
                  </a:cubicBezTo>
                  <a:close/>
                </a:path>
              </a:pathLst>
            </a:custGeom>
            <a:solidFill>
              <a:srgbClr val="9FACC3"/>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mn-lt"/>
                <a:ea typeface="+mn-ea"/>
                <a:cs typeface="思源宋体" panose="02020400000000000000" charset="-122"/>
              </a:endParaRPr>
            </a:p>
          </p:txBody>
        </p:sp>
        <p:sp>
          <p:nvSpPr>
            <p:cNvPr id="41" name="椭圆 40"/>
            <p:cNvSpPr/>
            <p:nvPr/>
          </p:nvSpPr>
          <p:spPr>
            <a:xfrm>
              <a:off x="4867910" y="3677920"/>
              <a:ext cx="219710" cy="219710"/>
            </a:xfrm>
            <a:prstGeom prst="ellipse">
              <a:avLst/>
            </a:prstGeom>
            <a:solidFill>
              <a:srgbClr val="557199"/>
            </a:solidFill>
            <a:ln w="381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42" name="椭圆 41"/>
            <p:cNvSpPr/>
            <p:nvPr/>
          </p:nvSpPr>
          <p:spPr>
            <a:xfrm>
              <a:off x="6910070" y="3677920"/>
              <a:ext cx="219710" cy="219710"/>
            </a:xfrm>
            <a:prstGeom prst="ellipse">
              <a:avLst/>
            </a:prstGeom>
            <a:solidFill>
              <a:srgbClr val="557199"/>
            </a:solidFill>
            <a:ln w="381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grp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3" name="直接连接符 179"/>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49336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5" name="直接连接符 181"/>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7" name="TextBox 7"/>
          <p:cNvSpPr txBox="1"/>
          <p:nvPr/>
        </p:nvSpPr>
        <p:spPr>
          <a:xfrm>
            <a:off x="5033403" y="215903"/>
            <a:ext cx="1442321"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LM</a:t>
            </a:r>
            <a:r>
              <a:rPr lang="zh-CN" altLang="en-US" sz="1600" b="1" dirty="0">
                <a:solidFill>
                  <a:schemeClr val="bg1"/>
                </a:solidFill>
                <a:latin typeface="微软雅黑" panose="020B0503020204020204" pitchFamily="34" charset="-122"/>
                <a:ea typeface="微软雅黑" panose="020B0503020204020204" pitchFamily="34" charset="-122"/>
              </a:rPr>
              <a:t>发展史</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187"/>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88"/>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6"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9"/>
          <p:cNvSpPr txBox="1"/>
          <p:nvPr/>
        </p:nvSpPr>
        <p:spPr>
          <a:xfrm>
            <a:off x="6699976" y="225772"/>
            <a:ext cx="1501146"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技术原理</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8"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1" name="文本框 14"/>
          <p:cNvSpPr txBox="1"/>
          <p:nvPr/>
        </p:nvSpPr>
        <p:spPr>
          <a:xfrm>
            <a:off x="7406169" y="2088435"/>
            <a:ext cx="4495320" cy="4199180"/>
          </a:xfrm>
          <a:prstGeom prst="rect">
            <a:avLst/>
          </a:prstGeom>
          <a:noFill/>
        </p:spPr>
        <p:txBody>
          <a:bodyPr wrap="square" lIns="115205" tIns="57603" rIns="115205" bIns="57603" rtlCol="0">
            <a:spAutoFit/>
          </a:bodyPr>
          <a:lstStyle/>
          <a:p>
            <a:pPr marL="342900" indent="-342900">
              <a:lnSpc>
                <a:spcPct val="150000"/>
              </a:lnSpc>
              <a:spcBef>
                <a:spcPct val="0"/>
              </a:spcBef>
              <a:buFont typeface="Wingdings" panose="05000000000000000000" pitchFamily="2" charset="2"/>
              <a:buChar char="l"/>
            </a:pPr>
            <a:r>
              <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HMM</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模型用来描述一个含有隐含未知状态的马尔可夫过程，可以通过观测序列来推测隐藏状态序列及其概率分布。主要用于序列标注任务，例如命名实体识别和词性标注等</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342900" indent="-342900">
              <a:lnSpc>
                <a:spcPct val="150000"/>
              </a:lnSpc>
              <a:spcBef>
                <a:spcPct val="0"/>
              </a:spcBef>
              <a:buFont typeface="Wingdings" panose="05000000000000000000" pitchFamily="2" charset="2"/>
              <a:buChar char="l"/>
            </a:pP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优点：结构相对简单、可有效捕捉数据间时序关系</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342900" indent="-342900">
              <a:lnSpc>
                <a:spcPct val="150000"/>
              </a:lnSpc>
              <a:spcBef>
                <a:spcPct val="0"/>
              </a:spcBef>
              <a:buFont typeface="Wingdings" panose="05000000000000000000" pitchFamily="2" charset="2"/>
              <a:buChar char="l"/>
            </a:pP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缺点：难以处理长依赖关系、难以处理高维度数据</a:t>
            </a:r>
            <a:endPar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302005" y="956056"/>
            <a:ext cx="3312733"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经典神经网络语言模型</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1" name="文本框 14"/>
          <p:cNvSpPr txBox="1"/>
          <p:nvPr/>
        </p:nvSpPr>
        <p:spPr>
          <a:xfrm>
            <a:off x="535607" y="2549472"/>
            <a:ext cx="3881181" cy="3737515"/>
          </a:xfrm>
          <a:prstGeom prst="rect">
            <a:avLst/>
          </a:prstGeom>
          <a:noFill/>
        </p:spPr>
        <p:txBody>
          <a:bodyPr wrap="square" lIns="115205" tIns="57603" rIns="115205" bIns="57603" rtlCol="0">
            <a:spAutoFit/>
          </a:bodyPr>
          <a:lstStyle/>
          <a:p>
            <a:pPr marL="342900" indent="-342900">
              <a:lnSpc>
                <a:spcPct val="150000"/>
              </a:lnSpc>
              <a:spcBef>
                <a:spcPct val="0"/>
              </a:spcBef>
              <a:buFont typeface="Wingdings" panose="05000000000000000000" pitchFamily="2" charset="2"/>
              <a:buChar char="l"/>
            </a:pPr>
            <a:r>
              <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Word2Vec</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是一种基于神经网络的词嵌入模型，能够将文本内容映射到向量空间中，并捕捉词汇间的语义关系</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342900" indent="-342900">
              <a:lnSpc>
                <a:spcPct val="150000"/>
              </a:lnSpc>
              <a:spcBef>
                <a:spcPct val="0"/>
              </a:spcBef>
              <a:buFont typeface="Wingdings" panose="05000000000000000000" pitchFamily="2" charset="2"/>
              <a:buChar char="l"/>
            </a:pP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优点：考虑上下文信息、训练速度相对较快等</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342900" indent="-342900">
              <a:lnSpc>
                <a:spcPct val="150000"/>
              </a:lnSpc>
              <a:spcBef>
                <a:spcPct val="0"/>
              </a:spcBef>
              <a:buFont typeface="Wingdings" panose="05000000000000000000" pitchFamily="2" charset="2"/>
              <a:buChar char="l"/>
            </a:pP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缺点：忽略词序信息、静态词向量、难以处理未登录词</a:t>
            </a:r>
            <a:endPar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p:txBody>
      </p:sp>
      <p:sp>
        <p:nvSpPr>
          <p:cNvPr id="32" name="矩形 31"/>
          <p:cNvSpPr/>
          <p:nvPr/>
        </p:nvSpPr>
        <p:spPr>
          <a:xfrm>
            <a:off x="771525" y="1937326"/>
            <a:ext cx="1428596" cy="461665"/>
          </a:xfrm>
          <a:prstGeom prst="rect">
            <a:avLst/>
          </a:prstGeom>
        </p:spPr>
        <p:txBody>
          <a:bodyPr wrap="none">
            <a:spAutoFit/>
          </a:bodyPr>
          <a:lstStyle/>
          <a:p>
            <a:r>
              <a:rPr lang="en-GB" altLang="zh-CN" sz="2400" b="1" dirty="0">
                <a:solidFill>
                  <a:schemeClr val="tx1">
                    <a:lumMod val="75000"/>
                    <a:lumOff val="25000"/>
                  </a:schemeClr>
                </a:solidFill>
                <a:latin typeface="宋体" pitchFamily="2" charset="-122"/>
                <a:ea typeface="宋体" pitchFamily="2" charset="-122"/>
              </a:rPr>
              <a:t>Word2Vec</a:t>
            </a:r>
            <a:endParaRPr lang="zh-CN" altLang="en-US" sz="2400" b="1" dirty="0">
              <a:solidFill>
                <a:schemeClr val="tx1">
                  <a:lumMod val="75000"/>
                  <a:lumOff val="25000"/>
                </a:schemeClr>
              </a:solidFill>
              <a:latin typeface="宋体" pitchFamily="2" charset="-122"/>
              <a:ea typeface="宋体" pitchFamily="2" charset="-122"/>
            </a:endParaRPr>
          </a:p>
        </p:txBody>
      </p:sp>
      <p:sp>
        <p:nvSpPr>
          <p:cNvPr id="36" name="矩形 35"/>
          <p:cNvSpPr/>
          <p:nvPr/>
        </p:nvSpPr>
        <p:spPr>
          <a:xfrm>
            <a:off x="7979930" y="1475661"/>
            <a:ext cx="3126177" cy="461665"/>
          </a:xfrm>
          <a:prstGeom prst="rect">
            <a:avLst/>
          </a:prstGeom>
        </p:spPr>
        <p:txBody>
          <a:bodyPr wrap="none">
            <a:spAutoFit/>
          </a:bodyPr>
          <a:lstStyle/>
          <a:p>
            <a:r>
              <a:rPr lang="en-US" altLang="zh-CN" sz="2400" b="1" dirty="0">
                <a:solidFill>
                  <a:schemeClr val="tx1">
                    <a:lumMod val="75000"/>
                    <a:lumOff val="25000"/>
                  </a:schemeClr>
                </a:solidFill>
                <a:latin typeface="宋体" pitchFamily="2" charset="-122"/>
                <a:ea typeface="宋体" pitchFamily="2" charset="-122"/>
              </a:rPr>
              <a:t>RNN</a:t>
            </a:r>
            <a:r>
              <a:rPr lang="zh-CN" altLang="en-US" sz="2400" b="1" dirty="0">
                <a:solidFill>
                  <a:schemeClr val="tx1">
                    <a:lumMod val="75000"/>
                    <a:lumOff val="25000"/>
                  </a:schemeClr>
                </a:solidFill>
                <a:latin typeface="宋体" pitchFamily="2" charset="-122"/>
                <a:ea typeface="宋体" pitchFamily="2" charset="-122"/>
              </a:rPr>
              <a:t>（循环神经网络）</a:t>
            </a:r>
            <a:endParaRPr lang="zh-CN" altLang="en-US" sz="2400" b="1" dirty="0">
              <a:solidFill>
                <a:schemeClr val="tx1">
                  <a:lumMod val="75000"/>
                  <a:lumOff val="25000"/>
                </a:schemeClr>
              </a:solidFill>
              <a:latin typeface="宋体" pitchFamily="2" charset="-122"/>
              <a:ea typeface="宋体" pitchFamily="2" charset="-122"/>
            </a:endParaRPr>
          </a:p>
        </p:txBody>
      </p:sp>
      <p:grpSp>
        <p:nvGrpSpPr>
          <p:cNvPr id="20" name="组合 19"/>
          <p:cNvGrpSpPr/>
          <p:nvPr/>
        </p:nvGrpSpPr>
        <p:grpSpPr>
          <a:xfrm>
            <a:off x="4744666" y="3216275"/>
            <a:ext cx="2437765" cy="1131570"/>
            <a:chOff x="4796155" y="3298825"/>
            <a:chExt cx="2437765" cy="1131570"/>
          </a:xfrm>
        </p:grpSpPr>
        <p:sp>
          <p:nvSpPr>
            <p:cNvPr id="13" name="Freeform 12"/>
            <p:cNvSpPr/>
            <p:nvPr/>
          </p:nvSpPr>
          <p:spPr bwMode="auto">
            <a:xfrm>
              <a:off x="6096000" y="3298825"/>
              <a:ext cx="852170" cy="809625"/>
            </a:xfrm>
            <a:custGeom>
              <a:avLst/>
              <a:gdLst>
                <a:gd name="T0" fmla="*/ 51 w 254"/>
                <a:gd name="T1" fmla="*/ 115 h 241"/>
                <a:gd name="T2" fmla="*/ 0 w 254"/>
                <a:gd name="T3" fmla="*/ 241 h 241"/>
                <a:gd name="T4" fmla="*/ 224 w 254"/>
                <a:gd name="T5" fmla="*/ 168 h 241"/>
                <a:gd name="T6" fmla="*/ 244 w 254"/>
                <a:gd name="T7" fmla="*/ 0 h 241"/>
                <a:gd name="T8" fmla="*/ 51 w 254"/>
                <a:gd name="T9" fmla="*/ 115 h 241"/>
              </a:gdLst>
              <a:ahLst/>
              <a:cxnLst>
                <a:cxn ang="0">
                  <a:pos x="T0" y="T1"/>
                </a:cxn>
                <a:cxn ang="0">
                  <a:pos x="T2" y="T3"/>
                </a:cxn>
                <a:cxn ang="0">
                  <a:pos x="T4" y="T5"/>
                </a:cxn>
                <a:cxn ang="0">
                  <a:pos x="T6" y="T7"/>
                </a:cxn>
                <a:cxn ang="0">
                  <a:pos x="T8" y="T9"/>
                </a:cxn>
              </a:cxnLst>
              <a:rect l="0" t="0" r="r" b="b"/>
              <a:pathLst>
                <a:path w="254" h="241">
                  <a:moveTo>
                    <a:pt x="51" y="115"/>
                  </a:moveTo>
                  <a:cubicBezTo>
                    <a:pt x="23" y="154"/>
                    <a:pt x="6" y="197"/>
                    <a:pt x="0" y="241"/>
                  </a:cubicBezTo>
                  <a:cubicBezTo>
                    <a:pt x="224" y="168"/>
                    <a:pt x="224" y="168"/>
                    <a:pt x="224" y="168"/>
                  </a:cubicBezTo>
                  <a:cubicBezTo>
                    <a:pt x="248" y="114"/>
                    <a:pt x="254" y="56"/>
                    <a:pt x="244" y="0"/>
                  </a:cubicBezTo>
                  <a:cubicBezTo>
                    <a:pt x="169" y="10"/>
                    <a:pt x="99" y="49"/>
                    <a:pt x="51" y="115"/>
                  </a:cubicBezTo>
                  <a:close/>
                </a:path>
              </a:pathLst>
            </a:custGeom>
            <a:solidFill>
              <a:srgbClr val="557199"/>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400">
                <a:solidFill>
                  <a:prstClr val="white"/>
                </a:solidFill>
                <a:cs typeface="思源宋体" panose="02020400000000000000" charset="-122"/>
              </a:endParaRPr>
            </a:p>
          </p:txBody>
        </p:sp>
        <p:sp>
          <p:nvSpPr>
            <p:cNvPr id="14" name="Freeform 13"/>
            <p:cNvSpPr/>
            <p:nvPr/>
          </p:nvSpPr>
          <p:spPr bwMode="auto">
            <a:xfrm>
              <a:off x="6096000" y="3862705"/>
              <a:ext cx="1137920" cy="567690"/>
            </a:xfrm>
            <a:custGeom>
              <a:avLst/>
              <a:gdLst>
                <a:gd name="T0" fmla="*/ 115 w 339"/>
                <a:gd name="T1" fmla="*/ 144 h 169"/>
                <a:gd name="T2" fmla="*/ 0 w 339"/>
                <a:gd name="T3" fmla="*/ 73 h 169"/>
                <a:gd name="T4" fmla="*/ 224 w 339"/>
                <a:gd name="T5" fmla="*/ 0 h 169"/>
                <a:gd name="T6" fmla="*/ 339 w 339"/>
                <a:gd name="T7" fmla="*/ 124 h 169"/>
                <a:gd name="T8" fmla="*/ 115 w 339"/>
                <a:gd name="T9" fmla="*/ 144 h 169"/>
              </a:gdLst>
              <a:ahLst/>
              <a:cxnLst>
                <a:cxn ang="0">
                  <a:pos x="T0" y="T1"/>
                </a:cxn>
                <a:cxn ang="0">
                  <a:pos x="T2" y="T3"/>
                </a:cxn>
                <a:cxn ang="0">
                  <a:pos x="T4" y="T5"/>
                </a:cxn>
                <a:cxn ang="0">
                  <a:pos x="T6" y="T7"/>
                </a:cxn>
                <a:cxn ang="0">
                  <a:pos x="T8" y="T9"/>
                </a:cxn>
              </a:cxnLst>
              <a:rect l="0" t="0" r="r" b="b"/>
              <a:pathLst>
                <a:path w="339" h="169">
                  <a:moveTo>
                    <a:pt x="115" y="144"/>
                  </a:moveTo>
                  <a:cubicBezTo>
                    <a:pt x="70" y="130"/>
                    <a:pt x="31" y="105"/>
                    <a:pt x="0" y="73"/>
                  </a:cubicBezTo>
                  <a:cubicBezTo>
                    <a:pt x="224" y="0"/>
                    <a:pt x="224" y="0"/>
                    <a:pt x="224" y="0"/>
                  </a:cubicBezTo>
                  <a:cubicBezTo>
                    <a:pt x="275" y="29"/>
                    <a:pt x="314" y="73"/>
                    <a:pt x="339" y="124"/>
                  </a:cubicBezTo>
                  <a:cubicBezTo>
                    <a:pt x="273" y="160"/>
                    <a:pt x="192" y="169"/>
                    <a:pt x="115" y="144"/>
                  </a:cubicBezTo>
                  <a:close/>
                </a:path>
              </a:pathLst>
            </a:custGeom>
            <a:solidFill>
              <a:srgbClr val="9FACC3"/>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cs typeface="思源宋体" panose="02020400000000000000" charset="-122"/>
              </a:endParaRPr>
            </a:p>
          </p:txBody>
        </p:sp>
        <p:sp>
          <p:nvSpPr>
            <p:cNvPr id="39" name="Freeform 7"/>
            <p:cNvSpPr/>
            <p:nvPr/>
          </p:nvSpPr>
          <p:spPr bwMode="auto">
            <a:xfrm>
              <a:off x="4796155" y="3862705"/>
              <a:ext cx="1137920" cy="567690"/>
            </a:xfrm>
            <a:custGeom>
              <a:avLst/>
              <a:gdLst>
                <a:gd name="T0" fmla="*/ 224 w 339"/>
                <a:gd name="T1" fmla="*/ 144 h 169"/>
                <a:gd name="T2" fmla="*/ 339 w 339"/>
                <a:gd name="T3" fmla="*/ 73 h 169"/>
                <a:gd name="T4" fmla="*/ 115 w 339"/>
                <a:gd name="T5" fmla="*/ 0 h 169"/>
                <a:gd name="T6" fmla="*/ 0 w 339"/>
                <a:gd name="T7" fmla="*/ 124 h 169"/>
                <a:gd name="T8" fmla="*/ 224 w 339"/>
                <a:gd name="T9" fmla="*/ 144 h 169"/>
              </a:gdLst>
              <a:ahLst/>
              <a:cxnLst>
                <a:cxn ang="0">
                  <a:pos x="T0" y="T1"/>
                </a:cxn>
                <a:cxn ang="0">
                  <a:pos x="T2" y="T3"/>
                </a:cxn>
                <a:cxn ang="0">
                  <a:pos x="T4" y="T5"/>
                </a:cxn>
                <a:cxn ang="0">
                  <a:pos x="T6" y="T7"/>
                </a:cxn>
                <a:cxn ang="0">
                  <a:pos x="T8" y="T9"/>
                </a:cxn>
              </a:cxnLst>
              <a:rect l="0" t="0" r="r" b="b"/>
              <a:pathLst>
                <a:path w="339" h="169">
                  <a:moveTo>
                    <a:pt x="224" y="144"/>
                  </a:moveTo>
                  <a:cubicBezTo>
                    <a:pt x="269" y="130"/>
                    <a:pt x="308" y="105"/>
                    <a:pt x="339" y="73"/>
                  </a:cubicBezTo>
                  <a:cubicBezTo>
                    <a:pt x="115" y="0"/>
                    <a:pt x="115" y="0"/>
                    <a:pt x="115" y="0"/>
                  </a:cubicBezTo>
                  <a:cubicBezTo>
                    <a:pt x="64" y="29"/>
                    <a:pt x="25" y="73"/>
                    <a:pt x="0" y="124"/>
                  </a:cubicBezTo>
                  <a:cubicBezTo>
                    <a:pt x="66" y="160"/>
                    <a:pt x="147" y="169"/>
                    <a:pt x="224" y="144"/>
                  </a:cubicBezTo>
                  <a:close/>
                </a:path>
              </a:pathLst>
            </a:custGeom>
            <a:solidFill>
              <a:srgbClr val="557199"/>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sz="1400">
                <a:solidFill>
                  <a:prstClr val="white"/>
                </a:solidFill>
                <a:latin typeface="+mn-lt"/>
                <a:ea typeface="+mn-ea"/>
                <a:cs typeface="思源宋体" panose="02020400000000000000" charset="-122"/>
              </a:endParaRPr>
            </a:p>
          </p:txBody>
        </p:sp>
        <p:sp>
          <p:nvSpPr>
            <p:cNvPr id="40" name="Freeform 16"/>
            <p:cNvSpPr/>
            <p:nvPr/>
          </p:nvSpPr>
          <p:spPr bwMode="auto">
            <a:xfrm>
              <a:off x="5081905" y="3298825"/>
              <a:ext cx="852170" cy="809625"/>
            </a:xfrm>
            <a:custGeom>
              <a:avLst/>
              <a:gdLst>
                <a:gd name="T0" fmla="*/ 203 w 254"/>
                <a:gd name="T1" fmla="*/ 115 h 241"/>
                <a:gd name="T2" fmla="*/ 254 w 254"/>
                <a:gd name="T3" fmla="*/ 241 h 241"/>
                <a:gd name="T4" fmla="*/ 30 w 254"/>
                <a:gd name="T5" fmla="*/ 168 h 241"/>
                <a:gd name="T6" fmla="*/ 10 w 254"/>
                <a:gd name="T7" fmla="*/ 0 h 241"/>
                <a:gd name="T8" fmla="*/ 203 w 254"/>
                <a:gd name="T9" fmla="*/ 115 h 241"/>
              </a:gdLst>
              <a:ahLst/>
              <a:cxnLst>
                <a:cxn ang="0">
                  <a:pos x="T0" y="T1"/>
                </a:cxn>
                <a:cxn ang="0">
                  <a:pos x="T2" y="T3"/>
                </a:cxn>
                <a:cxn ang="0">
                  <a:pos x="T4" y="T5"/>
                </a:cxn>
                <a:cxn ang="0">
                  <a:pos x="T6" y="T7"/>
                </a:cxn>
                <a:cxn ang="0">
                  <a:pos x="T8" y="T9"/>
                </a:cxn>
              </a:cxnLst>
              <a:rect l="0" t="0" r="r" b="b"/>
              <a:pathLst>
                <a:path w="254" h="241">
                  <a:moveTo>
                    <a:pt x="203" y="115"/>
                  </a:moveTo>
                  <a:cubicBezTo>
                    <a:pt x="231" y="154"/>
                    <a:pt x="248" y="197"/>
                    <a:pt x="254" y="241"/>
                  </a:cubicBezTo>
                  <a:cubicBezTo>
                    <a:pt x="30" y="168"/>
                    <a:pt x="30" y="168"/>
                    <a:pt x="30" y="168"/>
                  </a:cubicBezTo>
                  <a:cubicBezTo>
                    <a:pt x="6" y="114"/>
                    <a:pt x="0" y="56"/>
                    <a:pt x="10" y="0"/>
                  </a:cubicBezTo>
                  <a:cubicBezTo>
                    <a:pt x="85" y="10"/>
                    <a:pt x="155" y="49"/>
                    <a:pt x="203" y="115"/>
                  </a:cubicBezTo>
                  <a:close/>
                </a:path>
              </a:pathLst>
            </a:custGeom>
            <a:solidFill>
              <a:srgbClr val="9FACC3"/>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a:solidFill>
                  <a:prstClr val="white"/>
                </a:solidFill>
                <a:latin typeface="+mn-lt"/>
                <a:ea typeface="+mn-ea"/>
                <a:cs typeface="思源宋体" panose="02020400000000000000" charset="-122"/>
              </a:endParaRPr>
            </a:p>
          </p:txBody>
        </p:sp>
        <p:sp>
          <p:nvSpPr>
            <p:cNvPr id="41" name="椭圆 40"/>
            <p:cNvSpPr/>
            <p:nvPr/>
          </p:nvSpPr>
          <p:spPr>
            <a:xfrm>
              <a:off x="4867910" y="3677920"/>
              <a:ext cx="219710" cy="219710"/>
            </a:xfrm>
            <a:prstGeom prst="ellipse">
              <a:avLst/>
            </a:prstGeom>
            <a:solidFill>
              <a:srgbClr val="557199"/>
            </a:solidFill>
            <a:ln w="381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sp>
          <p:nvSpPr>
            <p:cNvPr id="42" name="椭圆 41"/>
            <p:cNvSpPr/>
            <p:nvPr/>
          </p:nvSpPr>
          <p:spPr>
            <a:xfrm>
              <a:off x="6910070" y="3677920"/>
              <a:ext cx="219710" cy="219710"/>
            </a:xfrm>
            <a:prstGeom prst="ellipse">
              <a:avLst/>
            </a:prstGeom>
            <a:solidFill>
              <a:srgbClr val="557199"/>
            </a:solidFill>
            <a:ln w="381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宋体" panose="02020400000000000000" charset="-122"/>
              </a:endParaRPr>
            </a:p>
          </p:txBody>
        </p:sp>
      </p:grp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3" name="直接连接符 179"/>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49336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5" name="直接连接符 181"/>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7" name="TextBox 7"/>
          <p:cNvSpPr txBox="1"/>
          <p:nvPr/>
        </p:nvSpPr>
        <p:spPr>
          <a:xfrm>
            <a:off x="5033403" y="215903"/>
            <a:ext cx="1442321"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LM</a:t>
            </a:r>
            <a:r>
              <a:rPr lang="zh-CN" altLang="en-US" sz="1600" b="1" dirty="0">
                <a:solidFill>
                  <a:schemeClr val="bg1"/>
                </a:solidFill>
                <a:latin typeface="微软雅黑" panose="020B0503020204020204" pitchFamily="34" charset="-122"/>
                <a:ea typeface="微软雅黑" panose="020B0503020204020204" pitchFamily="34" charset="-122"/>
              </a:rPr>
              <a:t>发展史</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187"/>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88"/>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6"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9"/>
          <p:cNvSpPr txBox="1"/>
          <p:nvPr/>
        </p:nvSpPr>
        <p:spPr>
          <a:xfrm>
            <a:off x="6699976" y="225772"/>
            <a:ext cx="1501146"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技术原理</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8"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1" name="文本框 14"/>
          <p:cNvSpPr txBox="1"/>
          <p:nvPr/>
        </p:nvSpPr>
        <p:spPr>
          <a:xfrm>
            <a:off x="7344356" y="2017422"/>
            <a:ext cx="4571419" cy="4660845"/>
          </a:xfrm>
          <a:prstGeom prst="rect">
            <a:avLst/>
          </a:prstGeom>
          <a:noFill/>
        </p:spPr>
        <p:txBody>
          <a:bodyPr wrap="square" lIns="115205" tIns="57603" rIns="115205" bIns="57603" rtlCol="0">
            <a:spAutoFit/>
          </a:bodyPr>
          <a:lstStyle/>
          <a:p>
            <a:pPr marL="342900" indent="-342900">
              <a:lnSpc>
                <a:spcPct val="150000"/>
              </a:lnSpc>
              <a:spcBef>
                <a:spcPct val="0"/>
              </a:spcBef>
              <a:buFont typeface="Wingdings" panose="05000000000000000000" pitchFamily="2" charset="2"/>
              <a:buChar char="l"/>
            </a:pPr>
            <a:r>
              <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RNN</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模型用于处理序列数据的深度学习模型。它通过引入隐藏状态（或称记忆单元），能够将之前时刻的信息保留并影响当前时刻的输出，从而捕捉序列中元素之间的时序依赖关系</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342900" indent="-342900">
              <a:lnSpc>
                <a:spcPct val="150000"/>
              </a:lnSpc>
              <a:spcBef>
                <a:spcPct val="0"/>
              </a:spcBef>
              <a:buFont typeface="Wingdings" panose="05000000000000000000" pitchFamily="2" charset="2"/>
              <a:buChar char="l"/>
            </a:pP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优点：强大的序列数据处理能力</a:t>
            </a:r>
            <a:r>
              <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灵活性高</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342900" indent="-342900">
              <a:lnSpc>
                <a:spcPct val="150000"/>
              </a:lnSpc>
              <a:spcBef>
                <a:spcPct val="0"/>
              </a:spcBef>
              <a:buFont typeface="Wingdings" panose="05000000000000000000" pitchFamily="2" charset="2"/>
              <a:buChar char="l"/>
            </a:pP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缺点：梯度消失与梯度爆炸</a:t>
            </a:r>
            <a:r>
              <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训练复杂度高且时间长</a:t>
            </a:r>
            <a:endPar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302005" y="956056"/>
            <a:ext cx="3312733"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经典预训练语言模型</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1" name="文本框 14"/>
          <p:cNvSpPr txBox="1"/>
          <p:nvPr/>
        </p:nvSpPr>
        <p:spPr>
          <a:xfrm>
            <a:off x="549894" y="2228047"/>
            <a:ext cx="10737231" cy="4344861"/>
          </a:xfrm>
          <a:prstGeom prst="rect">
            <a:avLst/>
          </a:prstGeom>
          <a:noFill/>
        </p:spPr>
        <p:txBody>
          <a:bodyPr wrap="square" lIns="115205" tIns="57603" rIns="115205" bIns="57603" rtlCol="0">
            <a:spAutoFit/>
          </a:bodyPr>
          <a:lstStyle/>
          <a:p>
            <a:pPr marL="342900" indent="-342900">
              <a:lnSpc>
                <a:spcPct val="150000"/>
              </a:lnSpc>
              <a:spcBef>
                <a:spcPct val="0"/>
              </a:spcBef>
              <a:buFont typeface="Wingdings" panose="05000000000000000000" pitchFamily="2" charset="2"/>
              <a:buChar char="l"/>
            </a:pPr>
            <a:r>
              <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BERT</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模型使用大规模文本进行预训练，利用上下文双向信息来构建每个词的语义表示</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342900" indent="-342900">
              <a:lnSpc>
                <a:spcPct val="150000"/>
              </a:lnSpc>
              <a:spcBef>
                <a:spcPct val="0"/>
              </a:spcBef>
              <a:buFont typeface="Wingdings" panose="05000000000000000000" pitchFamily="2" charset="2"/>
              <a:buChar char="l"/>
            </a:pP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预训练阶段的两个关键任务：</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800100" lvl="1" indent="-342900">
              <a:lnSpc>
                <a:spcPct val="150000"/>
              </a:lnSpc>
              <a:spcBef>
                <a:spcPct val="0"/>
              </a:spcBef>
              <a:buFont typeface="Wingdings" panose="05000000000000000000" pitchFamily="2" charset="2"/>
              <a:buChar char="l"/>
            </a:pPr>
            <a:r>
              <a:rPr lang="en-GB" altLang="zh-CN"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MLM</a:t>
            </a:r>
            <a:r>
              <a:rPr lang="zh-CN" altLang="en-GB"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a:t>
            </a:r>
            <a:r>
              <a:rPr lang="en-GB" altLang="zh-CN"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Masked Language Modeling</a:t>
            </a:r>
            <a:r>
              <a:rPr lang="zh-CN" altLang="en-GB"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a:t>
            </a:r>
            <a:r>
              <a:rPr lang="zh-CN" altLang="en-US"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掩码语言模型）任务随机遮盖输入文本中的部分字符，训练模型根据上下文预测遮盖内容的能力</a:t>
            </a:r>
            <a:endParaRPr lang="en-US" altLang="zh-CN"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800100" lvl="1" indent="-342900">
              <a:lnSpc>
                <a:spcPct val="150000"/>
              </a:lnSpc>
              <a:spcBef>
                <a:spcPct val="0"/>
              </a:spcBef>
              <a:buFont typeface="Wingdings" panose="05000000000000000000" pitchFamily="2" charset="2"/>
              <a:buChar char="l"/>
            </a:pPr>
            <a:r>
              <a:rPr lang="en-GB" altLang="zh-CN"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NSP</a:t>
            </a:r>
            <a:r>
              <a:rPr lang="zh-CN" altLang="en-GB"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a:t>
            </a:r>
            <a:r>
              <a:rPr lang="en-GB" altLang="zh-CN"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Next Sentence Prediction</a:t>
            </a:r>
            <a:r>
              <a:rPr lang="zh-CN" altLang="en-GB"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a:t>
            </a:r>
            <a:r>
              <a:rPr lang="zh-CN" altLang="en-US"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下一句预测）任务用于判断两个句子在文本中是否相邻，训练模型学习句间关系的能力</a:t>
            </a:r>
            <a:endParaRPr lang="en-US" altLang="zh-CN"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342900" indent="-342900">
              <a:lnSpc>
                <a:spcPct val="150000"/>
              </a:lnSpc>
              <a:spcBef>
                <a:spcPct val="0"/>
              </a:spcBef>
              <a:buFont typeface="Wingdings" panose="05000000000000000000" pitchFamily="2" charset="2"/>
              <a:buChar char="l"/>
            </a:pPr>
            <a:r>
              <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BERT</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模型的优势：</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800100" lvl="1" indent="-342900">
              <a:lnSpc>
                <a:spcPct val="150000"/>
              </a:lnSpc>
              <a:spcBef>
                <a:spcPct val="0"/>
              </a:spcBef>
              <a:buFont typeface="Wingdings" panose="05000000000000000000" pitchFamily="2" charset="2"/>
              <a:buChar char="l"/>
            </a:pPr>
            <a:r>
              <a:rPr lang="zh-CN" altLang="en-US"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双向编码能力能够更全面的理解语义信息</a:t>
            </a:r>
            <a:endParaRPr lang="en-US" altLang="zh-CN"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800100" lvl="1" indent="-342900">
              <a:lnSpc>
                <a:spcPct val="150000"/>
              </a:lnSpc>
              <a:spcBef>
                <a:spcPct val="0"/>
              </a:spcBef>
              <a:buFont typeface="Wingdings" panose="05000000000000000000" pitchFamily="2" charset="2"/>
              <a:buChar char="l"/>
            </a:pPr>
            <a:r>
              <a:rPr lang="zh-CN" altLang="en-US"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泛化能力强，通过大规模文本的预训练学习到丰富的通用知识</a:t>
            </a:r>
            <a:endParaRPr lang="en-US" altLang="zh-CN"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800100" lvl="1" indent="-342900">
              <a:lnSpc>
                <a:spcPct val="150000"/>
              </a:lnSpc>
              <a:spcBef>
                <a:spcPct val="0"/>
              </a:spcBef>
              <a:buFont typeface="Wingdings" panose="05000000000000000000" pitchFamily="2" charset="2"/>
              <a:buChar char="l"/>
            </a:pPr>
            <a:r>
              <a:rPr lang="zh-CN" altLang="en-US"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结合微调能够专注于不同类型的下游任务</a:t>
            </a:r>
            <a:endParaRPr lang="en-GB" altLang="zh-CN"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p:txBody>
      </p:sp>
      <p:sp>
        <p:nvSpPr>
          <p:cNvPr id="32" name="矩形 31"/>
          <p:cNvSpPr/>
          <p:nvPr/>
        </p:nvSpPr>
        <p:spPr>
          <a:xfrm>
            <a:off x="752474" y="1635356"/>
            <a:ext cx="2044149" cy="461665"/>
          </a:xfrm>
          <a:prstGeom prst="rect">
            <a:avLst/>
          </a:prstGeom>
        </p:spPr>
        <p:txBody>
          <a:bodyPr wrap="none">
            <a:spAutoFit/>
          </a:bodyPr>
          <a:lstStyle/>
          <a:p>
            <a:r>
              <a:rPr lang="en-GB" altLang="zh-CN" sz="2400" b="1" dirty="0">
                <a:solidFill>
                  <a:schemeClr val="tx1">
                    <a:lumMod val="75000"/>
                    <a:lumOff val="25000"/>
                  </a:schemeClr>
                </a:solidFill>
                <a:latin typeface="宋体" pitchFamily="2" charset="-122"/>
                <a:ea typeface="宋体" pitchFamily="2" charset="-122"/>
              </a:rPr>
              <a:t>BERT</a:t>
            </a:r>
            <a:r>
              <a:rPr lang="zh-CN" altLang="en-GB" sz="2400" b="1" dirty="0">
                <a:solidFill>
                  <a:schemeClr val="tx1">
                    <a:lumMod val="75000"/>
                    <a:lumOff val="25000"/>
                  </a:schemeClr>
                </a:solidFill>
                <a:latin typeface="宋体" pitchFamily="2" charset="-122"/>
                <a:ea typeface="宋体" pitchFamily="2" charset="-122"/>
              </a:rPr>
              <a:t>系列</a:t>
            </a:r>
            <a:r>
              <a:rPr lang="zh-CN" altLang="en-US" sz="2400" b="1" dirty="0">
                <a:solidFill>
                  <a:schemeClr val="tx1">
                    <a:lumMod val="75000"/>
                    <a:lumOff val="25000"/>
                  </a:schemeClr>
                </a:solidFill>
                <a:latin typeface="宋体" pitchFamily="2" charset="-122"/>
                <a:ea typeface="宋体" pitchFamily="2" charset="-122"/>
              </a:rPr>
              <a:t>模型</a:t>
            </a:r>
            <a:endParaRPr lang="zh-CN" altLang="en-US" sz="2665" b="1" dirty="0">
              <a:solidFill>
                <a:schemeClr val="tx1">
                  <a:lumMod val="75000"/>
                  <a:lumOff val="25000"/>
                </a:schemeClr>
              </a:solidFill>
              <a:latin typeface="宋体" pitchFamily="2" charset="-122"/>
              <a:ea typeface="宋体" pitchFamily="2" charset="-122"/>
            </a:endParaRPr>
          </a:p>
        </p:txBody>
      </p: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3" name="直接连接符 179"/>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49336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5" name="直接连接符 181"/>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7" name="TextBox 7"/>
          <p:cNvSpPr txBox="1"/>
          <p:nvPr/>
        </p:nvSpPr>
        <p:spPr>
          <a:xfrm>
            <a:off x="5033403" y="215903"/>
            <a:ext cx="1442321"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LM</a:t>
            </a:r>
            <a:r>
              <a:rPr lang="zh-CN" altLang="en-US" sz="1600" b="1" dirty="0">
                <a:solidFill>
                  <a:schemeClr val="bg1"/>
                </a:solidFill>
                <a:latin typeface="微软雅黑" panose="020B0503020204020204" pitchFamily="34" charset="-122"/>
                <a:ea typeface="微软雅黑" panose="020B0503020204020204" pitchFamily="34" charset="-122"/>
              </a:rPr>
              <a:t>发展史</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187"/>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88"/>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6"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9"/>
          <p:cNvSpPr txBox="1"/>
          <p:nvPr/>
        </p:nvSpPr>
        <p:spPr>
          <a:xfrm>
            <a:off x="6699976" y="225772"/>
            <a:ext cx="1501146"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技术原理</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8"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nvSpPr>
        <p:spPr>
          <a:xfrm>
            <a:off x="302005" y="956056"/>
            <a:ext cx="3312733"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经典预训练语言模型</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1" name="文本框 14"/>
          <p:cNvSpPr txBox="1"/>
          <p:nvPr/>
        </p:nvSpPr>
        <p:spPr>
          <a:xfrm>
            <a:off x="752474" y="2514975"/>
            <a:ext cx="10194306" cy="2814185"/>
          </a:xfrm>
          <a:prstGeom prst="rect">
            <a:avLst/>
          </a:prstGeom>
          <a:noFill/>
        </p:spPr>
        <p:txBody>
          <a:bodyPr wrap="square" lIns="115205" tIns="57603" rIns="115205" bIns="57603" rtlCol="0">
            <a:spAutoFit/>
          </a:bodyPr>
          <a:lstStyle/>
          <a:p>
            <a:pPr marL="342900" indent="-342900">
              <a:lnSpc>
                <a:spcPct val="150000"/>
              </a:lnSpc>
              <a:spcBef>
                <a:spcPct val="0"/>
              </a:spcBef>
              <a:buFont typeface="Wingdings" panose="05000000000000000000" pitchFamily="2" charset="2"/>
              <a:buChar char="l"/>
            </a:pPr>
            <a:r>
              <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GPT</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系列模型是由</a:t>
            </a:r>
            <a:r>
              <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OpenAI</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开发的一系列生成式预训练语言模型，通过自回归语言建模进行预训练，根据给定之前所有的</a:t>
            </a:r>
            <a:r>
              <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token</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，预测下一个</a:t>
            </a:r>
            <a:r>
              <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token</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是什么，适合用于文本生成。</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342900" indent="-342900">
              <a:lnSpc>
                <a:spcPct val="150000"/>
              </a:lnSpc>
              <a:spcBef>
                <a:spcPct val="0"/>
              </a:spcBef>
              <a:buFont typeface="Wingdings" panose="05000000000000000000" pitchFamily="2" charset="2"/>
              <a:buChar char="l"/>
            </a:pPr>
            <a:r>
              <a:rPr lang="en-GB"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ChatGPT</a:t>
            </a: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模型通过强化学习和人类反馈进行优化，能够生成连续且符合人类偏好的对话内容</a:t>
            </a:r>
            <a:endParaRPr lang="en-US" altLang="zh-CN"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a:p>
            <a:pPr marL="342900" indent="-342900">
              <a:lnSpc>
                <a:spcPct val="150000"/>
              </a:lnSpc>
              <a:spcBef>
                <a:spcPct val="0"/>
              </a:spcBef>
              <a:buFont typeface="Wingdings" panose="05000000000000000000" pitchFamily="2" charset="2"/>
              <a:buChar char="l"/>
            </a:pPr>
            <a:r>
              <a:rPr lang="zh-CN" altLang="en-US" sz="2000"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rPr>
              <a:t>优势在于交互性强，具有强大的文本生成能力，能够兼顾对话上下文，生成连贯自然的文本。 </a:t>
            </a:r>
            <a:endParaRPr lang="en-GB" altLang="zh-CN" dirty="0">
              <a:solidFill>
                <a:schemeClr val="tx1">
                  <a:lumMod val="65000"/>
                  <a:lumOff val="35000"/>
                </a:schemeClr>
              </a:solidFill>
              <a:latin typeface="楷体" panose="02010609060101010101" pitchFamily="49" charset="-122"/>
              <a:ea typeface="楷体" panose="02010609060101010101" pitchFamily="49" charset="-122"/>
              <a:cs typeface="微软雅黑" panose="020B0503020204020204" pitchFamily="34" charset="-122"/>
            </a:endParaRPr>
          </a:p>
        </p:txBody>
      </p:sp>
      <p:sp>
        <p:nvSpPr>
          <p:cNvPr id="32" name="矩形 31"/>
          <p:cNvSpPr/>
          <p:nvPr/>
        </p:nvSpPr>
        <p:spPr>
          <a:xfrm>
            <a:off x="922670" y="1824091"/>
            <a:ext cx="1888659" cy="461665"/>
          </a:xfrm>
          <a:prstGeom prst="rect">
            <a:avLst/>
          </a:prstGeom>
        </p:spPr>
        <p:txBody>
          <a:bodyPr wrap="none">
            <a:spAutoFit/>
          </a:bodyPr>
          <a:lstStyle/>
          <a:p>
            <a:r>
              <a:rPr lang="en-GB" altLang="zh-CN" sz="2400" b="1" dirty="0">
                <a:solidFill>
                  <a:schemeClr val="tx1">
                    <a:lumMod val="75000"/>
                    <a:lumOff val="25000"/>
                  </a:schemeClr>
                </a:solidFill>
                <a:latin typeface="宋体" pitchFamily="2" charset="-122"/>
                <a:ea typeface="宋体" pitchFamily="2" charset="-122"/>
              </a:rPr>
              <a:t>GPT</a:t>
            </a:r>
            <a:r>
              <a:rPr lang="zh-CN" altLang="en-GB" sz="2400" b="1" dirty="0">
                <a:solidFill>
                  <a:schemeClr val="tx1">
                    <a:lumMod val="75000"/>
                    <a:lumOff val="25000"/>
                  </a:schemeClr>
                </a:solidFill>
                <a:latin typeface="宋体" pitchFamily="2" charset="-122"/>
                <a:ea typeface="宋体" pitchFamily="2" charset="-122"/>
              </a:rPr>
              <a:t>系列</a:t>
            </a:r>
            <a:r>
              <a:rPr lang="zh-CN" altLang="en-US" sz="2400" b="1" dirty="0">
                <a:solidFill>
                  <a:schemeClr val="tx1">
                    <a:lumMod val="75000"/>
                    <a:lumOff val="25000"/>
                  </a:schemeClr>
                </a:solidFill>
                <a:latin typeface="宋体" pitchFamily="2" charset="-122"/>
                <a:ea typeface="宋体" pitchFamily="2" charset="-122"/>
              </a:rPr>
              <a:t>模型</a:t>
            </a:r>
            <a:endParaRPr lang="zh-CN" altLang="en-US" sz="2400" b="1" dirty="0">
              <a:solidFill>
                <a:schemeClr val="tx1">
                  <a:lumMod val="75000"/>
                  <a:lumOff val="25000"/>
                </a:schemeClr>
              </a:solidFill>
              <a:latin typeface="宋体" pitchFamily="2" charset="-122"/>
              <a:ea typeface="宋体" pitchFamily="2" charset="-122"/>
            </a:endParaRPr>
          </a:p>
        </p:txBody>
      </p: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p>
        </p:txBody>
      </p:sp>
      <p:cxnSp>
        <p:nvCxnSpPr>
          <p:cNvPr id="3" name="直接连接符 179"/>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49336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5" name="直接连接符 181"/>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7" name="TextBox 7"/>
          <p:cNvSpPr txBox="1"/>
          <p:nvPr/>
        </p:nvSpPr>
        <p:spPr>
          <a:xfrm>
            <a:off x="5033403" y="215903"/>
            <a:ext cx="1442321"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LM</a:t>
            </a:r>
            <a:r>
              <a:rPr lang="zh-CN" altLang="en-US" sz="1600" b="1" dirty="0">
                <a:solidFill>
                  <a:schemeClr val="bg1"/>
                </a:solidFill>
                <a:latin typeface="微软雅黑" panose="020B0503020204020204" pitchFamily="34" charset="-122"/>
                <a:ea typeface="微软雅黑" panose="020B0503020204020204" pitchFamily="34" charset="-122"/>
              </a:rPr>
              <a:t>发展史</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187"/>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88"/>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6"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9"/>
          <p:cNvSpPr txBox="1"/>
          <p:nvPr/>
        </p:nvSpPr>
        <p:spPr>
          <a:xfrm>
            <a:off x="6699976" y="225772"/>
            <a:ext cx="1501146"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技术原理</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8"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617872" y="-4617869"/>
            <a:ext cx="2956264" cy="12192002"/>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2266814"/>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2726076"/>
            <a:ext cx="1209562" cy="461665"/>
          </a:xfrm>
          <a:prstGeom prst="rect">
            <a:avLst/>
          </a:prstGeom>
          <a:noFill/>
        </p:spPr>
        <p:txBody>
          <a:bodyPr wrap="none" rtlCol="0">
            <a:spAutoFit/>
          </a:bodyPr>
          <a:lstStyle/>
          <a:p>
            <a:r>
              <a:rPr lang="en-US" altLang="zh-CN" sz="2400" dirty="0">
                <a:solidFill>
                  <a:srgbClr val="557199"/>
                </a:solidFill>
                <a:latin typeface="微软雅黑" panose="020B0503020204020204" pitchFamily="34" charset="-122"/>
                <a:ea typeface="微软雅黑" panose="020B0503020204020204" pitchFamily="34" charset="-122"/>
              </a:rPr>
              <a:t>Part.03</a:t>
            </a:r>
            <a:endParaRPr lang="en-US" altLang="zh-CN" sz="2400" dirty="0">
              <a:solidFill>
                <a:srgbClr val="557199"/>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0791" y="4518448"/>
            <a:ext cx="5537198" cy="707886"/>
          </a:xfrm>
          <a:prstGeom prst="rect">
            <a:avLst/>
          </a:prstGeom>
          <a:noFill/>
          <a:ln>
            <a:noFill/>
          </a:ln>
        </p:spPr>
        <p:txBody>
          <a:bodyPr wrap="square" rtlCol="0">
            <a:spAutoFit/>
          </a:bodyPr>
          <a:lstStyle/>
          <a:p>
            <a:pPr algn="ctr"/>
            <a:r>
              <a:rPr lang="zh-CN" altLang="en-US" sz="4000" b="1" spc="600" dirty="0">
                <a:solidFill>
                  <a:srgbClr val="557199"/>
                </a:solidFill>
                <a:latin typeface="微软雅黑" panose="020B0503020204020204" pitchFamily="34" charset="-122"/>
                <a:ea typeface="微软雅黑" panose="020B0503020204020204" pitchFamily="34" charset="-122"/>
              </a:rPr>
              <a:t>大语言模型技术原理</a:t>
            </a:r>
            <a:endParaRPr lang="zh-CN" altLang="en-US" sz="4000" b="1" spc="600" dirty="0">
              <a:solidFill>
                <a:srgbClr val="55719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redondeado 517"/>
          <p:cNvSpPr/>
          <p:nvPr/>
        </p:nvSpPr>
        <p:spPr>
          <a:xfrm>
            <a:off x="427841" y="3306218"/>
            <a:ext cx="3677285" cy="488948"/>
          </a:xfrm>
          <a:prstGeom prst="roundRect">
            <a:avLst>
              <a:gd name="adj" fmla="val 50000"/>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0" name="Triángulo 519"/>
          <p:cNvSpPr/>
          <p:nvPr/>
        </p:nvSpPr>
        <p:spPr>
          <a:xfrm rot="10800000">
            <a:off x="1591623" y="3795167"/>
            <a:ext cx="666115" cy="282575"/>
          </a:xfrm>
          <a:prstGeom prst="triangl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1" name="Rectángulo redondeado 11"/>
          <p:cNvSpPr/>
          <p:nvPr/>
        </p:nvSpPr>
        <p:spPr>
          <a:xfrm>
            <a:off x="7775891" y="3291929"/>
            <a:ext cx="3344399" cy="503235"/>
          </a:xfrm>
          <a:prstGeom prst="roundRect">
            <a:avLst>
              <a:gd name="adj" fmla="val 50000"/>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3" name="Rectángulo 5"/>
          <p:cNvSpPr/>
          <p:nvPr/>
        </p:nvSpPr>
        <p:spPr>
          <a:xfrm>
            <a:off x="2478087" y="3306216"/>
            <a:ext cx="2834005" cy="488947"/>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14" name="Triángulo 6"/>
          <p:cNvSpPr/>
          <p:nvPr/>
        </p:nvSpPr>
        <p:spPr>
          <a:xfrm>
            <a:off x="3746822" y="3023642"/>
            <a:ext cx="666115" cy="282575"/>
          </a:xfrm>
          <a:prstGeom prst="triangl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1" name="Rectángulo 510"/>
          <p:cNvSpPr/>
          <p:nvPr/>
        </p:nvSpPr>
        <p:spPr>
          <a:xfrm>
            <a:off x="3871277" y="3291929"/>
            <a:ext cx="2834005" cy="488948"/>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solidFill>
                <a:srgbClr val="595959"/>
              </a:solidFill>
            </a:endParaRPr>
          </a:p>
        </p:txBody>
      </p:sp>
      <p:sp>
        <p:nvSpPr>
          <p:cNvPr id="62" name="Triángulo 511"/>
          <p:cNvSpPr/>
          <p:nvPr/>
        </p:nvSpPr>
        <p:spPr>
          <a:xfrm rot="10800000">
            <a:off x="5568004" y="3795167"/>
            <a:ext cx="666115" cy="282575"/>
          </a:xfrm>
          <a:prstGeom prst="triangl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68" name="Rectángulo 512"/>
          <p:cNvSpPr/>
          <p:nvPr/>
        </p:nvSpPr>
        <p:spPr>
          <a:xfrm>
            <a:off x="5268277" y="3306217"/>
            <a:ext cx="2834005" cy="48895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69" name="Triángulo 513"/>
          <p:cNvSpPr/>
          <p:nvPr/>
        </p:nvSpPr>
        <p:spPr>
          <a:xfrm>
            <a:off x="7508570" y="3023642"/>
            <a:ext cx="666115" cy="282575"/>
          </a:xfrm>
          <a:prstGeom prst="triangl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1" name="Rectángulo 514"/>
          <p:cNvSpPr/>
          <p:nvPr/>
        </p:nvSpPr>
        <p:spPr>
          <a:xfrm>
            <a:off x="6660832" y="3291929"/>
            <a:ext cx="2834005" cy="488949"/>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72" name="Triángulo 515"/>
          <p:cNvSpPr/>
          <p:nvPr/>
        </p:nvSpPr>
        <p:spPr>
          <a:xfrm rot="10800000">
            <a:off x="9486907" y="3795167"/>
            <a:ext cx="666115" cy="282575"/>
          </a:xfrm>
          <a:prstGeom prst="triangl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3" name="文本框 32"/>
          <p:cNvSpPr txBox="1"/>
          <p:nvPr/>
        </p:nvSpPr>
        <p:spPr>
          <a:xfrm>
            <a:off x="1420808" y="3365907"/>
            <a:ext cx="1026160" cy="368300"/>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01</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63" name="文本框 62"/>
          <p:cNvSpPr txBox="1"/>
          <p:nvPr>
            <p:custDataLst>
              <p:tags r:id="rId1"/>
            </p:custDataLst>
          </p:nvPr>
        </p:nvSpPr>
        <p:spPr>
          <a:xfrm>
            <a:off x="521652" y="4432707"/>
            <a:ext cx="4126230" cy="553085"/>
          </a:xfrm>
          <a:prstGeom prst="rect">
            <a:avLst/>
          </a:prstGeom>
          <a:noFill/>
        </p:spPr>
        <p:txBody>
          <a:bodyPr wrap="square" rtlCol="0">
            <a:spAutoFit/>
          </a:bodyPr>
          <a:lstStyle/>
          <a:p>
            <a:pPr algn="ctr">
              <a:lnSpc>
                <a:spcPct val="125000"/>
              </a:lnSpc>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25000"/>
              </a:lnSpc>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6" name="文本框 75"/>
          <p:cNvSpPr txBox="1"/>
          <p:nvPr/>
        </p:nvSpPr>
        <p:spPr>
          <a:xfrm>
            <a:off x="3541082" y="3365907"/>
            <a:ext cx="1026160" cy="368300"/>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02</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77" name="文本框 76"/>
          <p:cNvSpPr txBox="1"/>
          <p:nvPr/>
        </p:nvSpPr>
        <p:spPr>
          <a:xfrm>
            <a:off x="5434019" y="3365907"/>
            <a:ext cx="1026160" cy="368300"/>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03</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78" name="文本框 77"/>
          <p:cNvSpPr txBox="1"/>
          <p:nvPr/>
        </p:nvSpPr>
        <p:spPr>
          <a:xfrm>
            <a:off x="7328230" y="3365907"/>
            <a:ext cx="1026160" cy="368300"/>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04</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9306567" y="3365907"/>
            <a:ext cx="1026160" cy="368300"/>
          </a:xfrm>
          <a:prstGeom prst="rect">
            <a:avLst/>
          </a:prstGeom>
          <a:noFill/>
        </p:spPr>
        <p:txBody>
          <a:bodyPr wrap="square" rtlCol="0">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05</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81" name="文本框 80"/>
          <p:cNvSpPr txBox="1"/>
          <p:nvPr/>
        </p:nvSpPr>
        <p:spPr>
          <a:xfrm>
            <a:off x="869320" y="4550945"/>
            <a:ext cx="2596515" cy="1208023"/>
          </a:xfrm>
          <a:prstGeom prst="rect">
            <a:avLst/>
          </a:prstGeom>
          <a:noFill/>
        </p:spPr>
        <p:txBody>
          <a:bodyPr wrap="square" rtlCol="0">
            <a:spAutoFit/>
          </a:bodyPr>
          <a:lstStyle/>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自回归模型</a:t>
            </a:r>
            <a:endParaRPr lang="en-US" altLang="zh-CN" sz="2000" dirty="0">
              <a:solidFill>
                <a:srgbClr val="595959"/>
              </a:solidFill>
              <a:latin typeface="楷体" panose="02010609060101010101" pitchFamily="49" charset="-122"/>
              <a:ea typeface="楷体" panose="02010609060101010101" pitchFamily="49" charset="-122"/>
            </a:endParaRPr>
          </a:p>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自编码模型</a:t>
            </a:r>
            <a:endParaRPr lang="en-US" altLang="zh-CN" sz="2000" dirty="0">
              <a:solidFill>
                <a:srgbClr val="595959"/>
              </a:solidFill>
              <a:latin typeface="楷体" panose="02010609060101010101" pitchFamily="49" charset="-122"/>
              <a:ea typeface="楷体" panose="02010609060101010101" pitchFamily="49" charset="-122"/>
            </a:endParaRPr>
          </a:p>
          <a:p>
            <a:pPr marL="285750" indent="-285750">
              <a:lnSpc>
                <a:spcPct val="125000"/>
              </a:lnSpc>
              <a:buFont typeface="Wingdings" panose="05000000000000000000" pitchFamily="2" charset="2"/>
              <a:buChar char="l"/>
            </a:pPr>
            <a:r>
              <a:rPr lang="en-US" altLang="zh-CN" sz="2000" dirty="0">
                <a:solidFill>
                  <a:srgbClr val="595959"/>
                </a:solidFill>
                <a:latin typeface="楷体" panose="02010609060101010101" pitchFamily="49" charset="-122"/>
                <a:ea typeface="楷体" panose="02010609060101010101" pitchFamily="49" charset="-122"/>
              </a:rPr>
              <a:t>Seq2Seq LM</a:t>
            </a:r>
            <a:endParaRPr lang="zh-CN" altLang="en-US" sz="1600" dirty="0">
              <a:solidFill>
                <a:srgbClr val="595959"/>
              </a:solidFill>
              <a:latin typeface="微软雅黑" panose="020B0503020204020204" pitchFamily="34" charset="-122"/>
              <a:ea typeface="微软雅黑" panose="020B0503020204020204" pitchFamily="34" charset="-122"/>
            </a:endParaRPr>
          </a:p>
        </p:txBody>
      </p:sp>
      <p:sp>
        <p:nvSpPr>
          <p:cNvPr id="82" name="文本框 81"/>
          <p:cNvSpPr txBox="1"/>
          <p:nvPr/>
        </p:nvSpPr>
        <p:spPr>
          <a:xfrm>
            <a:off x="404173" y="4137432"/>
            <a:ext cx="3283740" cy="461665"/>
          </a:xfrm>
          <a:prstGeom prst="rect">
            <a:avLst/>
          </a:prstGeom>
          <a:noFill/>
        </p:spPr>
        <p:txBody>
          <a:bodyPr wrap="square" rtlCol="0">
            <a:spAutoFit/>
          </a:bodyPr>
          <a:lstStyle/>
          <a:p>
            <a:pPr algn="ctr"/>
            <a:r>
              <a:rPr lang="zh-CN" altLang="en-US" sz="2400" b="1" dirty="0">
                <a:solidFill>
                  <a:schemeClr val="tx1">
                    <a:lumMod val="85000"/>
                    <a:lumOff val="15000"/>
                  </a:schemeClr>
                </a:solidFill>
                <a:latin typeface="宋体" pitchFamily="2" charset="-122"/>
                <a:ea typeface="宋体" pitchFamily="2" charset="-122"/>
              </a:rPr>
              <a:t>预训练技术</a:t>
            </a:r>
            <a:endParaRPr lang="zh-CN" altLang="en-US" sz="2400" b="1" dirty="0">
              <a:solidFill>
                <a:schemeClr val="tx1">
                  <a:lumMod val="85000"/>
                  <a:lumOff val="15000"/>
                </a:schemeClr>
              </a:solidFill>
              <a:latin typeface="宋体" pitchFamily="2" charset="-122"/>
              <a:ea typeface="宋体" pitchFamily="2" charset="-122"/>
            </a:endParaRPr>
          </a:p>
        </p:txBody>
      </p:sp>
      <p:sp>
        <p:nvSpPr>
          <p:cNvPr id="84" name="文本框 83"/>
          <p:cNvSpPr txBox="1"/>
          <p:nvPr/>
        </p:nvSpPr>
        <p:spPr>
          <a:xfrm>
            <a:off x="4425004" y="4137432"/>
            <a:ext cx="3283740" cy="461665"/>
          </a:xfrm>
          <a:prstGeom prst="rect">
            <a:avLst/>
          </a:prstGeom>
          <a:noFill/>
        </p:spPr>
        <p:txBody>
          <a:bodyPr wrap="square" rtlCol="0">
            <a:spAutoFit/>
          </a:bodyPr>
          <a:lstStyle/>
          <a:p>
            <a:pPr algn="ctr"/>
            <a:r>
              <a:rPr lang="zh-CN" altLang="en-US" sz="2400" b="1" dirty="0">
                <a:solidFill>
                  <a:schemeClr val="tx1">
                    <a:lumMod val="85000"/>
                    <a:lumOff val="15000"/>
                  </a:schemeClr>
                </a:solidFill>
                <a:latin typeface="宋体" pitchFamily="2" charset="-122"/>
                <a:ea typeface="宋体" pitchFamily="2" charset="-122"/>
              </a:rPr>
              <a:t>人类对齐技术</a:t>
            </a:r>
            <a:endParaRPr lang="zh-CN" altLang="en-US" sz="2400" b="1" dirty="0">
              <a:solidFill>
                <a:schemeClr val="tx1">
                  <a:lumMod val="85000"/>
                  <a:lumOff val="15000"/>
                </a:schemeClr>
              </a:solidFill>
              <a:latin typeface="宋体" pitchFamily="2" charset="-122"/>
              <a:ea typeface="宋体" pitchFamily="2" charset="-122"/>
            </a:endParaRPr>
          </a:p>
        </p:txBody>
      </p:sp>
      <p:sp>
        <p:nvSpPr>
          <p:cNvPr id="86" name="文本框 85"/>
          <p:cNvSpPr txBox="1"/>
          <p:nvPr/>
        </p:nvSpPr>
        <p:spPr>
          <a:xfrm>
            <a:off x="8343272" y="4108856"/>
            <a:ext cx="3283740" cy="461665"/>
          </a:xfrm>
          <a:prstGeom prst="rect">
            <a:avLst/>
          </a:prstGeom>
          <a:noFill/>
        </p:spPr>
        <p:txBody>
          <a:bodyPr wrap="square" rtlCol="0">
            <a:spAutoFit/>
          </a:bodyPr>
          <a:lstStyle/>
          <a:p>
            <a:pPr algn="ctr"/>
            <a:r>
              <a:rPr lang="zh-CN" altLang="en-US" sz="2400" b="1" dirty="0">
                <a:solidFill>
                  <a:schemeClr val="tx1">
                    <a:lumMod val="85000"/>
                    <a:lumOff val="15000"/>
                  </a:schemeClr>
                </a:solidFill>
                <a:latin typeface="宋体" pitchFamily="2" charset="-122"/>
                <a:ea typeface="宋体" pitchFamily="2" charset="-122"/>
              </a:rPr>
              <a:t>大语言模型强化推理</a:t>
            </a:r>
            <a:endParaRPr lang="zh-CN" altLang="en-US" sz="2400" b="1" dirty="0">
              <a:solidFill>
                <a:schemeClr val="tx1">
                  <a:lumMod val="85000"/>
                  <a:lumOff val="15000"/>
                </a:schemeClr>
              </a:solidFill>
              <a:latin typeface="宋体" pitchFamily="2" charset="-122"/>
              <a:ea typeface="宋体" pitchFamily="2" charset="-122"/>
            </a:endParaRPr>
          </a:p>
        </p:txBody>
      </p:sp>
      <p:sp>
        <p:nvSpPr>
          <p:cNvPr id="88" name="文本框 87"/>
          <p:cNvSpPr txBox="1"/>
          <p:nvPr/>
        </p:nvSpPr>
        <p:spPr>
          <a:xfrm>
            <a:off x="6920862" y="1691878"/>
            <a:ext cx="2689173" cy="461665"/>
          </a:xfrm>
          <a:prstGeom prst="rect">
            <a:avLst/>
          </a:prstGeom>
          <a:noFill/>
        </p:spPr>
        <p:txBody>
          <a:bodyPr wrap="square" rtlCol="0">
            <a:spAutoFit/>
          </a:bodyPr>
          <a:lstStyle/>
          <a:p>
            <a:pPr algn="ctr"/>
            <a:r>
              <a:rPr lang="zh-CN" altLang="en-US" sz="2400" b="1" dirty="0">
                <a:solidFill>
                  <a:schemeClr val="tx1">
                    <a:lumMod val="85000"/>
                    <a:lumOff val="15000"/>
                  </a:schemeClr>
                </a:solidFill>
                <a:latin typeface="宋体" pitchFamily="2" charset="-122"/>
                <a:ea typeface="宋体" pitchFamily="2" charset="-122"/>
              </a:rPr>
              <a:t>工具使用与智能体</a:t>
            </a:r>
            <a:endParaRPr lang="zh-CN" altLang="en-US" sz="2400" b="1" dirty="0">
              <a:solidFill>
                <a:schemeClr val="tx1">
                  <a:lumMod val="85000"/>
                  <a:lumOff val="15000"/>
                </a:schemeClr>
              </a:solidFill>
              <a:latin typeface="宋体" pitchFamily="2" charset="-122"/>
              <a:ea typeface="宋体" pitchFamily="2" charset="-122"/>
            </a:endParaRPr>
          </a:p>
        </p:txBody>
      </p:sp>
      <p:sp>
        <p:nvSpPr>
          <p:cNvPr id="89" name="文本框 88"/>
          <p:cNvSpPr txBox="1"/>
          <p:nvPr/>
        </p:nvSpPr>
        <p:spPr>
          <a:xfrm>
            <a:off x="2856981" y="1492575"/>
            <a:ext cx="2778932" cy="1578317"/>
          </a:xfrm>
          <a:prstGeom prst="rect">
            <a:avLst/>
          </a:prstGeom>
          <a:noFill/>
        </p:spPr>
        <p:txBody>
          <a:bodyPr wrap="square" rtlCol="0">
            <a:spAutoFit/>
          </a:bodyPr>
          <a:lstStyle/>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构建数据集</a:t>
            </a:r>
            <a:endParaRPr lang="en-US" altLang="zh-CN" sz="2000" dirty="0">
              <a:solidFill>
                <a:srgbClr val="595959"/>
              </a:solidFill>
              <a:latin typeface="楷体" panose="02010609060101010101" pitchFamily="49" charset="-122"/>
              <a:ea typeface="楷体" panose="02010609060101010101" pitchFamily="49" charset="-122"/>
            </a:endParaRPr>
          </a:p>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微调过程</a:t>
            </a:r>
            <a:endParaRPr lang="en-US" altLang="zh-CN" sz="2000" dirty="0">
              <a:solidFill>
                <a:srgbClr val="595959"/>
              </a:solidFill>
              <a:latin typeface="楷体" panose="02010609060101010101" pitchFamily="49" charset="-122"/>
              <a:ea typeface="楷体" panose="02010609060101010101" pitchFamily="49" charset="-122"/>
            </a:endParaRPr>
          </a:p>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任务描述的多样性</a:t>
            </a:r>
            <a:endParaRPr lang="en-US" altLang="zh-CN" sz="2000" dirty="0">
              <a:solidFill>
                <a:srgbClr val="595959"/>
              </a:solidFill>
              <a:latin typeface="楷体" panose="02010609060101010101" pitchFamily="49" charset="-122"/>
              <a:ea typeface="楷体" panose="02010609060101010101" pitchFamily="49" charset="-122"/>
            </a:endParaRPr>
          </a:p>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指令微调的技术细节</a:t>
            </a:r>
            <a:endParaRPr lang="zh-CN" altLang="en-US" sz="2000" dirty="0">
              <a:solidFill>
                <a:srgbClr val="595959"/>
              </a:solidFill>
              <a:latin typeface="楷体" panose="02010609060101010101" pitchFamily="49" charset="-122"/>
              <a:ea typeface="楷体" panose="02010609060101010101" pitchFamily="49" charset="-122"/>
            </a:endParaRPr>
          </a:p>
        </p:txBody>
      </p:sp>
      <p:sp>
        <p:nvSpPr>
          <p:cNvPr id="90" name="文本框 89"/>
          <p:cNvSpPr txBox="1"/>
          <p:nvPr/>
        </p:nvSpPr>
        <p:spPr>
          <a:xfrm>
            <a:off x="2935932" y="1077092"/>
            <a:ext cx="2170179" cy="461665"/>
          </a:xfrm>
          <a:prstGeom prst="rect">
            <a:avLst/>
          </a:prstGeom>
          <a:noFill/>
        </p:spPr>
        <p:txBody>
          <a:bodyPr wrap="square" rtlCol="0">
            <a:spAutoFit/>
          </a:bodyPr>
          <a:lstStyle/>
          <a:p>
            <a:pPr algn="ctr"/>
            <a:r>
              <a:rPr lang="zh-CN" altLang="en-US" sz="2400" b="1" dirty="0">
                <a:solidFill>
                  <a:schemeClr val="tx1">
                    <a:lumMod val="85000"/>
                    <a:lumOff val="15000"/>
                  </a:schemeClr>
                </a:solidFill>
                <a:latin typeface="宋体" pitchFamily="2" charset="-122"/>
                <a:ea typeface="宋体" pitchFamily="2" charset="-122"/>
              </a:rPr>
              <a:t>指令微调技术</a:t>
            </a:r>
            <a:endParaRPr lang="zh-CN" altLang="en-US" sz="2400" b="1" dirty="0">
              <a:solidFill>
                <a:schemeClr val="tx1">
                  <a:lumMod val="85000"/>
                  <a:lumOff val="15000"/>
                </a:schemeClr>
              </a:solidFill>
              <a:latin typeface="宋体" pitchFamily="2" charset="-122"/>
              <a:ea typeface="宋体" pitchFamily="2" charset="-122"/>
            </a:endParaRPr>
          </a:p>
        </p:txBody>
      </p: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3" name="矩形 2"/>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4"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7"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6"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8" name="Picture 2" descr="南京农业大学招生网_2022年南京农业大学艺术类招生简章_南京农业大学专业成绩查询-美术高考网www.mshao.com"/>
          <p:cNvPicPr>
            <a:picLocks noChangeAspect="1" noChangeArrowheads="1"/>
          </p:cNvPicPr>
          <p:nvPr/>
        </p:nvPicPr>
        <p:blipFill>
          <a:blip r:embed="rId2">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20"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1"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5106111" y="4643512"/>
            <a:ext cx="1599171" cy="808876"/>
          </a:xfrm>
          <a:prstGeom prst="rect">
            <a:avLst/>
          </a:prstGeom>
          <a:noFill/>
        </p:spPr>
        <p:txBody>
          <a:bodyPr wrap="square" rtlCol="0">
            <a:spAutoFit/>
          </a:bodyPr>
          <a:lstStyle/>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奖励模型</a:t>
            </a:r>
            <a:endParaRPr lang="en-US" altLang="zh-CN" sz="2000" dirty="0">
              <a:solidFill>
                <a:srgbClr val="595959"/>
              </a:solidFill>
              <a:latin typeface="楷体" panose="02010609060101010101" pitchFamily="49" charset="-122"/>
              <a:ea typeface="楷体" panose="02010609060101010101" pitchFamily="49" charset="-122"/>
            </a:endParaRPr>
          </a:p>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强化学习</a:t>
            </a:r>
            <a:endParaRPr lang="en-US" altLang="zh-CN" sz="2000" dirty="0">
              <a:solidFill>
                <a:srgbClr val="595959"/>
              </a:solidFill>
              <a:latin typeface="楷体" panose="02010609060101010101" pitchFamily="49" charset="-122"/>
              <a:ea typeface="楷体" panose="02010609060101010101" pitchFamily="49" charset="-122"/>
            </a:endParaRPr>
          </a:p>
        </p:txBody>
      </p:sp>
      <p:sp>
        <p:nvSpPr>
          <p:cNvPr id="23" name="文本框 22"/>
          <p:cNvSpPr txBox="1"/>
          <p:nvPr/>
        </p:nvSpPr>
        <p:spPr>
          <a:xfrm>
            <a:off x="7217480" y="2106490"/>
            <a:ext cx="2778932" cy="808876"/>
          </a:xfrm>
          <a:prstGeom prst="rect">
            <a:avLst/>
          </a:prstGeom>
          <a:noFill/>
        </p:spPr>
        <p:txBody>
          <a:bodyPr wrap="square" rtlCol="0">
            <a:spAutoFit/>
          </a:bodyPr>
          <a:lstStyle/>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工具使用</a:t>
            </a:r>
            <a:endParaRPr lang="en-US" altLang="zh-CN" sz="2000" dirty="0">
              <a:solidFill>
                <a:srgbClr val="595959"/>
              </a:solidFill>
              <a:latin typeface="楷体" panose="02010609060101010101" pitchFamily="49" charset="-122"/>
              <a:ea typeface="楷体" panose="02010609060101010101" pitchFamily="49" charset="-122"/>
            </a:endParaRPr>
          </a:p>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智能体</a:t>
            </a:r>
            <a:endParaRPr lang="en-US" altLang="zh-CN" sz="2000" dirty="0">
              <a:solidFill>
                <a:srgbClr val="595959"/>
              </a:solidFill>
              <a:latin typeface="楷体" panose="02010609060101010101" pitchFamily="49" charset="-122"/>
              <a:ea typeface="楷体" panose="02010609060101010101" pitchFamily="49" charset="-122"/>
            </a:endParaRPr>
          </a:p>
        </p:txBody>
      </p:sp>
      <p:sp>
        <p:nvSpPr>
          <p:cNvPr id="24" name="文本框 23"/>
          <p:cNvSpPr txBox="1"/>
          <p:nvPr/>
        </p:nvSpPr>
        <p:spPr>
          <a:xfrm>
            <a:off x="8388422" y="4572072"/>
            <a:ext cx="3455905" cy="1963038"/>
          </a:xfrm>
          <a:prstGeom prst="rect">
            <a:avLst/>
          </a:prstGeom>
          <a:noFill/>
        </p:spPr>
        <p:txBody>
          <a:bodyPr wrap="square" rtlCol="0">
            <a:spAutoFit/>
          </a:bodyPr>
          <a:lstStyle/>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知识图谱与推理结合</a:t>
            </a:r>
            <a:endParaRPr lang="en-US" altLang="zh-CN" sz="2000" dirty="0">
              <a:solidFill>
                <a:srgbClr val="595959"/>
              </a:solidFill>
              <a:latin typeface="楷体" panose="02010609060101010101" pitchFamily="49" charset="-122"/>
              <a:ea typeface="楷体" panose="02010609060101010101" pitchFamily="49" charset="-122"/>
            </a:endParaRPr>
          </a:p>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推理训练方法</a:t>
            </a:r>
            <a:endParaRPr lang="en-US" altLang="zh-CN" sz="2000" dirty="0">
              <a:solidFill>
                <a:srgbClr val="595959"/>
              </a:solidFill>
              <a:latin typeface="楷体" panose="02010609060101010101" pitchFamily="49" charset="-122"/>
              <a:ea typeface="楷体" panose="02010609060101010101" pitchFamily="49" charset="-122"/>
            </a:endParaRPr>
          </a:p>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跨模态推理</a:t>
            </a:r>
            <a:endParaRPr lang="en-US" altLang="zh-CN" sz="2000" dirty="0">
              <a:solidFill>
                <a:srgbClr val="595959"/>
              </a:solidFill>
              <a:latin typeface="楷体" panose="02010609060101010101" pitchFamily="49" charset="-122"/>
              <a:ea typeface="楷体" panose="02010609060101010101" pitchFamily="49" charset="-122"/>
            </a:endParaRPr>
          </a:p>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推理与上下文理解</a:t>
            </a:r>
            <a:endParaRPr lang="en-US" altLang="zh-CN" sz="2000" dirty="0">
              <a:solidFill>
                <a:srgbClr val="595959"/>
              </a:solidFill>
              <a:latin typeface="楷体" panose="02010609060101010101" pitchFamily="49" charset="-122"/>
              <a:ea typeface="楷体" panose="02010609060101010101" pitchFamily="49" charset="-122"/>
            </a:endParaRPr>
          </a:p>
          <a:p>
            <a:pPr marL="285750" indent="-285750">
              <a:lnSpc>
                <a:spcPct val="125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信息智能化的应用</a:t>
            </a:r>
            <a:endParaRPr lang="en-US" altLang="zh-CN" sz="2000" dirty="0">
              <a:solidFill>
                <a:srgbClr val="595959"/>
              </a:solidFill>
              <a:latin typeface="楷体" panose="02010609060101010101" pitchFamily="49" charset="-122"/>
              <a:ea typeface="楷体" panose="02010609060101010101"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3" name="矩形 2"/>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4"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1"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2"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nvSpPr>
        <p:spPr>
          <a:xfrm>
            <a:off x="1000010" y="2519526"/>
            <a:ext cx="2350632" cy="2273127"/>
          </a:xfrm>
          <a:prstGeom prst="ellipse">
            <a:avLst/>
          </a:prstGeom>
          <a:solidFill>
            <a:schemeClr val="bg1">
              <a:lumMod val="8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sp>
        <p:nvSpPr>
          <p:cNvPr id="14" name="椭圆 13"/>
          <p:cNvSpPr>
            <a:spLocks noChangeAspect="1"/>
          </p:cNvSpPr>
          <p:nvPr/>
        </p:nvSpPr>
        <p:spPr>
          <a:xfrm>
            <a:off x="1310334" y="2743237"/>
            <a:ext cx="1782447" cy="1832887"/>
          </a:xfrm>
          <a:prstGeom prst="ellipse">
            <a:avLst/>
          </a:prstGeom>
          <a:solidFill>
            <a:schemeClr val="bg1">
              <a:lumMod val="7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sp>
        <p:nvSpPr>
          <p:cNvPr id="15" name="椭圆 14"/>
          <p:cNvSpPr>
            <a:spLocks noChangeAspect="1"/>
          </p:cNvSpPr>
          <p:nvPr/>
        </p:nvSpPr>
        <p:spPr>
          <a:xfrm>
            <a:off x="1542036" y="2966950"/>
            <a:ext cx="1292889" cy="1243478"/>
          </a:xfrm>
          <a:prstGeom prst="ellipse">
            <a:avLst/>
          </a:prstGeom>
          <a:solidFill>
            <a:schemeClr val="bg1">
              <a:lumMod val="6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sp>
        <p:nvSpPr>
          <p:cNvPr id="16" name="椭圆 15"/>
          <p:cNvSpPr>
            <a:spLocks noChangeAspect="1"/>
          </p:cNvSpPr>
          <p:nvPr/>
        </p:nvSpPr>
        <p:spPr>
          <a:xfrm>
            <a:off x="1779634" y="3190660"/>
            <a:ext cx="797429" cy="797429"/>
          </a:xfrm>
          <a:prstGeom prst="ellipse">
            <a:avLst/>
          </a:prstGeom>
          <a:solidFill>
            <a:schemeClr val="bg1">
              <a:lumMod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cxnSp>
        <p:nvCxnSpPr>
          <p:cNvPr id="17" name="直线连接符 27"/>
          <p:cNvCxnSpPr/>
          <p:nvPr/>
        </p:nvCxnSpPr>
        <p:spPr>
          <a:xfrm>
            <a:off x="3374949" y="1729572"/>
            <a:ext cx="699558" cy="0"/>
          </a:xfrm>
          <a:prstGeom prst="line">
            <a:avLst/>
          </a:prstGeom>
          <a:ln w="12700" cmpd="sng">
            <a:solidFill>
              <a:schemeClr val="tx1">
                <a:lumMod val="65000"/>
                <a:lumOff val="35000"/>
              </a:schemeClr>
            </a:solidFill>
            <a:prstDash val="dot"/>
          </a:ln>
          <a:effectLst/>
        </p:spPr>
        <p:style>
          <a:lnRef idx="2">
            <a:schemeClr val="accent1"/>
          </a:lnRef>
          <a:fillRef idx="0">
            <a:schemeClr val="accent1"/>
          </a:fillRef>
          <a:effectRef idx="1">
            <a:schemeClr val="accent1"/>
          </a:effectRef>
          <a:fontRef idx="minor">
            <a:schemeClr val="tx1"/>
          </a:fontRef>
        </p:style>
      </p:cxnSp>
      <p:cxnSp>
        <p:nvCxnSpPr>
          <p:cNvPr id="18" name="直线连接符 28"/>
          <p:cNvCxnSpPr/>
          <p:nvPr/>
        </p:nvCxnSpPr>
        <p:spPr>
          <a:xfrm>
            <a:off x="3410314" y="3319247"/>
            <a:ext cx="699558" cy="0"/>
          </a:xfrm>
          <a:prstGeom prst="line">
            <a:avLst/>
          </a:prstGeom>
          <a:ln w="12700" cmpd="sng">
            <a:solidFill>
              <a:schemeClr val="tx1">
                <a:lumMod val="65000"/>
                <a:lumOff val="35000"/>
              </a:schemeClr>
            </a:solidFill>
            <a:prstDash val="dot"/>
          </a:ln>
          <a:effectLst/>
        </p:spPr>
        <p:style>
          <a:lnRef idx="2">
            <a:schemeClr val="accent1"/>
          </a:lnRef>
          <a:fillRef idx="0">
            <a:schemeClr val="accent1"/>
          </a:fillRef>
          <a:effectRef idx="1">
            <a:schemeClr val="accent1"/>
          </a:effectRef>
          <a:fontRef idx="minor">
            <a:schemeClr val="tx1"/>
          </a:fontRef>
        </p:style>
      </p:cxnSp>
      <p:cxnSp>
        <p:nvCxnSpPr>
          <p:cNvPr id="19" name="直线连接符 30"/>
          <p:cNvCxnSpPr/>
          <p:nvPr/>
        </p:nvCxnSpPr>
        <p:spPr>
          <a:xfrm>
            <a:off x="3485669" y="5024067"/>
            <a:ext cx="478117" cy="0"/>
          </a:xfrm>
          <a:prstGeom prst="line">
            <a:avLst/>
          </a:prstGeom>
          <a:ln w="12700" cmpd="sng">
            <a:solidFill>
              <a:schemeClr val="tx1">
                <a:lumMod val="65000"/>
                <a:lumOff val="35000"/>
              </a:schemeClr>
            </a:solidFill>
            <a:prstDash val="dot"/>
          </a:ln>
          <a:effectLst/>
        </p:spPr>
        <p:style>
          <a:lnRef idx="2">
            <a:schemeClr val="accent1"/>
          </a:lnRef>
          <a:fillRef idx="0">
            <a:schemeClr val="accent1"/>
          </a:fillRef>
          <a:effectRef idx="1">
            <a:schemeClr val="accent1"/>
          </a:effectRef>
          <a:fontRef idx="minor">
            <a:schemeClr val="tx1"/>
          </a:fontRef>
        </p:style>
      </p:cxnSp>
      <p:sp>
        <p:nvSpPr>
          <p:cNvPr id="20" name="文本框 34"/>
          <p:cNvSpPr>
            <a:spLocks noChangeArrowheads="1"/>
          </p:cNvSpPr>
          <p:nvPr/>
        </p:nvSpPr>
        <p:spPr bwMode="auto">
          <a:xfrm>
            <a:off x="4270953" y="1174861"/>
            <a:ext cx="7495295" cy="132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nSpc>
                <a:spcPct val="150000"/>
              </a:lnSpc>
            </a:pPr>
            <a:r>
              <a:rPr lang="en-US" altLang="zh-CN" sz="2000" b="1" dirty="0">
                <a:solidFill>
                  <a:schemeClr val="tx1">
                    <a:lumMod val="85000"/>
                    <a:lumOff val="15000"/>
                  </a:schemeClr>
                </a:solidFill>
                <a:latin typeface="宋体" pitchFamily="2" charset="-122"/>
                <a:ea typeface="宋体" pitchFamily="2" charset="-122"/>
              </a:rPr>
              <a:t>01.</a:t>
            </a:r>
            <a:r>
              <a:rPr lang="zh-CN" altLang="en-US" sz="2000" b="1" dirty="0">
                <a:solidFill>
                  <a:schemeClr val="tx1">
                    <a:lumMod val="85000"/>
                    <a:lumOff val="15000"/>
                  </a:schemeClr>
                </a:solidFill>
                <a:latin typeface="宋体" pitchFamily="2" charset="-122"/>
                <a:ea typeface="宋体" pitchFamily="2" charset="-122"/>
              </a:rPr>
              <a:t>自回归模型</a:t>
            </a:r>
            <a:endParaRPr lang="en-US" altLang="zh-CN" sz="2000" b="1" dirty="0">
              <a:solidFill>
                <a:schemeClr val="tx1">
                  <a:lumMod val="85000"/>
                  <a:lumOff val="15000"/>
                </a:schemeClr>
              </a:solidFill>
              <a:latin typeface="宋体" pitchFamily="2" charset="-122"/>
              <a:ea typeface="宋体" pitchFamily="2" charset="-122"/>
            </a:endParaRPr>
          </a:p>
          <a:p>
            <a:pPr>
              <a:lnSpc>
                <a:spcPct val="150000"/>
              </a:lnSpc>
            </a:pPr>
            <a:r>
              <a:rPr lang="zh-CN" altLang="en-US" dirty="0">
                <a:solidFill>
                  <a:schemeClr val="tx1">
                    <a:lumMod val="65000"/>
                    <a:lumOff val="35000"/>
                  </a:schemeClr>
                </a:solidFill>
                <a:latin typeface="楷体" panose="02010609060101010101" pitchFamily="49" charset="-122"/>
                <a:ea typeface="楷体" panose="02010609060101010101" pitchFamily="49" charset="-122"/>
              </a:rPr>
              <a:t>    自回归语言模型通过根据前面的词语预测下一个词的方式来训练，其目标是使模型能够准确地根据上下文预测出正确的下一个词。</a:t>
            </a:r>
            <a:endParaRPr lang="en-US" altLang="zh-CN" dirty="0">
              <a:solidFill>
                <a:srgbClr val="2F2637"/>
              </a:solidFill>
              <a:latin typeface="楷体" panose="02010609060101010101" pitchFamily="49" charset="-122"/>
              <a:ea typeface="楷体" panose="02010609060101010101" pitchFamily="49" charset="-122"/>
              <a:sym typeface="华文宋体" panose="02010600040101010101" pitchFamily="2" charset="-122"/>
            </a:endParaRPr>
          </a:p>
        </p:txBody>
      </p:sp>
      <p:sp>
        <p:nvSpPr>
          <p:cNvPr id="21" name="文本框 34"/>
          <p:cNvSpPr>
            <a:spLocks noChangeArrowheads="1"/>
          </p:cNvSpPr>
          <p:nvPr/>
        </p:nvSpPr>
        <p:spPr bwMode="auto">
          <a:xfrm>
            <a:off x="4270953" y="2828107"/>
            <a:ext cx="7495294" cy="1735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nSpc>
                <a:spcPct val="150000"/>
              </a:lnSpc>
            </a:pPr>
            <a:r>
              <a:rPr lang="en-US" altLang="zh-CN" sz="2000" b="1" dirty="0">
                <a:solidFill>
                  <a:schemeClr val="tx1">
                    <a:lumMod val="85000"/>
                    <a:lumOff val="15000"/>
                  </a:schemeClr>
                </a:solidFill>
                <a:latin typeface="宋体" pitchFamily="2" charset="-122"/>
                <a:ea typeface="宋体" pitchFamily="2" charset="-122"/>
              </a:rPr>
              <a:t>02.</a:t>
            </a:r>
            <a:r>
              <a:rPr lang="zh-CN" altLang="en-US" sz="2000" b="1" dirty="0">
                <a:solidFill>
                  <a:schemeClr val="tx1">
                    <a:lumMod val="85000"/>
                    <a:lumOff val="15000"/>
                  </a:schemeClr>
                </a:solidFill>
                <a:latin typeface="宋体" pitchFamily="2" charset="-122"/>
                <a:ea typeface="宋体" pitchFamily="2" charset="-122"/>
              </a:rPr>
              <a:t>自编码模型</a:t>
            </a:r>
            <a:endParaRPr lang="en-US" altLang="zh-CN" sz="2000" b="1" dirty="0">
              <a:solidFill>
                <a:schemeClr val="tx1">
                  <a:lumMod val="85000"/>
                  <a:lumOff val="15000"/>
                </a:schemeClr>
              </a:solidFill>
              <a:latin typeface="宋体" pitchFamily="2" charset="-122"/>
              <a:ea typeface="宋体" pitchFamily="2" charset="-122"/>
            </a:endParaRPr>
          </a:p>
          <a:p>
            <a:pPr>
              <a:lnSpc>
                <a:spcPct val="150000"/>
              </a:lnSpc>
            </a:pPr>
            <a:r>
              <a:rPr lang="zh-CN" altLang="en-US" dirty="0">
                <a:solidFill>
                  <a:schemeClr val="tx1">
                    <a:lumMod val="65000"/>
                    <a:lumOff val="35000"/>
                  </a:schemeClr>
                </a:solidFill>
                <a:latin typeface="楷体" panose="02010609060101010101" pitchFamily="49" charset="-122"/>
                <a:ea typeface="楷体" panose="02010609060101010101" pitchFamily="49" charset="-122"/>
                <a:sym typeface="+mn-ea"/>
              </a:rPr>
              <a:t>    采用填空任务的形式进行预训练，通过随机遮掩输入序列中的一些单词，要求模型根据上下文预测这些被遮掩的词。例如</a:t>
            </a:r>
            <a:r>
              <a:rPr lang="en-US" altLang="zh-CN" dirty="0">
                <a:solidFill>
                  <a:schemeClr val="tx1">
                    <a:lumMod val="65000"/>
                    <a:lumOff val="35000"/>
                  </a:schemeClr>
                </a:solidFill>
                <a:latin typeface="楷体" panose="02010609060101010101" pitchFamily="49" charset="-122"/>
                <a:ea typeface="楷体" panose="02010609060101010101" pitchFamily="49" charset="-122"/>
                <a:sym typeface="+mn-ea"/>
              </a:rPr>
              <a:t>BERT</a:t>
            </a:r>
            <a:r>
              <a:rPr lang="zh-CN" altLang="en-US" dirty="0">
                <a:solidFill>
                  <a:schemeClr val="tx1">
                    <a:lumMod val="65000"/>
                    <a:lumOff val="35000"/>
                  </a:schemeClr>
                </a:solidFill>
                <a:latin typeface="楷体" panose="02010609060101010101" pitchFamily="49" charset="-122"/>
                <a:ea typeface="楷体" panose="02010609060101010101" pitchFamily="49" charset="-122"/>
                <a:sym typeface="+mn-ea"/>
              </a:rPr>
              <a:t>模型通过</a:t>
            </a:r>
            <a:r>
              <a:rPr lang="en-US" altLang="zh-CN" dirty="0">
                <a:solidFill>
                  <a:schemeClr val="tx1">
                    <a:lumMod val="65000"/>
                    <a:lumOff val="35000"/>
                  </a:schemeClr>
                </a:solidFill>
                <a:latin typeface="楷体" panose="02010609060101010101" pitchFamily="49" charset="-122"/>
                <a:ea typeface="楷体" panose="02010609060101010101" pitchFamily="49" charset="-122"/>
                <a:sym typeface="+mn-ea"/>
              </a:rPr>
              <a:t>MLM</a:t>
            </a:r>
            <a:r>
              <a:rPr lang="zh-CN" altLang="en-US" dirty="0">
                <a:solidFill>
                  <a:schemeClr val="tx1">
                    <a:lumMod val="65000"/>
                    <a:lumOff val="35000"/>
                  </a:schemeClr>
                </a:solidFill>
                <a:latin typeface="楷体" panose="02010609060101010101" pitchFamily="49" charset="-122"/>
                <a:ea typeface="楷体" panose="02010609060101010101" pitchFamily="49" charset="-122"/>
                <a:sym typeface="+mn-ea"/>
              </a:rPr>
              <a:t>和</a:t>
            </a:r>
            <a:r>
              <a:rPr lang="en-US" altLang="zh-CN" dirty="0">
                <a:solidFill>
                  <a:schemeClr val="tx1">
                    <a:lumMod val="65000"/>
                    <a:lumOff val="35000"/>
                  </a:schemeClr>
                </a:solidFill>
                <a:latin typeface="楷体" panose="02010609060101010101" pitchFamily="49" charset="-122"/>
                <a:ea typeface="楷体" panose="02010609060101010101" pitchFamily="49" charset="-122"/>
                <a:sym typeface="+mn-ea"/>
              </a:rPr>
              <a:t>NSP</a:t>
            </a:r>
            <a:r>
              <a:rPr lang="zh-CN" altLang="en-US" dirty="0">
                <a:solidFill>
                  <a:schemeClr val="tx1">
                    <a:lumMod val="65000"/>
                    <a:lumOff val="35000"/>
                  </a:schemeClr>
                </a:solidFill>
                <a:latin typeface="楷体" panose="02010609060101010101" pitchFamily="49" charset="-122"/>
                <a:ea typeface="楷体" panose="02010609060101010101" pitchFamily="49" charset="-122"/>
                <a:sym typeface="+mn-ea"/>
              </a:rPr>
              <a:t>两个任务实现预训练任务。</a:t>
            </a:r>
            <a:endParaRPr lang="zh-CN" altLang="en-US" dirty="0">
              <a:solidFill>
                <a:schemeClr val="tx1">
                  <a:lumMod val="65000"/>
                  <a:lumOff val="35000"/>
                </a:schemeClr>
              </a:solidFill>
              <a:latin typeface="楷体" panose="02010609060101010101" pitchFamily="49" charset="-122"/>
              <a:ea typeface="楷体" panose="02010609060101010101" pitchFamily="49" charset="-122"/>
              <a:sym typeface="+mn-ea"/>
            </a:endParaRPr>
          </a:p>
        </p:txBody>
      </p:sp>
      <p:sp>
        <p:nvSpPr>
          <p:cNvPr id="22" name="文本框 34"/>
          <p:cNvSpPr>
            <a:spLocks noChangeArrowheads="1"/>
          </p:cNvSpPr>
          <p:nvPr/>
        </p:nvSpPr>
        <p:spPr bwMode="auto">
          <a:xfrm>
            <a:off x="4274167" y="4746504"/>
            <a:ext cx="7480017" cy="1320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spAutoFit/>
          </a:bodyPr>
          <a:lstStyle/>
          <a:p>
            <a:pPr>
              <a:lnSpc>
                <a:spcPct val="150000"/>
              </a:lnSpc>
            </a:pPr>
            <a:r>
              <a:rPr lang="en-US" altLang="zh-CN" sz="2000" b="1" dirty="0">
                <a:solidFill>
                  <a:schemeClr val="tx1">
                    <a:lumMod val="85000"/>
                    <a:lumOff val="15000"/>
                  </a:schemeClr>
                </a:solidFill>
                <a:latin typeface="宋体" pitchFamily="2" charset="-122"/>
                <a:ea typeface="宋体" pitchFamily="2" charset="-122"/>
              </a:rPr>
              <a:t>03. Seq2Seq LM</a:t>
            </a:r>
            <a:endParaRPr lang="en-US" altLang="zh-CN" sz="2000" b="1" dirty="0">
              <a:solidFill>
                <a:schemeClr val="tx1">
                  <a:lumMod val="85000"/>
                  <a:lumOff val="15000"/>
                </a:schemeClr>
              </a:solidFill>
              <a:latin typeface="宋体" pitchFamily="2" charset="-122"/>
              <a:ea typeface="宋体" pitchFamily="2" charset="-122"/>
            </a:endParaRPr>
          </a:p>
          <a:p>
            <a:pPr>
              <a:lnSpc>
                <a:spcPct val="150000"/>
              </a:lnSpc>
            </a:pPr>
            <a:r>
              <a:rPr lang="zh-CN" altLang="en-US" dirty="0">
                <a:solidFill>
                  <a:schemeClr val="tx1">
                    <a:lumMod val="65000"/>
                    <a:lumOff val="35000"/>
                  </a:schemeClr>
                </a:solidFill>
                <a:latin typeface="楷体" panose="02010609060101010101" pitchFamily="49" charset="-122"/>
                <a:ea typeface="楷体" panose="02010609060101010101" pitchFamily="49" charset="-122"/>
              </a:rPr>
              <a:t>     编码器处理输入序列并将其压缩为上下文向量，即表示整个输入序列的单个向量。然后解码器从上下文向量生成输出序列。</a:t>
            </a:r>
            <a:endParaRPr lang="en-US" altLang="zh-CN" dirty="0">
              <a:solidFill>
                <a:schemeClr val="tx1">
                  <a:lumMod val="65000"/>
                  <a:lumOff val="35000"/>
                </a:schemeClr>
              </a:solidFill>
              <a:latin typeface="楷体" panose="02010609060101010101" pitchFamily="49" charset="-122"/>
              <a:ea typeface="楷体" panose="02010609060101010101" pitchFamily="49" charset="-122"/>
            </a:endParaRPr>
          </a:p>
        </p:txBody>
      </p:sp>
      <p:sp>
        <p:nvSpPr>
          <p:cNvPr id="23" name="饼形 7"/>
          <p:cNvSpPr>
            <a:spLocks noChangeAspect="1"/>
          </p:cNvSpPr>
          <p:nvPr/>
        </p:nvSpPr>
        <p:spPr>
          <a:xfrm>
            <a:off x="868274" y="2176092"/>
            <a:ext cx="2620148" cy="2849649"/>
          </a:xfrm>
          <a:prstGeom prst="pie">
            <a:avLst>
              <a:gd name="adj1" fmla="val 16891099"/>
              <a:gd name="adj2" fmla="val 18389175"/>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sp>
        <p:nvSpPr>
          <p:cNvPr id="24" name="饼形 8"/>
          <p:cNvSpPr>
            <a:spLocks noChangeAspect="1"/>
          </p:cNvSpPr>
          <p:nvPr/>
        </p:nvSpPr>
        <p:spPr>
          <a:xfrm rot="915091">
            <a:off x="1026241" y="2519526"/>
            <a:ext cx="2350632" cy="2273127"/>
          </a:xfrm>
          <a:prstGeom prst="pie">
            <a:avLst>
              <a:gd name="adj1" fmla="val 18800821"/>
              <a:gd name="adj2" fmla="val 20487076"/>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sp>
        <p:nvSpPr>
          <p:cNvPr id="25" name="饼形 9"/>
          <p:cNvSpPr>
            <a:spLocks noChangeAspect="1"/>
          </p:cNvSpPr>
          <p:nvPr/>
        </p:nvSpPr>
        <p:spPr>
          <a:xfrm rot="1494575">
            <a:off x="1250200" y="2851501"/>
            <a:ext cx="1860664" cy="1832887"/>
          </a:xfrm>
          <a:prstGeom prst="pie">
            <a:avLst>
              <a:gd name="adj1" fmla="val 21060837"/>
              <a:gd name="adj2" fmla="val 1772864"/>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1F1F1F"/>
              </a:solidFill>
            </a:endParaRPr>
          </a:p>
        </p:txBody>
      </p:sp>
      <p:cxnSp>
        <p:nvCxnSpPr>
          <p:cNvPr id="26" name="直接连接符 62"/>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TextBox 6"/>
          <p:cNvSpPr txBox="1"/>
          <p:nvPr/>
        </p:nvSpPr>
        <p:spPr>
          <a:xfrm>
            <a:off x="265096" y="1025774"/>
            <a:ext cx="240000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预训练技术</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28" name="直线连接符 27"/>
          <p:cNvCxnSpPr/>
          <p:nvPr/>
        </p:nvCxnSpPr>
        <p:spPr>
          <a:xfrm flipH="1">
            <a:off x="2889406" y="1729572"/>
            <a:ext cx="461236" cy="581564"/>
          </a:xfrm>
          <a:prstGeom prst="line">
            <a:avLst/>
          </a:prstGeom>
          <a:ln w="12700" cmpd="sng">
            <a:solidFill>
              <a:schemeClr val="tx1">
                <a:lumMod val="65000"/>
                <a:lumOff val="35000"/>
              </a:schemeClr>
            </a:solidFill>
            <a:prstDash val="dot"/>
          </a:ln>
          <a:effectLst/>
        </p:spPr>
        <p:style>
          <a:lnRef idx="2">
            <a:schemeClr val="accent1"/>
          </a:lnRef>
          <a:fillRef idx="0">
            <a:schemeClr val="accent1"/>
          </a:fillRef>
          <a:effectRef idx="1">
            <a:schemeClr val="accent1"/>
          </a:effectRef>
          <a:fontRef idx="minor">
            <a:schemeClr val="tx1"/>
          </a:fontRef>
        </p:style>
      </p:cxnSp>
      <p:cxnSp>
        <p:nvCxnSpPr>
          <p:cNvPr id="29" name="直线连接符 30"/>
          <p:cNvCxnSpPr/>
          <p:nvPr/>
        </p:nvCxnSpPr>
        <p:spPr>
          <a:xfrm flipH="1" flipV="1">
            <a:off x="3092781" y="4315973"/>
            <a:ext cx="366793" cy="700390"/>
          </a:xfrm>
          <a:prstGeom prst="line">
            <a:avLst/>
          </a:prstGeom>
          <a:ln w="12700" cmpd="sng">
            <a:solidFill>
              <a:schemeClr val="tx1">
                <a:lumMod val="65000"/>
                <a:lumOff val="35000"/>
              </a:schemeClr>
            </a:solidFill>
            <a:prstDash val="dot"/>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3" name="矩形 2"/>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4"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5"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8"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0" name="TextBox 6"/>
          <p:cNvSpPr txBox="1"/>
          <p:nvPr/>
        </p:nvSpPr>
        <p:spPr>
          <a:xfrm>
            <a:off x="265096" y="1025774"/>
            <a:ext cx="240000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指令微调技术</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 name="矩形 20"/>
          <p:cNvSpPr/>
          <p:nvPr/>
        </p:nvSpPr>
        <p:spPr>
          <a:xfrm>
            <a:off x="2016601" y="2317781"/>
            <a:ext cx="8115876" cy="79200"/>
          </a:xfrm>
          <a:prstGeom prst="rect">
            <a:avLst/>
          </a:prstGeom>
          <a:solidFill>
            <a:srgbClr val="AFBD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Light" panose="020B0502040204020203" pitchFamily="34" charset="-122"/>
              <a:ea typeface="微软雅黑 Light" panose="020B0502040204020203" pitchFamily="34" charset="-122"/>
              <a:cs typeface="+mn-cs"/>
            </a:endParaRPr>
          </a:p>
        </p:txBody>
      </p:sp>
      <p:grpSp>
        <p:nvGrpSpPr>
          <p:cNvPr id="22" name="组合 21"/>
          <p:cNvGrpSpPr/>
          <p:nvPr/>
        </p:nvGrpSpPr>
        <p:grpSpPr>
          <a:xfrm>
            <a:off x="1472406" y="1932664"/>
            <a:ext cx="9247188" cy="792666"/>
            <a:chOff x="2434" y="4332"/>
            <a:chExt cx="14010" cy="1191"/>
          </a:xfrm>
          <a:solidFill>
            <a:srgbClr val="557199"/>
          </a:solidFill>
        </p:grpSpPr>
        <p:sp>
          <p:nvSpPr>
            <p:cNvPr id="23" name="椭圆 22"/>
            <p:cNvSpPr/>
            <p:nvPr/>
          </p:nvSpPr>
          <p:spPr>
            <a:xfrm>
              <a:off x="2434" y="4332"/>
              <a:ext cx="1191"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defRPr/>
              </a:pPr>
              <a:r>
                <a:rPr lang="en-US" altLang="zh-CN" sz="1600" b="1" dirty="0">
                  <a:solidFill>
                    <a:schemeClr val="bg1"/>
                  </a:solidFill>
                  <a:latin typeface="微软雅黑" panose="020B0503020204020204" pitchFamily="34" charset="-122"/>
                  <a:ea typeface="微软雅黑" panose="020B0503020204020204" pitchFamily="34" charset="-122"/>
                </a:rPr>
                <a:t>1</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4" name="椭圆 23"/>
            <p:cNvSpPr/>
            <p:nvPr/>
          </p:nvSpPr>
          <p:spPr>
            <a:xfrm>
              <a:off x="6600"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2</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5" name="椭圆 24"/>
            <p:cNvSpPr/>
            <p:nvPr/>
          </p:nvSpPr>
          <p:spPr>
            <a:xfrm>
              <a:off x="15254"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4</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6" name="椭圆 25"/>
            <p:cNvSpPr/>
            <p:nvPr/>
          </p:nvSpPr>
          <p:spPr>
            <a:xfrm>
              <a:off x="11033"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3</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sp>
        <p:nvSpPr>
          <p:cNvPr id="31" name="文本框 22"/>
          <p:cNvSpPr txBox="1"/>
          <p:nvPr/>
        </p:nvSpPr>
        <p:spPr>
          <a:xfrm flipH="1">
            <a:off x="978622" y="4096687"/>
            <a:ext cx="10279696" cy="2259273"/>
          </a:xfrm>
          <a:prstGeom prst="rect">
            <a:avLst/>
          </a:prstGeom>
          <a:noFill/>
          <a:ln w="9525">
            <a:noFill/>
            <a:miter/>
          </a:ln>
          <a:effectLst>
            <a:outerShdw sx="999" sy="999" algn="ctr" rotWithShape="0">
              <a:srgbClr val="000000"/>
            </a:outerShdw>
          </a:effectLst>
        </p:spPr>
        <p:txBody>
          <a:bodyPr wrap="square" anchor="t">
            <a:spAutoFit/>
          </a:bodyPr>
          <a:lstStyle/>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指令微调是一种有效的大语言模型训练方法，能够让模型理解和遵循人类指令来增强其能力和可控性。利用“指令</a:t>
            </a:r>
            <a:r>
              <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响应”对的数据集训练模型，使其更好地理解和执行自然语言指令。</a:t>
            </a:r>
            <a:endPar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指令微调有助于提升模型的泛化能力和任务迁移能力；使模型能够更好地理解和遵循人类指令，输出更符合人类意图的响应；有助于对齐模型的目标与人类的意图，减少模型产生有害、偏见或不符合人类价值观的输出。</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sp>
        <p:nvSpPr>
          <p:cNvPr id="37" name="文本框 36"/>
          <p:cNvSpPr txBox="1"/>
          <p:nvPr/>
        </p:nvSpPr>
        <p:spPr>
          <a:xfrm flipH="1">
            <a:off x="8810512" y="3378726"/>
            <a:ext cx="2971882" cy="461665"/>
          </a:xfrm>
          <a:prstGeom prst="rect">
            <a:avLst/>
          </a:prstGeom>
          <a:noFill/>
          <a:ln w="9525">
            <a:noFill/>
            <a:miter/>
          </a:ln>
          <a:effectLst>
            <a:outerShdw sx="999" sy="999" algn="ctr" rotWithShape="0">
              <a:srgbClr val="000000"/>
            </a:outerShdw>
          </a:effectLst>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rPr>
              <a:t>指令微调的技术细节</a:t>
            </a:r>
            <a:endPar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endParaRPr>
          </a:p>
        </p:txBody>
      </p:sp>
      <p:grpSp>
        <p:nvGrpSpPr>
          <p:cNvPr id="55" name="组合 54"/>
          <p:cNvGrpSpPr/>
          <p:nvPr/>
        </p:nvGrpSpPr>
        <p:grpSpPr>
          <a:xfrm>
            <a:off x="10149069" y="2459018"/>
            <a:ext cx="355600" cy="902793"/>
            <a:chOff x="3926053" y="3429000"/>
            <a:chExt cx="355600" cy="902793"/>
          </a:xfrm>
        </p:grpSpPr>
        <p:cxnSp>
          <p:nvCxnSpPr>
            <p:cNvPr id="50" name="直接连接符 17"/>
            <p:cNvCxnSpPr>
              <a:endCxn id="51" idx="0"/>
            </p:cNvCxnSpPr>
            <p:nvPr/>
          </p:nvCxnSpPr>
          <p:spPr>
            <a:xfrm>
              <a:off x="4103853" y="3429000"/>
              <a:ext cx="0" cy="547193"/>
            </a:xfrm>
            <a:prstGeom prst="line">
              <a:avLst/>
            </a:prstGeom>
            <a:solidFill>
              <a:srgbClr val="9FACC3"/>
            </a:solidFill>
            <a:ln w="22225">
              <a:solidFill>
                <a:srgbClr val="557199"/>
              </a:solidFill>
            </a:ln>
          </p:spPr>
          <p:style>
            <a:lnRef idx="1">
              <a:schemeClr val="accent1"/>
            </a:lnRef>
            <a:fillRef idx="0">
              <a:schemeClr val="accent1"/>
            </a:fillRef>
            <a:effectRef idx="0">
              <a:schemeClr val="accent1"/>
            </a:effectRef>
            <a:fontRef idx="minor">
              <a:schemeClr val="tx1"/>
            </a:fontRef>
          </p:style>
        </p:cxnSp>
        <p:sp>
          <p:nvSpPr>
            <p:cNvPr id="51" name="菱形 50"/>
            <p:cNvSpPr/>
            <p:nvPr/>
          </p:nvSpPr>
          <p:spPr>
            <a:xfrm>
              <a:off x="3926053" y="3976193"/>
              <a:ext cx="355600" cy="355600"/>
            </a:xfrm>
            <a:prstGeom prst="diamond">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p:cNvGrpSpPr/>
          <p:nvPr/>
        </p:nvGrpSpPr>
        <p:grpSpPr>
          <a:xfrm>
            <a:off x="7363032" y="2464089"/>
            <a:ext cx="355600" cy="902793"/>
            <a:chOff x="3926053" y="3429000"/>
            <a:chExt cx="355600" cy="902793"/>
          </a:xfrm>
        </p:grpSpPr>
        <p:cxnSp>
          <p:nvCxnSpPr>
            <p:cNvPr id="10" name="直接连接符 17"/>
            <p:cNvCxnSpPr>
              <a:endCxn id="11" idx="0"/>
            </p:cNvCxnSpPr>
            <p:nvPr/>
          </p:nvCxnSpPr>
          <p:spPr>
            <a:xfrm>
              <a:off x="4103853" y="3429000"/>
              <a:ext cx="0" cy="547193"/>
            </a:xfrm>
            <a:prstGeom prst="line">
              <a:avLst/>
            </a:prstGeom>
            <a:solidFill>
              <a:srgbClr val="9FACC3"/>
            </a:solidFill>
            <a:ln w="22225">
              <a:solidFill>
                <a:srgbClr val="557199"/>
              </a:solidFill>
            </a:ln>
          </p:spPr>
          <p:style>
            <a:lnRef idx="1">
              <a:schemeClr val="accent1"/>
            </a:lnRef>
            <a:fillRef idx="0">
              <a:schemeClr val="accent1"/>
            </a:fillRef>
            <a:effectRef idx="0">
              <a:schemeClr val="accent1"/>
            </a:effectRef>
            <a:fontRef idx="minor">
              <a:schemeClr val="tx1"/>
            </a:fontRef>
          </p:style>
        </p:cxnSp>
        <p:sp>
          <p:nvSpPr>
            <p:cNvPr id="11" name="菱形 10"/>
            <p:cNvSpPr/>
            <p:nvPr/>
          </p:nvSpPr>
          <p:spPr>
            <a:xfrm>
              <a:off x="3926053" y="3976193"/>
              <a:ext cx="355600" cy="355600"/>
            </a:xfrm>
            <a:prstGeom prst="diamond">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11"/>
          <p:cNvGrpSpPr/>
          <p:nvPr/>
        </p:nvGrpSpPr>
        <p:grpSpPr>
          <a:xfrm>
            <a:off x="4436157" y="2464089"/>
            <a:ext cx="355600" cy="902793"/>
            <a:chOff x="3926053" y="3429000"/>
            <a:chExt cx="355600" cy="902793"/>
          </a:xfrm>
        </p:grpSpPr>
        <p:cxnSp>
          <p:nvCxnSpPr>
            <p:cNvPr id="13" name="直接连接符 17"/>
            <p:cNvCxnSpPr>
              <a:endCxn id="14" idx="0"/>
            </p:cNvCxnSpPr>
            <p:nvPr/>
          </p:nvCxnSpPr>
          <p:spPr>
            <a:xfrm>
              <a:off x="4103853" y="3429000"/>
              <a:ext cx="0" cy="547193"/>
            </a:xfrm>
            <a:prstGeom prst="line">
              <a:avLst/>
            </a:prstGeom>
            <a:solidFill>
              <a:srgbClr val="9FACC3"/>
            </a:solidFill>
            <a:ln w="22225">
              <a:solidFill>
                <a:srgbClr val="557199"/>
              </a:solidFill>
            </a:ln>
          </p:spPr>
          <p:style>
            <a:lnRef idx="1">
              <a:schemeClr val="accent1"/>
            </a:lnRef>
            <a:fillRef idx="0">
              <a:schemeClr val="accent1"/>
            </a:fillRef>
            <a:effectRef idx="0">
              <a:schemeClr val="accent1"/>
            </a:effectRef>
            <a:fontRef idx="minor">
              <a:schemeClr val="tx1"/>
            </a:fontRef>
          </p:style>
        </p:cxnSp>
        <p:sp>
          <p:nvSpPr>
            <p:cNvPr id="14" name="菱形 13"/>
            <p:cNvSpPr/>
            <p:nvPr/>
          </p:nvSpPr>
          <p:spPr>
            <a:xfrm>
              <a:off x="3926053" y="3976193"/>
              <a:ext cx="355600" cy="355600"/>
            </a:xfrm>
            <a:prstGeom prst="diamond">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p:nvGrpSpPr>
        <p:grpSpPr>
          <a:xfrm>
            <a:off x="1687082" y="2464089"/>
            <a:ext cx="355600" cy="902793"/>
            <a:chOff x="3926053" y="3429000"/>
            <a:chExt cx="355600" cy="902793"/>
          </a:xfrm>
        </p:grpSpPr>
        <p:cxnSp>
          <p:nvCxnSpPr>
            <p:cNvPr id="27" name="直接连接符 17"/>
            <p:cNvCxnSpPr>
              <a:endCxn id="28" idx="0"/>
            </p:cNvCxnSpPr>
            <p:nvPr/>
          </p:nvCxnSpPr>
          <p:spPr>
            <a:xfrm>
              <a:off x="4103853" y="3429000"/>
              <a:ext cx="0" cy="547193"/>
            </a:xfrm>
            <a:prstGeom prst="line">
              <a:avLst/>
            </a:prstGeom>
            <a:solidFill>
              <a:srgbClr val="9FACC3"/>
            </a:solidFill>
            <a:ln w="22225">
              <a:solidFill>
                <a:srgbClr val="557199"/>
              </a:solidFill>
            </a:ln>
          </p:spPr>
          <p:style>
            <a:lnRef idx="1">
              <a:schemeClr val="accent1"/>
            </a:lnRef>
            <a:fillRef idx="0">
              <a:schemeClr val="accent1"/>
            </a:fillRef>
            <a:effectRef idx="0">
              <a:schemeClr val="accent1"/>
            </a:effectRef>
            <a:fontRef idx="minor">
              <a:schemeClr val="tx1"/>
            </a:fontRef>
          </p:style>
        </p:cxnSp>
        <p:sp>
          <p:nvSpPr>
            <p:cNvPr id="28" name="菱形 27"/>
            <p:cNvSpPr/>
            <p:nvPr/>
          </p:nvSpPr>
          <p:spPr>
            <a:xfrm>
              <a:off x="3926053" y="3976193"/>
              <a:ext cx="355600" cy="355600"/>
            </a:xfrm>
            <a:prstGeom prst="diamond">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文本框 28"/>
          <p:cNvSpPr txBox="1"/>
          <p:nvPr/>
        </p:nvSpPr>
        <p:spPr>
          <a:xfrm flipH="1">
            <a:off x="6036084" y="3378726"/>
            <a:ext cx="2680278" cy="461665"/>
          </a:xfrm>
          <a:prstGeom prst="rect">
            <a:avLst/>
          </a:prstGeom>
          <a:noFill/>
          <a:ln w="9525">
            <a:noFill/>
            <a:miter/>
          </a:ln>
          <a:effectLst>
            <a:outerShdw sx="999" sy="999" algn="ctr" rotWithShape="0">
              <a:srgbClr val="000000"/>
            </a:outerShdw>
          </a:effectLst>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rPr>
              <a:t>任务描述的多样性</a:t>
            </a:r>
            <a:endPar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endParaRPr>
          </a:p>
        </p:txBody>
      </p:sp>
      <p:sp>
        <p:nvSpPr>
          <p:cNvPr id="30" name="文本框 29"/>
          <p:cNvSpPr txBox="1"/>
          <p:nvPr/>
        </p:nvSpPr>
        <p:spPr>
          <a:xfrm flipH="1">
            <a:off x="945973" y="3383695"/>
            <a:ext cx="1748790" cy="461665"/>
          </a:xfrm>
          <a:prstGeom prst="rect">
            <a:avLst/>
          </a:prstGeom>
          <a:noFill/>
          <a:ln w="9525">
            <a:noFill/>
            <a:miter/>
          </a:ln>
          <a:effectLst>
            <a:outerShdw sx="999" sy="999" algn="ctr" rotWithShape="0">
              <a:srgbClr val="000000"/>
            </a:outerShdw>
          </a:effectLst>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rPr>
              <a:t>构建数据集</a:t>
            </a:r>
            <a:endPar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endParaRPr>
          </a:p>
        </p:txBody>
      </p:sp>
      <p:sp>
        <p:nvSpPr>
          <p:cNvPr id="32" name="文本框 31"/>
          <p:cNvSpPr txBox="1"/>
          <p:nvPr/>
        </p:nvSpPr>
        <p:spPr>
          <a:xfrm flipH="1">
            <a:off x="3682410" y="3378726"/>
            <a:ext cx="1748790" cy="461665"/>
          </a:xfrm>
          <a:prstGeom prst="rect">
            <a:avLst/>
          </a:prstGeom>
          <a:noFill/>
          <a:ln w="9525">
            <a:noFill/>
            <a:miter/>
          </a:ln>
          <a:effectLst>
            <a:outerShdw sx="999" sy="999" algn="ctr" rotWithShape="0">
              <a:srgbClr val="000000"/>
            </a:outerShdw>
          </a:effectLst>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chemeClr val="tx1">
                    <a:lumMod val="85000"/>
                    <a:lumOff val="15000"/>
                  </a:schemeClr>
                </a:solidFill>
                <a:latin typeface="宋体" pitchFamily="2" charset="-122"/>
                <a:ea typeface="宋体" pitchFamily="2" charset="-122"/>
                <a:sym typeface="Arial" panose="020B0604020202090204" pitchFamily="34" charset="0"/>
              </a:rPr>
              <a:t>微调过程</a:t>
            </a:r>
            <a:endPar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3" name="矩形 2"/>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4"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5"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8"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0" name="TextBox 6"/>
          <p:cNvSpPr txBox="1"/>
          <p:nvPr/>
        </p:nvSpPr>
        <p:spPr>
          <a:xfrm>
            <a:off x="265096" y="1025774"/>
            <a:ext cx="240000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指令微调技术</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 name="矩形 20"/>
          <p:cNvSpPr/>
          <p:nvPr/>
        </p:nvSpPr>
        <p:spPr>
          <a:xfrm>
            <a:off x="2016601" y="2317781"/>
            <a:ext cx="8115876" cy="79200"/>
          </a:xfrm>
          <a:prstGeom prst="rect">
            <a:avLst/>
          </a:prstGeom>
          <a:solidFill>
            <a:srgbClr val="AFBD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Light" panose="020B0502040204020203" pitchFamily="34" charset="-122"/>
              <a:ea typeface="微软雅黑 Light" panose="020B0502040204020203" pitchFamily="34" charset="-122"/>
              <a:cs typeface="+mn-cs"/>
            </a:endParaRPr>
          </a:p>
        </p:txBody>
      </p:sp>
      <p:grpSp>
        <p:nvGrpSpPr>
          <p:cNvPr id="22" name="组合 21"/>
          <p:cNvGrpSpPr/>
          <p:nvPr/>
        </p:nvGrpSpPr>
        <p:grpSpPr>
          <a:xfrm>
            <a:off x="1472406" y="1932664"/>
            <a:ext cx="9247188" cy="792666"/>
            <a:chOff x="2434" y="4332"/>
            <a:chExt cx="14010" cy="1191"/>
          </a:xfrm>
          <a:solidFill>
            <a:srgbClr val="557199"/>
          </a:solidFill>
        </p:grpSpPr>
        <p:sp>
          <p:nvSpPr>
            <p:cNvPr id="23" name="椭圆 22"/>
            <p:cNvSpPr/>
            <p:nvPr/>
          </p:nvSpPr>
          <p:spPr>
            <a:xfrm>
              <a:off x="2434" y="4332"/>
              <a:ext cx="1191"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defRPr/>
              </a:pPr>
              <a:r>
                <a:rPr lang="en-US" altLang="zh-CN" sz="1600" b="1" dirty="0">
                  <a:solidFill>
                    <a:schemeClr val="bg1"/>
                  </a:solidFill>
                  <a:latin typeface="微软雅黑" panose="020B0503020204020204" pitchFamily="34" charset="-122"/>
                  <a:ea typeface="微软雅黑" panose="020B0503020204020204" pitchFamily="34" charset="-122"/>
                </a:rPr>
                <a:t>1</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4" name="椭圆 23"/>
            <p:cNvSpPr/>
            <p:nvPr/>
          </p:nvSpPr>
          <p:spPr>
            <a:xfrm>
              <a:off x="6600"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2</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5" name="椭圆 24"/>
            <p:cNvSpPr/>
            <p:nvPr/>
          </p:nvSpPr>
          <p:spPr>
            <a:xfrm>
              <a:off x="15254"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4</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6" name="椭圆 25"/>
            <p:cNvSpPr/>
            <p:nvPr/>
          </p:nvSpPr>
          <p:spPr>
            <a:xfrm>
              <a:off x="11033"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3</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sp>
        <p:nvSpPr>
          <p:cNvPr id="31" name="文本框 22"/>
          <p:cNvSpPr txBox="1"/>
          <p:nvPr/>
        </p:nvSpPr>
        <p:spPr>
          <a:xfrm flipH="1">
            <a:off x="907417" y="4132671"/>
            <a:ext cx="10436858" cy="2259273"/>
          </a:xfrm>
          <a:prstGeom prst="rect">
            <a:avLst/>
          </a:prstGeom>
          <a:noFill/>
          <a:ln w="9525">
            <a:noFill/>
            <a:miter/>
          </a:ln>
          <a:effectLst>
            <a:outerShdw sx="999" sy="999" algn="ctr" rotWithShape="0">
              <a:srgbClr val="000000"/>
            </a:outerShdw>
          </a:effectLst>
        </p:spPr>
        <p:txBody>
          <a:bodyPr wrap="square" anchor="t">
            <a:spAutoFit/>
          </a:bodyPr>
          <a:lstStyle/>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指令微调的数据集由人类编写的指令和期望输出组成，强调模型对指令的理解能力</a:t>
            </a:r>
            <a:endPar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数据集中的每个例子通常包括两部分：</a:t>
            </a:r>
            <a:endPar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a:p>
            <a:pPr marR="0" lvl="0" algn="just" defTabSz="914400" rtl="0" eaLnBrk="1" fontAlgn="auto" latinLnBrk="0" hangingPunct="1">
              <a:lnSpc>
                <a:spcPct val="120000"/>
              </a:lnSpc>
              <a:spcBef>
                <a:spcPts val="0"/>
              </a:spcBef>
              <a:spcAft>
                <a:spcPts val="0"/>
              </a:spcAft>
              <a:buClrTx/>
              <a:buSzTx/>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  （</a:t>
            </a:r>
            <a:r>
              <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1</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）任务的自然语言描述。例如：“请为以下文本生成摘要”</a:t>
            </a:r>
            <a:endPar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a:p>
            <a:pPr marL="0" marR="0" lvl="0" indent="0" algn="just" defTabSz="914400" rtl="0" eaLnBrk="1" fontAlgn="auto" latinLnBrk="0" hangingPunct="1">
              <a:lnSpc>
                <a:spcPct val="120000"/>
              </a:lnSpc>
              <a:spcBef>
                <a:spcPts val="0"/>
              </a:spcBef>
              <a:spcAft>
                <a:spcPts val="0"/>
              </a:spcAft>
              <a:buClrTx/>
              <a:buSzTx/>
              <a:buFontTx/>
              <a:buNone/>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  （</a:t>
            </a:r>
            <a:r>
              <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2</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）模型基于指令应该产生的输出。例如：“这段文本的摘要是</a:t>
            </a:r>
            <a:r>
              <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a:t>
            </a:r>
            <a:endPar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指令可以是针对各种任务的描述，例如文本分类、问答、情感分析、翻译等。数据集可以通过现有 </a:t>
            </a:r>
            <a:r>
              <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NLP </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数据集重构、人工标注数据、合成数据生成等方法构建。</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sp>
        <p:nvSpPr>
          <p:cNvPr id="37" name="文本框 36"/>
          <p:cNvSpPr txBox="1"/>
          <p:nvPr/>
        </p:nvSpPr>
        <p:spPr>
          <a:xfrm flipH="1">
            <a:off x="907417" y="3593382"/>
            <a:ext cx="1748790" cy="461665"/>
          </a:xfrm>
          <a:prstGeom prst="rect">
            <a:avLst/>
          </a:prstGeom>
          <a:noFill/>
          <a:ln w="9525">
            <a:noFill/>
            <a:miter/>
          </a:ln>
          <a:effectLst>
            <a:outerShdw sx="999" sy="999" algn="ctr" rotWithShape="0">
              <a:srgbClr val="000000"/>
            </a:outerShdw>
          </a:effectLst>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rPr>
              <a:t>构建数据集</a:t>
            </a:r>
            <a:endPar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endParaRPr>
          </a:p>
        </p:txBody>
      </p:sp>
      <p:grpSp>
        <p:nvGrpSpPr>
          <p:cNvPr id="55" name="组合 54"/>
          <p:cNvGrpSpPr/>
          <p:nvPr/>
        </p:nvGrpSpPr>
        <p:grpSpPr>
          <a:xfrm>
            <a:off x="1687661" y="2688444"/>
            <a:ext cx="355600" cy="902793"/>
            <a:chOff x="3926053" y="3429000"/>
            <a:chExt cx="355600" cy="902793"/>
          </a:xfrm>
        </p:grpSpPr>
        <p:cxnSp>
          <p:nvCxnSpPr>
            <p:cNvPr id="50" name="直接连接符 17"/>
            <p:cNvCxnSpPr>
              <a:endCxn id="51" idx="0"/>
            </p:cNvCxnSpPr>
            <p:nvPr/>
          </p:nvCxnSpPr>
          <p:spPr>
            <a:xfrm>
              <a:off x="4103853" y="3429000"/>
              <a:ext cx="0" cy="547193"/>
            </a:xfrm>
            <a:prstGeom prst="line">
              <a:avLst/>
            </a:prstGeom>
            <a:solidFill>
              <a:srgbClr val="9FACC3"/>
            </a:solidFill>
            <a:ln w="22225">
              <a:solidFill>
                <a:srgbClr val="557199"/>
              </a:solidFill>
            </a:ln>
          </p:spPr>
          <p:style>
            <a:lnRef idx="1">
              <a:schemeClr val="accent1"/>
            </a:lnRef>
            <a:fillRef idx="0">
              <a:schemeClr val="accent1"/>
            </a:fillRef>
            <a:effectRef idx="0">
              <a:schemeClr val="accent1"/>
            </a:effectRef>
            <a:fontRef idx="minor">
              <a:schemeClr val="tx1"/>
            </a:fontRef>
          </p:style>
        </p:cxnSp>
        <p:sp>
          <p:nvSpPr>
            <p:cNvPr id="51" name="菱形 50"/>
            <p:cNvSpPr/>
            <p:nvPr/>
          </p:nvSpPr>
          <p:spPr>
            <a:xfrm>
              <a:off x="3926053" y="3976193"/>
              <a:ext cx="355600" cy="355600"/>
            </a:xfrm>
            <a:prstGeom prst="diamond">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3" name="矩形 2"/>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4"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5"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8"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0" name="TextBox 6"/>
          <p:cNvSpPr txBox="1"/>
          <p:nvPr/>
        </p:nvSpPr>
        <p:spPr>
          <a:xfrm>
            <a:off x="265096" y="1025774"/>
            <a:ext cx="240000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指令微调技术</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 name="矩形 20"/>
          <p:cNvSpPr/>
          <p:nvPr/>
        </p:nvSpPr>
        <p:spPr>
          <a:xfrm>
            <a:off x="2016601" y="2317781"/>
            <a:ext cx="8115876" cy="79200"/>
          </a:xfrm>
          <a:prstGeom prst="rect">
            <a:avLst/>
          </a:prstGeom>
          <a:solidFill>
            <a:srgbClr val="AFBD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Light" panose="020B0502040204020203" pitchFamily="34" charset="-122"/>
              <a:ea typeface="微软雅黑 Light" panose="020B0502040204020203" pitchFamily="34" charset="-122"/>
              <a:cs typeface="+mn-cs"/>
            </a:endParaRPr>
          </a:p>
        </p:txBody>
      </p:sp>
      <p:grpSp>
        <p:nvGrpSpPr>
          <p:cNvPr id="22" name="组合 21"/>
          <p:cNvGrpSpPr/>
          <p:nvPr/>
        </p:nvGrpSpPr>
        <p:grpSpPr>
          <a:xfrm>
            <a:off x="1472406" y="1932664"/>
            <a:ext cx="9247188" cy="792666"/>
            <a:chOff x="2434" y="4332"/>
            <a:chExt cx="14010" cy="1191"/>
          </a:xfrm>
          <a:solidFill>
            <a:srgbClr val="557199"/>
          </a:solidFill>
        </p:grpSpPr>
        <p:sp>
          <p:nvSpPr>
            <p:cNvPr id="23" name="椭圆 22"/>
            <p:cNvSpPr/>
            <p:nvPr/>
          </p:nvSpPr>
          <p:spPr>
            <a:xfrm>
              <a:off x="2434" y="4332"/>
              <a:ext cx="1191"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defRPr/>
              </a:pPr>
              <a:r>
                <a:rPr lang="en-US" altLang="zh-CN" sz="1600" b="1" dirty="0">
                  <a:solidFill>
                    <a:schemeClr val="bg1"/>
                  </a:solidFill>
                  <a:latin typeface="微软雅黑" panose="020B0503020204020204" pitchFamily="34" charset="-122"/>
                  <a:ea typeface="微软雅黑" panose="020B0503020204020204" pitchFamily="34" charset="-122"/>
                </a:rPr>
                <a:t>1</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4" name="椭圆 23"/>
            <p:cNvSpPr/>
            <p:nvPr/>
          </p:nvSpPr>
          <p:spPr>
            <a:xfrm>
              <a:off x="6600"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2</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5" name="椭圆 24"/>
            <p:cNvSpPr/>
            <p:nvPr/>
          </p:nvSpPr>
          <p:spPr>
            <a:xfrm>
              <a:off x="15254"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4</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6" name="椭圆 25"/>
            <p:cNvSpPr/>
            <p:nvPr/>
          </p:nvSpPr>
          <p:spPr>
            <a:xfrm>
              <a:off x="11033"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3</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sp>
        <p:nvSpPr>
          <p:cNvPr id="31" name="文本框 22"/>
          <p:cNvSpPr txBox="1"/>
          <p:nvPr/>
        </p:nvSpPr>
        <p:spPr>
          <a:xfrm flipH="1">
            <a:off x="907416" y="4132671"/>
            <a:ext cx="10279696" cy="1889941"/>
          </a:xfrm>
          <a:prstGeom prst="rect">
            <a:avLst/>
          </a:prstGeom>
          <a:noFill/>
          <a:ln w="9525">
            <a:noFill/>
            <a:miter/>
          </a:ln>
          <a:effectLst>
            <a:outerShdw sx="999" sy="999" algn="ctr" rotWithShape="0">
              <a:srgbClr val="000000"/>
            </a:outerShdw>
          </a:effectLst>
        </p:spPr>
        <p:txBody>
          <a:bodyPr wrap="square" anchor="t">
            <a:spAutoFit/>
          </a:bodyPr>
          <a:lstStyle/>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原始的大语言模型首先在标准的预训练语料上进行训练，学习通用语言知识和语法结构</a:t>
            </a:r>
            <a:endPar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模型在指令</a:t>
            </a:r>
            <a:r>
              <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响应数据集上进行微调，目标是使模型学习如何根据给定的指令进行任务响应</a:t>
            </a:r>
            <a:endPar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优化的目标是最大化模型生成正确响应的概率，通过这样的训练，模型逐渐能够理解不同任务的自然语言指令，并生成合适的输出</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sp>
        <p:nvSpPr>
          <p:cNvPr id="37" name="文本框 36"/>
          <p:cNvSpPr txBox="1"/>
          <p:nvPr/>
        </p:nvSpPr>
        <p:spPr>
          <a:xfrm flipH="1">
            <a:off x="3740471" y="3593382"/>
            <a:ext cx="1748790" cy="461665"/>
          </a:xfrm>
          <a:prstGeom prst="rect">
            <a:avLst/>
          </a:prstGeom>
          <a:noFill/>
          <a:ln w="9525">
            <a:noFill/>
            <a:miter/>
          </a:ln>
          <a:effectLst>
            <a:outerShdw sx="999" sy="999" algn="ctr" rotWithShape="0">
              <a:srgbClr val="000000"/>
            </a:outerShdw>
          </a:effectLst>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dirty="0">
                <a:solidFill>
                  <a:schemeClr val="tx1">
                    <a:lumMod val="85000"/>
                    <a:lumOff val="15000"/>
                  </a:schemeClr>
                </a:solidFill>
                <a:latin typeface="宋体" pitchFamily="2" charset="-122"/>
                <a:ea typeface="宋体" pitchFamily="2" charset="-122"/>
                <a:sym typeface="Arial" panose="020B0604020202090204" pitchFamily="34" charset="0"/>
              </a:rPr>
              <a:t>微调过程</a:t>
            </a:r>
            <a:endPar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endParaRPr>
          </a:p>
        </p:txBody>
      </p:sp>
      <p:grpSp>
        <p:nvGrpSpPr>
          <p:cNvPr id="55" name="组合 54"/>
          <p:cNvGrpSpPr/>
          <p:nvPr/>
        </p:nvGrpSpPr>
        <p:grpSpPr>
          <a:xfrm>
            <a:off x="4441123" y="2690589"/>
            <a:ext cx="355600" cy="902793"/>
            <a:chOff x="3926053" y="3429000"/>
            <a:chExt cx="355600" cy="902793"/>
          </a:xfrm>
        </p:grpSpPr>
        <p:cxnSp>
          <p:nvCxnSpPr>
            <p:cNvPr id="50" name="直接连接符 17"/>
            <p:cNvCxnSpPr>
              <a:endCxn id="51" idx="0"/>
            </p:cNvCxnSpPr>
            <p:nvPr/>
          </p:nvCxnSpPr>
          <p:spPr>
            <a:xfrm>
              <a:off x="4103853" y="3429000"/>
              <a:ext cx="0" cy="547193"/>
            </a:xfrm>
            <a:prstGeom prst="line">
              <a:avLst/>
            </a:prstGeom>
            <a:solidFill>
              <a:srgbClr val="9FACC3"/>
            </a:solidFill>
            <a:ln w="22225">
              <a:solidFill>
                <a:srgbClr val="557199"/>
              </a:solidFill>
            </a:ln>
          </p:spPr>
          <p:style>
            <a:lnRef idx="1">
              <a:schemeClr val="accent1"/>
            </a:lnRef>
            <a:fillRef idx="0">
              <a:schemeClr val="accent1"/>
            </a:fillRef>
            <a:effectRef idx="0">
              <a:schemeClr val="accent1"/>
            </a:effectRef>
            <a:fontRef idx="minor">
              <a:schemeClr val="tx1"/>
            </a:fontRef>
          </p:style>
        </p:cxnSp>
        <p:sp>
          <p:nvSpPr>
            <p:cNvPr id="51" name="菱形 50"/>
            <p:cNvSpPr/>
            <p:nvPr/>
          </p:nvSpPr>
          <p:spPr>
            <a:xfrm>
              <a:off x="3926053" y="3976193"/>
              <a:ext cx="355600" cy="355600"/>
            </a:xfrm>
            <a:prstGeom prst="diamond">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3" name="矩形 2"/>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4"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5"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8"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0" name="TextBox 6"/>
          <p:cNvSpPr txBox="1"/>
          <p:nvPr/>
        </p:nvSpPr>
        <p:spPr>
          <a:xfrm>
            <a:off x="265096" y="1025774"/>
            <a:ext cx="240000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指令微调技术</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 name="矩形 20"/>
          <p:cNvSpPr/>
          <p:nvPr/>
        </p:nvSpPr>
        <p:spPr>
          <a:xfrm>
            <a:off x="2016601" y="2317781"/>
            <a:ext cx="8115876" cy="79200"/>
          </a:xfrm>
          <a:prstGeom prst="rect">
            <a:avLst/>
          </a:prstGeom>
          <a:solidFill>
            <a:srgbClr val="AFBD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Light" panose="020B0502040204020203" pitchFamily="34" charset="-122"/>
              <a:ea typeface="微软雅黑 Light" panose="020B0502040204020203" pitchFamily="34" charset="-122"/>
              <a:cs typeface="+mn-cs"/>
            </a:endParaRPr>
          </a:p>
        </p:txBody>
      </p:sp>
      <p:grpSp>
        <p:nvGrpSpPr>
          <p:cNvPr id="22" name="组合 21"/>
          <p:cNvGrpSpPr/>
          <p:nvPr/>
        </p:nvGrpSpPr>
        <p:grpSpPr>
          <a:xfrm>
            <a:off x="1472406" y="1932664"/>
            <a:ext cx="9247188" cy="792666"/>
            <a:chOff x="2434" y="4332"/>
            <a:chExt cx="14010" cy="1191"/>
          </a:xfrm>
          <a:solidFill>
            <a:srgbClr val="557199"/>
          </a:solidFill>
        </p:grpSpPr>
        <p:sp>
          <p:nvSpPr>
            <p:cNvPr id="23" name="椭圆 22"/>
            <p:cNvSpPr/>
            <p:nvPr/>
          </p:nvSpPr>
          <p:spPr>
            <a:xfrm>
              <a:off x="2434" y="4332"/>
              <a:ext cx="1191"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defRPr/>
              </a:pPr>
              <a:r>
                <a:rPr lang="en-US" altLang="zh-CN" sz="1600" b="1" dirty="0">
                  <a:solidFill>
                    <a:schemeClr val="bg1"/>
                  </a:solidFill>
                  <a:latin typeface="微软雅黑" panose="020B0503020204020204" pitchFamily="34" charset="-122"/>
                  <a:ea typeface="微软雅黑" panose="020B0503020204020204" pitchFamily="34" charset="-122"/>
                </a:rPr>
                <a:t>1</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4" name="椭圆 23"/>
            <p:cNvSpPr/>
            <p:nvPr/>
          </p:nvSpPr>
          <p:spPr>
            <a:xfrm>
              <a:off x="6600"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2</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5" name="椭圆 24"/>
            <p:cNvSpPr/>
            <p:nvPr/>
          </p:nvSpPr>
          <p:spPr>
            <a:xfrm>
              <a:off x="15254"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4</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6" name="椭圆 25"/>
            <p:cNvSpPr/>
            <p:nvPr/>
          </p:nvSpPr>
          <p:spPr>
            <a:xfrm>
              <a:off x="11033"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3</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sp>
        <p:nvSpPr>
          <p:cNvPr id="31" name="文本框 22"/>
          <p:cNvSpPr txBox="1"/>
          <p:nvPr/>
        </p:nvSpPr>
        <p:spPr>
          <a:xfrm flipH="1">
            <a:off x="907416" y="4261262"/>
            <a:ext cx="10279696" cy="1520609"/>
          </a:xfrm>
          <a:prstGeom prst="rect">
            <a:avLst/>
          </a:prstGeom>
          <a:noFill/>
          <a:ln w="9525">
            <a:noFill/>
            <a:miter/>
          </a:ln>
          <a:effectLst>
            <a:outerShdw sx="999" sy="999" algn="ctr" rotWithShape="0">
              <a:srgbClr val="000000"/>
            </a:outerShdw>
          </a:effectLst>
        </p:spPr>
        <p:txBody>
          <a:bodyPr wrap="square" anchor="t">
            <a:spAutoFit/>
          </a:bodyPr>
          <a:lstStyle/>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指令微调的另一个关键点是任务描述的多样性</a:t>
            </a:r>
            <a:endPar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不同于传统的单一任务训练，指令微调通过引入多样化的任务指令让模型学习如何处理各种不同类型的任务。例如：回答问题、文本生成、翻译、情感分析</a:t>
            </a:r>
            <a:endPar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通过多种任务指令的训练，模型能够更好地适应不同的应用场景，提升泛化能力</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sp>
        <p:nvSpPr>
          <p:cNvPr id="37" name="文本框 36"/>
          <p:cNvSpPr txBox="1"/>
          <p:nvPr/>
        </p:nvSpPr>
        <p:spPr>
          <a:xfrm flipH="1">
            <a:off x="6200693" y="3649564"/>
            <a:ext cx="2680278" cy="461665"/>
          </a:xfrm>
          <a:prstGeom prst="rect">
            <a:avLst/>
          </a:prstGeom>
          <a:noFill/>
          <a:ln w="9525">
            <a:noFill/>
            <a:miter/>
          </a:ln>
          <a:effectLst>
            <a:outerShdw sx="999" sy="999" algn="ctr" rotWithShape="0">
              <a:srgbClr val="000000"/>
            </a:outerShdw>
          </a:effectLst>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rPr>
              <a:t>任务描述的多样性</a:t>
            </a:r>
            <a:endPar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endParaRPr>
          </a:p>
        </p:txBody>
      </p:sp>
      <p:grpSp>
        <p:nvGrpSpPr>
          <p:cNvPr id="55" name="组合 54"/>
          <p:cNvGrpSpPr/>
          <p:nvPr/>
        </p:nvGrpSpPr>
        <p:grpSpPr>
          <a:xfrm>
            <a:off x="7363032" y="2725329"/>
            <a:ext cx="355600" cy="902793"/>
            <a:chOff x="3926053" y="3429000"/>
            <a:chExt cx="355600" cy="902793"/>
          </a:xfrm>
        </p:grpSpPr>
        <p:cxnSp>
          <p:nvCxnSpPr>
            <p:cNvPr id="50" name="直接连接符 17"/>
            <p:cNvCxnSpPr>
              <a:endCxn id="51" idx="0"/>
            </p:cNvCxnSpPr>
            <p:nvPr/>
          </p:nvCxnSpPr>
          <p:spPr>
            <a:xfrm>
              <a:off x="4103853" y="3429000"/>
              <a:ext cx="0" cy="547193"/>
            </a:xfrm>
            <a:prstGeom prst="line">
              <a:avLst/>
            </a:prstGeom>
            <a:solidFill>
              <a:srgbClr val="9FACC3"/>
            </a:solidFill>
            <a:ln w="22225">
              <a:solidFill>
                <a:srgbClr val="557199"/>
              </a:solidFill>
            </a:ln>
          </p:spPr>
          <p:style>
            <a:lnRef idx="1">
              <a:schemeClr val="accent1"/>
            </a:lnRef>
            <a:fillRef idx="0">
              <a:schemeClr val="accent1"/>
            </a:fillRef>
            <a:effectRef idx="0">
              <a:schemeClr val="accent1"/>
            </a:effectRef>
            <a:fontRef idx="minor">
              <a:schemeClr val="tx1"/>
            </a:fontRef>
          </p:style>
        </p:cxnSp>
        <p:sp>
          <p:nvSpPr>
            <p:cNvPr id="51" name="菱形 50"/>
            <p:cNvSpPr/>
            <p:nvPr/>
          </p:nvSpPr>
          <p:spPr>
            <a:xfrm>
              <a:off x="3926053" y="3976193"/>
              <a:ext cx="355600" cy="355600"/>
            </a:xfrm>
            <a:prstGeom prst="diamond">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3" name="矩形 2"/>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4"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5"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8"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0" name="TextBox 6"/>
          <p:cNvSpPr txBox="1"/>
          <p:nvPr/>
        </p:nvSpPr>
        <p:spPr>
          <a:xfrm>
            <a:off x="265096" y="1025774"/>
            <a:ext cx="240000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指令微调技术</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 name="矩形 20"/>
          <p:cNvSpPr/>
          <p:nvPr/>
        </p:nvSpPr>
        <p:spPr>
          <a:xfrm>
            <a:off x="2016601" y="2317781"/>
            <a:ext cx="8115876" cy="79200"/>
          </a:xfrm>
          <a:prstGeom prst="rect">
            <a:avLst/>
          </a:prstGeom>
          <a:solidFill>
            <a:srgbClr val="AFBD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lumMod val="50000"/>
                  <a:lumOff val="50000"/>
                </a:schemeClr>
              </a:solidFill>
              <a:effectLst/>
              <a:uLnTx/>
              <a:uFillTx/>
              <a:latin typeface="微软雅黑 Light" panose="020B0502040204020203" pitchFamily="34" charset="-122"/>
              <a:ea typeface="微软雅黑 Light" panose="020B0502040204020203" pitchFamily="34" charset="-122"/>
              <a:cs typeface="+mn-cs"/>
            </a:endParaRPr>
          </a:p>
        </p:txBody>
      </p:sp>
      <p:grpSp>
        <p:nvGrpSpPr>
          <p:cNvPr id="22" name="组合 21"/>
          <p:cNvGrpSpPr/>
          <p:nvPr/>
        </p:nvGrpSpPr>
        <p:grpSpPr>
          <a:xfrm>
            <a:off x="1472406" y="1932664"/>
            <a:ext cx="9247188" cy="792666"/>
            <a:chOff x="2434" y="4332"/>
            <a:chExt cx="14010" cy="1191"/>
          </a:xfrm>
          <a:solidFill>
            <a:srgbClr val="557199"/>
          </a:solidFill>
        </p:grpSpPr>
        <p:sp>
          <p:nvSpPr>
            <p:cNvPr id="23" name="椭圆 22"/>
            <p:cNvSpPr/>
            <p:nvPr/>
          </p:nvSpPr>
          <p:spPr>
            <a:xfrm>
              <a:off x="2434" y="4332"/>
              <a:ext cx="1191"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defRPr/>
              </a:pPr>
              <a:r>
                <a:rPr lang="en-US" altLang="zh-CN" sz="1600" b="1" dirty="0">
                  <a:solidFill>
                    <a:schemeClr val="bg1"/>
                  </a:solidFill>
                  <a:latin typeface="微软雅黑" panose="020B0503020204020204" pitchFamily="34" charset="-122"/>
                  <a:ea typeface="微软雅黑" panose="020B0503020204020204" pitchFamily="34" charset="-122"/>
                </a:rPr>
                <a:t>1</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4" name="椭圆 23"/>
            <p:cNvSpPr/>
            <p:nvPr/>
          </p:nvSpPr>
          <p:spPr>
            <a:xfrm>
              <a:off x="6600"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2</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5" name="椭圆 24"/>
            <p:cNvSpPr/>
            <p:nvPr/>
          </p:nvSpPr>
          <p:spPr>
            <a:xfrm>
              <a:off x="15254"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4</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6" name="椭圆 25"/>
            <p:cNvSpPr/>
            <p:nvPr/>
          </p:nvSpPr>
          <p:spPr>
            <a:xfrm>
              <a:off x="11033" y="4332"/>
              <a:ext cx="1190" cy="119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ltLang="zh-CN" sz="1600" b="1" dirty="0">
                  <a:solidFill>
                    <a:schemeClr val="bg1"/>
                  </a:solidFill>
                  <a:latin typeface="微软雅黑" panose="020B0503020204020204" pitchFamily="34" charset="-122"/>
                  <a:ea typeface="微软雅黑" panose="020B0503020204020204" pitchFamily="34" charset="-122"/>
                </a:rPr>
                <a:t>3</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grpSp>
      <p:sp>
        <p:nvSpPr>
          <p:cNvPr id="31" name="文本框 22"/>
          <p:cNvSpPr txBox="1"/>
          <p:nvPr/>
        </p:nvSpPr>
        <p:spPr>
          <a:xfrm flipH="1">
            <a:off x="847480" y="4005223"/>
            <a:ext cx="10820611" cy="2259273"/>
          </a:xfrm>
          <a:prstGeom prst="rect">
            <a:avLst/>
          </a:prstGeom>
          <a:noFill/>
          <a:ln w="9525">
            <a:noFill/>
            <a:miter/>
          </a:ln>
          <a:effectLst>
            <a:outerShdw sx="999" sy="999" algn="ctr" rotWithShape="0">
              <a:srgbClr val="000000"/>
            </a:outerShdw>
          </a:effectLst>
        </p:spPr>
        <p:txBody>
          <a:bodyPr wrap="square" anchor="t">
            <a:spAutoFit/>
          </a:bodyPr>
          <a:lstStyle/>
          <a:p>
            <a:pPr marL="342900" lvl="0" indent="-342900" algn="just">
              <a:lnSpc>
                <a:spcPct val="120000"/>
              </a:lnSpc>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a:t>
            </a:r>
            <a:r>
              <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1</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）指令的定义和规范化：为了确保模型能够正确理解并执行任务，指令应当简洁、明确，以减少理解偏差，提高模型在不同任务中的一致性和准确性。</a:t>
            </a:r>
            <a:endPar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a:t>
            </a:r>
            <a:r>
              <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2</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）对话式任务和推理任务：一些指令微调不仅限于单一的任务，还扩展到对话式任务或推理任务，要求模型能够理解上下文，并按照指令进行详细的推理过程。</a:t>
            </a:r>
            <a:endPar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defRP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a:t>
            </a:r>
            <a:r>
              <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3</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）强化学习与指令微调结合： 在某些高级应用中，指令微调与强化学习结合，通过利用人类反馈来进一步微调模型，优化模型的行为。</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sp>
        <p:nvSpPr>
          <p:cNvPr id="37" name="文本框 36"/>
          <p:cNvSpPr txBox="1"/>
          <p:nvPr/>
        </p:nvSpPr>
        <p:spPr>
          <a:xfrm flipH="1">
            <a:off x="8696209" y="3481075"/>
            <a:ext cx="2971882" cy="461665"/>
          </a:xfrm>
          <a:prstGeom prst="rect">
            <a:avLst/>
          </a:prstGeom>
          <a:noFill/>
          <a:ln w="9525">
            <a:noFill/>
            <a:miter/>
          </a:ln>
          <a:effectLst>
            <a:outerShdw sx="999" sy="999" algn="ctr" rotWithShape="0">
              <a:srgbClr val="000000"/>
            </a:outerShdw>
          </a:effectLst>
        </p:spPr>
        <p:txBody>
          <a:bodyPr wrap="square" anchor="t">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rPr>
              <a:t>指令微调的技术细节</a:t>
            </a:r>
            <a:endParaRPr kumimoji="0" lang="zh-CN" altLang="en-US" sz="2400" b="1" i="0" u="none" strike="noStrike" kern="1200" cap="none" spc="0" normalizeH="0" baseline="0" noProof="0" dirty="0">
              <a:ln>
                <a:noFill/>
              </a:ln>
              <a:solidFill>
                <a:schemeClr val="tx1">
                  <a:lumMod val="85000"/>
                  <a:lumOff val="15000"/>
                </a:schemeClr>
              </a:solidFill>
              <a:effectLst/>
              <a:uLnTx/>
              <a:uFillTx/>
              <a:latin typeface="宋体" pitchFamily="2" charset="-122"/>
              <a:ea typeface="宋体" pitchFamily="2" charset="-122"/>
              <a:sym typeface="Arial" panose="020B0604020202090204" pitchFamily="34" charset="0"/>
            </a:endParaRPr>
          </a:p>
        </p:txBody>
      </p:sp>
      <p:grpSp>
        <p:nvGrpSpPr>
          <p:cNvPr id="55" name="组合 54"/>
          <p:cNvGrpSpPr/>
          <p:nvPr/>
        </p:nvGrpSpPr>
        <p:grpSpPr>
          <a:xfrm>
            <a:off x="10149069" y="2616186"/>
            <a:ext cx="355600" cy="902793"/>
            <a:chOff x="3926053" y="3429000"/>
            <a:chExt cx="355600" cy="902793"/>
          </a:xfrm>
        </p:grpSpPr>
        <p:cxnSp>
          <p:nvCxnSpPr>
            <p:cNvPr id="50" name="直接连接符 17"/>
            <p:cNvCxnSpPr>
              <a:endCxn id="51" idx="0"/>
            </p:cNvCxnSpPr>
            <p:nvPr/>
          </p:nvCxnSpPr>
          <p:spPr>
            <a:xfrm>
              <a:off x="4103853" y="3429000"/>
              <a:ext cx="0" cy="547193"/>
            </a:xfrm>
            <a:prstGeom prst="line">
              <a:avLst/>
            </a:prstGeom>
            <a:solidFill>
              <a:srgbClr val="9FACC3"/>
            </a:solidFill>
            <a:ln w="22225">
              <a:solidFill>
                <a:srgbClr val="557199"/>
              </a:solidFill>
            </a:ln>
          </p:spPr>
          <p:style>
            <a:lnRef idx="1">
              <a:schemeClr val="accent1"/>
            </a:lnRef>
            <a:fillRef idx="0">
              <a:schemeClr val="accent1"/>
            </a:fillRef>
            <a:effectRef idx="0">
              <a:schemeClr val="accent1"/>
            </a:effectRef>
            <a:fontRef idx="minor">
              <a:schemeClr val="tx1"/>
            </a:fontRef>
          </p:style>
        </p:cxnSp>
        <p:sp>
          <p:nvSpPr>
            <p:cNvPr id="51" name="菱形 50"/>
            <p:cNvSpPr/>
            <p:nvPr/>
          </p:nvSpPr>
          <p:spPr>
            <a:xfrm>
              <a:off x="3926053" y="3976193"/>
              <a:ext cx="355600" cy="355600"/>
            </a:xfrm>
            <a:prstGeom prst="diamond">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 name="学论网www.xuelun.me-矩形 1"/>
          <p:cNvSpPr/>
          <p:nvPr/>
        </p:nvSpPr>
        <p:spPr>
          <a:xfrm>
            <a:off x="628651" y="1705243"/>
            <a:ext cx="1886340" cy="1759820"/>
          </a:xfrm>
          <a:prstGeom prst="roundRect">
            <a:avLst/>
          </a:prstGeom>
          <a:solidFill>
            <a:srgbClr val="557199"/>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95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rPr>
              <a:t>人类对齐技术</a:t>
            </a:r>
            <a:endParaRPr lang="zh-CN" altLang="en-US" sz="195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endParaRPr>
          </a:p>
        </p:txBody>
      </p:sp>
      <p:sp>
        <p:nvSpPr>
          <p:cNvPr id="18" name="学论网www.xuelun.me-矩形 4"/>
          <p:cNvSpPr/>
          <p:nvPr/>
        </p:nvSpPr>
        <p:spPr>
          <a:xfrm>
            <a:off x="2641242" y="1705243"/>
            <a:ext cx="8268057" cy="1759820"/>
          </a:xfrm>
          <a:prstGeom prst="round2DiagRect">
            <a:avLst/>
          </a:prstGeom>
          <a:noFill/>
          <a:ln w="19050">
            <a:solidFill>
              <a:srgbClr val="9FACC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endParaRPr>
          </a:p>
        </p:txBody>
      </p:sp>
      <p:sp>
        <p:nvSpPr>
          <p:cNvPr id="19" name="学论网www.xuelun.me-矩形 1"/>
          <p:cNvSpPr/>
          <p:nvPr/>
        </p:nvSpPr>
        <p:spPr>
          <a:xfrm>
            <a:off x="628651" y="3678264"/>
            <a:ext cx="1886340" cy="784541"/>
          </a:xfrm>
          <a:prstGeom prst="roundRect">
            <a:avLst/>
          </a:prstGeom>
          <a:solidFill>
            <a:srgbClr val="557199"/>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rPr>
              <a:t>奖励模型</a:t>
            </a:r>
            <a:endParaRPr lang="zh-CN" altLang="en-US" sz="200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endParaRPr>
          </a:p>
        </p:txBody>
      </p:sp>
      <p:sp>
        <p:nvSpPr>
          <p:cNvPr id="20" name="学论网www.xuelun.me-矩形 4"/>
          <p:cNvSpPr/>
          <p:nvPr/>
        </p:nvSpPr>
        <p:spPr>
          <a:xfrm>
            <a:off x="2641242" y="3678264"/>
            <a:ext cx="8268057" cy="784541"/>
          </a:xfrm>
          <a:prstGeom prst="round2DiagRect">
            <a:avLst/>
          </a:prstGeom>
          <a:noFill/>
          <a:ln w="19050">
            <a:solidFill>
              <a:srgbClr val="9FACC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endParaRPr>
          </a:p>
        </p:txBody>
      </p:sp>
      <p:sp>
        <p:nvSpPr>
          <p:cNvPr id="21" name="学论网www.xuelun.me-矩形 1"/>
          <p:cNvSpPr/>
          <p:nvPr/>
        </p:nvSpPr>
        <p:spPr>
          <a:xfrm>
            <a:off x="628651" y="4676005"/>
            <a:ext cx="1886339" cy="1735459"/>
          </a:xfrm>
          <a:prstGeom prst="roundRect">
            <a:avLst/>
          </a:prstGeom>
          <a:solidFill>
            <a:srgbClr val="557199"/>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00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rPr>
              <a:t>强化学习</a:t>
            </a:r>
            <a:endParaRPr lang="en-US" altLang="zh-CN" sz="2000" b="1" kern="0" dirty="0">
              <a:gradFill>
                <a:gsLst>
                  <a:gs pos="100000">
                    <a:schemeClr val="bg1"/>
                  </a:gs>
                  <a:gs pos="0">
                    <a:schemeClr val="bg1">
                      <a:lumMod val="95000"/>
                    </a:schemeClr>
                  </a:gs>
                </a:gsLst>
                <a:path path="circle">
                  <a:fillToRect l="100000" b="100000"/>
                </a:path>
              </a:gradFill>
              <a:latin typeface="宋体" pitchFamily="2" charset="-122"/>
              <a:ea typeface="宋体" pitchFamily="2" charset="-122"/>
            </a:endParaRPr>
          </a:p>
        </p:txBody>
      </p:sp>
      <p:sp>
        <p:nvSpPr>
          <p:cNvPr id="23" name="学论网www.xuelun.me-矩形 4"/>
          <p:cNvSpPr/>
          <p:nvPr/>
        </p:nvSpPr>
        <p:spPr>
          <a:xfrm>
            <a:off x="2641242" y="4676005"/>
            <a:ext cx="8268057" cy="1735459"/>
          </a:xfrm>
          <a:prstGeom prst="round2DiagRect">
            <a:avLst/>
          </a:prstGeom>
          <a:noFill/>
          <a:ln w="19050">
            <a:solidFill>
              <a:srgbClr val="9FACC3"/>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a:solidFill>
                <a:srgbClr val="FFFDFB"/>
              </a:solidFill>
            </a:endParaRPr>
          </a:p>
        </p:txBody>
      </p:sp>
      <p:sp>
        <p:nvSpPr>
          <p:cNvPr id="32" name="文本框 31"/>
          <p:cNvSpPr txBox="1"/>
          <p:nvPr/>
        </p:nvSpPr>
        <p:spPr>
          <a:xfrm>
            <a:off x="2730143" y="3655397"/>
            <a:ext cx="8090258" cy="761427"/>
          </a:xfrm>
          <a:prstGeom prst="rect">
            <a:avLst/>
          </a:prstGeom>
          <a:noFill/>
        </p:spPr>
        <p:txBody>
          <a:bodyPr wrap="square" rtlCol="0">
            <a:spAutoFit/>
          </a:bodyPr>
          <a:lstStyle/>
          <a:p>
            <a:pPr>
              <a:lnSpc>
                <a:spcPct val="130000"/>
              </a:lnSpc>
            </a:pPr>
            <a:r>
              <a:rPr lang="zh-CN" altLang="en-US" dirty="0">
                <a:solidFill>
                  <a:srgbClr val="595959"/>
                </a:solidFill>
                <a:latin typeface="楷体" panose="02010609060101010101" pitchFamily="49" charset="-122"/>
                <a:ea typeface="楷体" panose="02010609060101010101" pitchFamily="49" charset="-122"/>
              </a:rPr>
              <a:t>奖励模型用于评估生成文本的质量，并为优化过程提供反馈。使用人类反馈数据来训练奖励模型，使其能够根据生成文本与人类偏好的匹配程度给予评分。</a:t>
            </a:r>
            <a:endParaRPr dirty="0">
              <a:solidFill>
                <a:srgbClr val="595959"/>
              </a:solidFill>
              <a:latin typeface="楷体" panose="02010609060101010101" pitchFamily="49" charset="-122"/>
              <a:ea typeface="楷体" panose="02010609060101010101" pitchFamily="49" charset="-122"/>
            </a:endParaRPr>
          </a:p>
        </p:txBody>
      </p:sp>
      <p:sp>
        <p:nvSpPr>
          <p:cNvPr id="36" name="文本框 35"/>
          <p:cNvSpPr txBox="1"/>
          <p:nvPr/>
        </p:nvSpPr>
        <p:spPr>
          <a:xfrm>
            <a:off x="2716763" y="4758012"/>
            <a:ext cx="8090258" cy="1481624"/>
          </a:xfrm>
          <a:prstGeom prst="rect">
            <a:avLst/>
          </a:prstGeom>
          <a:noFill/>
        </p:spPr>
        <p:txBody>
          <a:bodyPr wrap="square" rtlCol="0">
            <a:spAutoFit/>
          </a:bodyPr>
          <a:lstStyle/>
          <a:p>
            <a:pPr>
              <a:lnSpc>
                <a:spcPct val="130000"/>
              </a:lnSpc>
            </a:pPr>
            <a:r>
              <a:rPr lang="en-GB" dirty="0">
                <a:solidFill>
                  <a:srgbClr val="595959"/>
                </a:solidFill>
                <a:latin typeface="楷体" panose="02010609060101010101" pitchFamily="49" charset="-122"/>
                <a:ea typeface="楷体" panose="02010609060101010101" pitchFamily="49" charset="-122"/>
              </a:rPr>
              <a:t>RLHF</a:t>
            </a:r>
            <a:r>
              <a:rPr lang="en-GB" sz="1600" dirty="0">
                <a:solidFill>
                  <a:srgbClr val="595959"/>
                </a:solidFill>
                <a:latin typeface="楷体" panose="02010609060101010101" pitchFamily="49" charset="-122"/>
                <a:ea typeface="楷体" panose="02010609060101010101" pitchFamily="49" charset="-122"/>
              </a:rPr>
              <a:t>（Reinforcement Learning from Human Feedback）</a:t>
            </a:r>
            <a:r>
              <a:rPr lang="zh-CN" altLang="en-US" dirty="0">
                <a:solidFill>
                  <a:srgbClr val="595959"/>
                </a:solidFill>
                <a:latin typeface="楷体" panose="02010609060101010101" pitchFamily="49" charset="-122"/>
                <a:ea typeface="楷体" panose="02010609060101010101" pitchFamily="49" charset="-122"/>
              </a:rPr>
              <a:t>是目前最常见的对齐方法之一。在</a:t>
            </a:r>
            <a:r>
              <a:rPr lang="en-GB" dirty="0">
                <a:solidFill>
                  <a:srgbClr val="595959"/>
                </a:solidFill>
                <a:latin typeface="楷体" panose="02010609060101010101" pitchFamily="49" charset="-122"/>
                <a:ea typeface="楷体" panose="02010609060101010101" pitchFamily="49" charset="-122"/>
              </a:rPr>
              <a:t>RLHF</a:t>
            </a:r>
            <a:r>
              <a:rPr lang="zh-CN" altLang="en-US" dirty="0">
                <a:solidFill>
                  <a:srgbClr val="595959"/>
                </a:solidFill>
                <a:latin typeface="楷体" panose="02010609060101010101" pitchFamily="49" charset="-122"/>
                <a:ea typeface="楷体" panose="02010609060101010101" pitchFamily="49" charset="-122"/>
              </a:rPr>
              <a:t>中，人类评估员会评定模型生成的输出，给出奖励信号，或者明确指出哪些输出符合预期，哪些不符合。</a:t>
            </a:r>
            <a:r>
              <a:rPr lang="en-GB" dirty="0">
                <a:solidFill>
                  <a:srgbClr val="595959"/>
                </a:solidFill>
                <a:latin typeface="楷体" panose="02010609060101010101" pitchFamily="49" charset="-122"/>
                <a:ea typeface="楷体" panose="02010609060101010101" pitchFamily="49" charset="-122"/>
              </a:rPr>
              <a:t>RLHF</a:t>
            </a:r>
            <a:r>
              <a:rPr lang="zh-CN" altLang="en-US" dirty="0">
                <a:solidFill>
                  <a:srgbClr val="595959"/>
                </a:solidFill>
                <a:latin typeface="楷体" panose="02010609060101010101" pitchFamily="49" charset="-122"/>
                <a:ea typeface="楷体" panose="02010609060101010101" pitchFamily="49" charset="-122"/>
              </a:rPr>
              <a:t>是一个迭代过程，模型通过持续的人类反馈不断改进，每次迭代都会使模型的行为更加对齐人类的预期。</a:t>
            </a:r>
            <a:endParaRPr dirty="0">
              <a:solidFill>
                <a:srgbClr val="595959"/>
              </a:solidFill>
              <a:latin typeface="楷体" panose="02010609060101010101" pitchFamily="49" charset="-122"/>
              <a:ea typeface="楷体" panose="02010609060101010101" pitchFamily="49" charset="-122"/>
            </a:endParaRPr>
          </a:p>
        </p:txBody>
      </p: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3" name="矩形 2"/>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4"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1"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2"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3" name="TextBox 6"/>
          <p:cNvSpPr txBox="1"/>
          <p:nvPr/>
        </p:nvSpPr>
        <p:spPr>
          <a:xfrm>
            <a:off x="265096" y="1025774"/>
            <a:ext cx="240000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人类对齐技术</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2716763" y="1652514"/>
            <a:ext cx="8090258" cy="1841723"/>
          </a:xfrm>
          <a:prstGeom prst="rect">
            <a:avLst/>
          </a:prstGeom>
          <a:noFill/>
        </p:spPr>
        <p:txBody>
          <a:bodyPr wrap="square" rtlCol="0">
            <a:spAutoFit/>
          </a:bodyPr>
          <a:lstStyle/>
          <a:p>
            <a:pPr>
              <a:lnSpc>
                <a:spcPct val="130000"/>
              </a:lnSpc>
            </a:pPr>
            <a:r>
              <a:rPr lang="zh-CN" altLang="en-US" dirty="0">
                <a:solidFill>
                  <a:srgbClr val="595959"/>
                </a:solidFill>
                <a:latin typeface="楷体" panose="02010609060101010101" pitchFamily="49" charset="-122"/>
                <a:ea typeface="楷体" panose="02010609060101010101" pitchFamily="49" charset="-122"/>
              </a:rPr>
              <a:t>人类对齐技术是近年来在大语言模型研究中的重要领域，它主要关注如何确保大语言模型的行为与人类的价值观、意图和期望一致。简单来说，人类对齐技术旨在通过调整模型的行为，使其输出符合人类的价值观、文化和社会规范。由于伦理、价值观的多样性和技术实施的复杂性，如何完美地实现人类对齐仍然是一个挑战。</a:t>
            </a:r>
            <a:endParaRPr dirty="0">
              <a:solidFill>
                <a:srgbClr val="595959"/>
              </a:solidFill>
              <a:latin typeface="楷体" panose="02010609060101010101" pitchFamily="49" charset="-122"/>
              <a:ea typeface="楷体" panose="02010609060101010101" pitchFamily="49"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588061" y="1671778"/>
            <a:ext cx="4909720" cy="2939670"/>
            <a:chOff x="795357" y="1219023"/>
            <a:chExt cx="5300643" cy="3187308"/>
          </a:xfrm>
        </p:grpSpPr>
        <p:sp>
          <p:nvSpPr>
            <p:cNvPr id="18" name="文本框 34"/>
            <p:cNvSpPr>
              <a:spLocks noChangeArrowheads="1"/>
            </p:cNvSpPr>
            <p:nvPr/>
          </p:nvSpPr>
          <p:spPr bwMode="auto">
            <a:xfrm>
              <a:off x="965936" y="1219023"/>
              <a:ext cx="3930946" cy="581057"/>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a:lnSpc>
                  <a:spcPct val="150000"/>
                </a:lnSpc>
              </a:pPr>
              <a:r>
                <a:rPr lang="zh-CN" altLang="en-US" sz="2400" b="1" dirty="0">
                  <a:solidFill>
                    <a:srgbClr val="595959"/>
                  </a:solidFill>
                  <a:latin typeface="宋体" pitchFamily="2" charset="-122"/>
                  <a:ea typeface="宋体" pitchFamily="2" charset="-122"/>
                  <a:sym typeface="华文宋体" panose="02010600040101010101" pitchFamily="2" charset="-122"/>
                </a:rPr>
                <a:t>工具使用</a:t>
              </a:r>
              <a:endParaRPr lang="zh-CN" altLang="en-US" sz="2400" b="1" dirty="0">
                <a:solidFill>
                  <a:srgbClr val="595959"/>
                </a:solidFill>
                <a:latin typeface="宋体" pitchFamily="2" charset="-122"/>
                <a:ea typeface="宋体" pitchFamily="2" charset="-122"/>
                <a:sym typeface="华文宋体" panose="02010600040101010101" pitchFamily="2" charset="-122"/>
              </a:endParaRPr>
            </a:p>
          </p:txBody>
        </p:sp>
        <p:sp>
          <p:nvSpPr>
            <p:cNvPr id="19" name="文本框 34"/>
            <p:cNvSpPr>
              <a:spLocks noChangeArrowheads="1"/>
            </p:cNvSpPr>
            <p:nvPr/>
          </p:nvSpPr>
          <p:spPr bwMode="auto">
            <a:xfrm>
              <a:off x="795357" y="1869931"/>
              <a:ext cx="5300643" cy="2536400"/>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marL="285750" indent="-285750">
                <a:lnSpc>
                  <a:spcPct val="150000"/>
                </a:lnSpc>
                <a:buFont typeface="Wingdings" panose="05000000000000000000" pitchFamily="2" charset="2"/>
                <a:buChar char="l"/>
                <a:defRPr/>
              </a:pPr>
              <a:r>
                <a:rPr lang="zh-CN" altLang="zh-CN"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工具使用是指将外部</a:t>
              </a:r>
              <a:r>
                <a:rPr lang="en-US" altLang="zh-CN"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API</a:t>
              </a:r>
              <a:r>
                <a:rPr lang="zh-CN" altLang="zh-CN"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或功能模块集成到大语言模型中，使其能够执行特定的任务。</a:t>
              </a:r>
              <a:endParaRPr lang="en-US" altLang="zh-CN"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endParaRPr>
            </a:p>
            <a:p>
              <a:pPr marL="285750" indent="-285750">
                <a:lnSpc>
                  <a:spcPct val="150000"/>
                </a:lnSpc>
                <a:buFont typeface="Wingdings" panose="05000000000000000000" pitchFamily="2" charset="2"/>
                <a:buChar char="l"/>
                <a:defRPr/>
              </a:pPr>
              <a:r>
                <a:rPr lang="zh-CN" altLang="zh-CN"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这些工具可以是天气查询、计算、信息检索等功能，允许模型在生成文本的同时，调用外部资源来增强其能力。</a:t>
              </a:r>
              <a:endParaRPr lang="en-US" altLang="zh-CN"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endParaRPr>
            </a:p>
            <a:p>
              <a:pPr>
                <a:lnSpc>
                  <a:spcPct val="150000"/>
                </a:lnSpc>
                <a:defRPr/>
              </a:pPr>
              <a:endParaRPr lang="zh-CN" altLang="en-US" dirty="0">
                <a:solidFill>
                  <a:srgbClr val="595959"/>
                </a:solidFill>
                <a:latin typeface="微软雅黑" panose="020B0503020204020204" pitchFamily="34" charset="-122"/>
                <a:ea typeface="微软雅黑" panose="020B0503020204020204" pitchFamily="34" charset="-122"/>
              </a:endParaRPr>
            </a:p>
          </p:txBody>
        </p:sp>
      </p:grpSp>
      <p:cxnSp>
        <p:nvCxnSpPr>
          <p:cNvPr id="20" name="直接连接符 19"/>
          <p:cNvCxnSpPr/>
          <p:nvPr/>
        </p:nvCxnSpPr>
        <p:spPr>
          <a:xfrm>
            <a:off x="6096001" y="1641475"/>
            <a:ext cx="0" cy="2664000"/>
          </a:xfrm>
          <a:prstGeom prst="line">
            <a:avLst/>
          </a:prstGeom>
          <a:ln>
            <a:solidFill>
              <a:srgbClr val="9FACC3"/>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425753" y="4700024"/>
            <a:ext cx="11604242" cy="1880785"/>
            <a:chOff x="588179" y="4053776"/>
            <a:chExt cx="11072793" cy="2457647"/>
          </a:xfrm>
        </p:grpSpPr>
        <p:sp>
          <p:nvSpPr>
            <p:cNvPr id="32" name="矩形 31"/>
            <p:cNvSpPr/>
            <p:nvPr/>
          </p:nvSpPr>
          <p:spPr>
            <a:xfrm>
              <a:off x="588179" y="4053776"/>
              <a:ext cx="11072793" cy="2457647"/>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95959"/>
                </a:solidFill>
              </a:endParaRPr>
            </a:p>
          </p:txBody>
        </p:sp>
        <p:sp>
          <p:nvSpPr>
            <p:cNvPr id="36" name="文本框 34"/>
            <p:cNvSpPr>
              <a:spLocks noChangeArrowheads="1"/>
            </p:cNvSpPr>
            <p:nvPr/>
          </p:nvSpPr>
          <p:spPr bwMode="auto">
            <a:xfrm>
              <a:off x="739576" y="4082964"/>
              <a:ext cx="10769999" cy="220752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marL="285750" indent="-285750">
                <a:lnSpc>
                  <a:spcPct val="150000"/>
                </a:lnSpc>
                <a:buFont typeface="Wingdings" panose="05000000000000000000" pitchFamily="2" charset="2"/>
                <a:buChar char="l"/>
                <a:defRPr/>
              </a:pPr>
              <a:r>
                <a:rPr lang="zh-CN" altLang="zh-CN" dirty="0">
                  <a:solidFill>
                    <a:schemeClr val="bg1"/>
                  </a:solidFill>
                  <a:effectLst/>
                  <a:latin typeface="楷体" panose="02010609060101010101" pitchFamily="49" charset="-122"/>
                  <a:ea typeface="楷体" panose="02010609060101010101" pitchFamily="49" charset="-122"/>
                  <a:cs typeface="Times New Roman" panose="02020503050405090304" pitchFamily="18" charset="0"/>
                </a:rPr>
                <a:t>工具使用与智能体技术旨在使大语言模型能与外部世界进行交互，执行具体任务，利用工具来增强其能力，模拟智能体的行为。</a:t>
              </a:r>
              <a:endParaRPr lang="en-US" altLang="zh-CN" dirty="0">
                <a:solidFill>
                  <a:schemeClr val="bg1"/>
                </a:solidFill>
                <a:effectLst/>
                <a:latin typeface="楷体" panose="02010609060101010101" pitchFamily="49" charset="-122"/>
                <a:ea typeface="楷体" panose="02010609060101010101" pitchFamily="49" charset="-122"/>
                <a:cs typeface="Times New Roman" panose="02020503050405090304" pitchFamily="18" charset="0"/>
              </a:endParaRPr>
            </a:p>
            <a:p>
              <a:pPr marL="285750" indent="-285750">
                <a:lnSpc>
                  <a:spcPct val="150000"/>
                </a:lnSpc>
                <a:buFont typeface="Wingdings" panose="05000000000000000000" pitchFamily="2" charset="2"/>
                <a:buChar char="l"/>
                <a:defRPr/>
              </a:pPr>
              <a:r>
                <a:rPr lang="zh-CN" altLang="zh-CN" dirty="0">
                  <a:solidFill>
                    <a:schemeClr val="bg1"/>
                  </a:solidFill>
                  <a:latin typeface="楷体" panose="02010609060101010101" pitchFamily="49" charset="-122"/>
                  <a:ea typeface="楷体" panose="02010609060101010101" pitchFamily="49" charset="-122"/>
                  <a:cs typeface="Times New Roman" panose="02020503050405090304" pitchFamily="18" charset="0"/>
                </a:rPr>
                <a:t>通过有效地解析用户意图、选择合适的工具以及整合结果，这一技术显著提升了</a:t>
              </a:r>
              <a:r>
                <a:rPr lang="en-US" altLang="zh-CN" dirty="0">
                  <a:solidFill>
                    <a:schemeClr val="bg1"/>
                  </a:solidFill>
                  <a:latin typeface="楷体" panose="02010609060101010101" pitchFamily="49" charset="-122"/>
                  <a:ea typeface="楷体" panose="02010609060101010101" pitchFamily="49" charset="-122"/>
                  <a:cs typeface="Times New Roman" panose="02020503050405090304" pitchFamily="18" charset="0"/>
                </a:rPr>
                <a:t>LLMs</a:t>
              </a:r>
              <a:r>
                <a:rPr lang="zh-CN" altLang="zh-CN" dirty="0">
                  <a:solidFill>
                    <a:schemeClr val="bg1"/>
                  </a:solidFill>
                  <a:latin typeface="楷体" panose="02010609060101010101" pitchFamily="49" charset="-122"/>
                  <a:ea typeface="楷体" panose="02010609060101010101" pitchFamily="49" charset="-122"/>
                  <a:cs typeface="Times New Roman" panose="02020503050405090304" pitchFamily="18" charset="0"/>
                </a:rPr>
                <a:t>在实际应用中的实用性和灵活性</a:t>
              </a:r>
              <a:r>
                <a:rPr lang="zh-CN" altLang="en-US" dirty="0">
                  <a:solidFill>
                    <a:schemeClr val="bg1"/>
                  </a:solidFill>
                  <a:latin typeface="楷体" panose="02010609060101010101" pitchFamily="49" charset="-122"/>
                  <a:ea typeface="楷体" panose="02010609060101010101" pitchFamily="49" charset="-122"/>
                  <a:cs typeface="Times New Roman" panose="02020503050405090304" pitchFamily="18" charset="0"/>
                </a:rPr>
                <a:t>，</a:t>
              </a:r>
              <a:r>
                <a:rPr lang="zh-CN" altLang="zh-CN" dirty="0">
                  <a:solidFill>
                    <a:schemeClr val="bg1"/>
                  </a:solidFill>
                  <a:latin typeface="楷体" panose="02010609060101010101" pitchFamily="49" charset="-122"/>
                  <a:ea typeface="楷体" panose="02010609060101010101" pitchFamily="49" charset="-122"/>
                  <a:cs typeface="Times New Roman" panose="02020503050405090304" pitchFamily="18" charset="0"/>
                </a:rPr>
                <a:t>使得模型能够超越传统的语言生成任务，进入到更为广泛和复杂的应用领域。</a:t>
              </a:r>
              <a:endParaRPr lang="en-US" altLang="zh-CN" dirty="0">
                <a:solidFill>
                  <a:schemeClr val="bg1"/>
                </a:solidFill>
                <a:latin typeface="楷体" panose="02010609060101010101" pitchFamily="49" charset="-122"/>
                <a:ea typeface="楷体" panose="02010609060101010101" pitchFamily="49" charset="-122"/>
                <a:cs typeface="Times New Roman" panose="02020503050405090304" pitchFamily="18" charset="0"/>
              </a:endParaRPr>
            </a:p>
          </p:txBody>
        </p:sp>
      </p:grpSp>
      <p:sp>
        <p:nvSpPr>
          <p:cNvPr id="13"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14" name="矩形 13"/>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1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22"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4"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6"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28"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6"/>
          <p:cNvSpPr txBox="1"/>
          <p:nvPr/>
        </p:nvSpPr>
        <p:spPr>
          <a:xfrm>
            <a:off x="265096" y="1025774"/>
            <a:ext cx="2730296"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工具使用与智能体</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7" name="组合 36"/>
          <p:cNvGrpSpPr/>
          <p:nvPr/>
        </p:nvGrpSpPr>
        <p:grpSpPr>
          <a:xfrm>
            <a:off x="6585740" y="1671778"/>
            <a:ext cx="4909720" cy="3136736"/>
            <a:chOff x="795357" y="1219023"/>
            <a:chExt cx="5300643" cy="3400974"/>
          </a:xfrm>
        </p:grpSpPr>
        <p:sp>
          <p:nvSpPr>
            <p:cNvPr id="38" name="文本框 34"/>
            <p:cNvSpPr>
              <a:spLocks noChangeArrowheads="1"/>
            </p:cNvSpPr>
            <p:nvPr/>
          </p:nvSpPr>
          <p:spPr bwMode="auto">
            <a:xfrm>
              <a:off x="965936" y="1219023"/>
              <a:ext cx="3930946" cy="606924"/>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a:lnSpc>
                  <a:spcPct val="150000"/>
                </a:lnSpc>
              </a:pPr>
              <a:r>
                <a:rPr lang="zh-CN" altLang="en-US" sz="2400" b="1" dirty="0">
                  <a:solidFill>
                    <a:srgbClr val="595959"/>
                  </a:solidFill>
                  <a:latin typeface="宋体" pitchFamily="2" charset="-122"/>
                  <a:ea typeface="宋体" pitchFamily="2" charset="-122"/>
                  <a:sym typeface="华文宋体" panose="02010600040101010101" pitchFamily="2" charset="-122"/>
                </a:rPr>
                <a:t>智能体</a:t>
              </a:r>
              <a:endParaRPr lang="zh-CN" altLang="en-US" sz="2400" b="1" dirty="0">
                <a:solidFill>
                  <a:srgbClr val="595959"/>
                </a:solidFill>
                <a:latin typeface="宋体" pitchFamily="2" charset="-122"/>
                <a:ea typeface="宋体" pitchFamily="2" charset="-122"/>
                <a:sym typeface="华文宋体" panose="02010600040101010101" pitchFamily="2" charset="-122"/>
              </a:endParaRPr>
            </a:p>
          </p:txBody>
        </p:sp>
        <p:sp>
          <p:nvSpPr>
            <p:cNvPr id="39" name="文本框 34"/>
            <p:cNvSpPr>
              <a:spLocks noChangeArrowheads="1"/>
            </p:cNvSpPr>
            <p:nvPr/>
          </p:nvSpPr>
          <p:spPr bwMode="auto">
            <a:xfrm>
              <a:off x="795357" y="1869931"/>
              <a:ext cx="5300643" cy="2750066"/>
            </a:xfrm>
            <a:prstGeom prst="rect">
              <a:avLst/>
            </a:prstGeom>
            <a:noFill/>
            <a:ln w="9525">
              <a:noFill/>
              <a:miter lim="800000"/>
            </a:ln>
            <a:extLst>
              <a:ext uri="{909E8E84-426E-40DD-AFC4-6F175D3DCCD1}">
                <a14:hiddenFill xmlns:a14="http://schemas.microsoft.com/office/drawing/2010/main">
                  <a:solidFill>
                    <a:srgbClr val="FFFFFF"/>
                  </a:solidFill>
                </a14:hiddenFill>
              </a:ext>
            </a:extLst>
          </p:spPr>
          <p:txBody>
            <a:bodyPr wrap="square" lIns="91440" tIns="45720" rIns="91440" bIns="45720">
              <a:spAutoFit/>
            </a:bodyPr>
            <a:lstStyle/>
            <a:p>
              <a:pPr marL="285750" indent="-285750">
                <a:lnSpc>
                  <a:spcPct val="150000"/>
                </a:lnSpc>
                <a:buFont typeface="Wingdings" panose="05000000000000000000" pitchFamily="2" charset="2"/>
                <a:buChar char="l"/>
                <a:defRPr/>
              </a:pPr>
              <a:r>
                <a:rPr lang="zh-CN" altLang="zh-CN" dirty="0">
                  <a:solidFill>
                    <a:srgbClr val="595959"/>
                  </a:solidFill>
                  <a:latin typeface="楷体" panose="02010609060101010101" pitchFamily="49" charset="-122"/>
                  <a:ea typeface="楷体" panose="02010609060101010101" pitchFamily="49" charset="-122"/>
                  <a:cs typeface="Times New Roman" panose="02020503050405090304" pitchFamily="18" charset="0"/>
                </a:rPr>
                <a:t>智能体是指能够自主执行任务并根据环境反馈进行调整的系统。</a:t>
              </a:r>
              <a:endParaRPr lang="en-US" altLang="zh-CN" dirty="0">
                <a:solidFill>
                  <a:srgbClr val="595959"/>
                </a:solidFill>
                <a:latin typeface="楷体" panose="02010609060101010101" pitchFamily="49" charset="-122"/>
                <a:ea typeface="楷体" panose="02010609060101010101" pitchFamily="49" charset="-122"/>
                <a:cs typeface="Times New Roman" panose="02020503050405090304" pitchFamily="18" charset="0"/>
              </a:endParaRPr>
            </a:p>
            <a:p>
              <a:pPr marL="285750" indent="-285750">
                <a:lnSpc>
                  <a:spcPct val="150000"/>
                </a:lnSpc>
                <a:buFont typeface="Wingdings" panose="05000000000000000000" pitchFamily="2" charset="2"/>
                <a:buChar char="l"/>
                <a:defRPr/>
              </a:pPr>
              <a:r>
                <a:rPr lang="zh-CN" altLang="zh-CN" dirty="0">
                  <a:solidFill>
                    <a:srgbClr val="595959"/>
                  </a:solidFill>
                  <a:latin typeface="楷体" panose="02010609060101010101" pitchFamily="49" charset="-122"/>
                  <a:ea typeface="楷体" panose="02010609060101010101" pitchFamily="49" charset="-122"/>
                  <a:cs typeface="Times New Roman" panose="02020503050405090304" pitchFamily="18" charset="0"/>
                </a:rPr>
                <a:t>在大语言模型中，智能体可以理解用户输入、选择合适的工具并调用它们，以完成更复杂的任务。 </a:t>
              </a:r>
              <a:endParaRPr lang="zh-CN" altLang="en-US" dirty="0">
                <a:solidFill>
                  <a:srgbClr val="595959"/>
                </a:solidFill>
                <a:latin typeface="楷体" panose="02010609060101010101" pitchFamily="49" charset="-122"/>
                <a:ea typeface="楷体" panose="02010609060101010101" pitchFamily="49" charset="-122"/>
                <a:cs typeface="Times New Roman" panose="02020503050405090304" pitchFamily="18" charset="0"/>
              </a:endParaRPr>
            </a:p>
            <a:p>
              <a:pPr>
                <a:lnSpc>
                  <a:spcPct val="150000"/>
                </a:lnSpc>
                <a:defRPr/>
              </a:pPr>
              <a:endParaRPr lang="zh-CN" altLang="en-US" dirty="0">
                <a:solidFill>
                  <a:srgbClr val="595959"/>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文本框 22"/>
          <p:cNvSpPr txBox="1"/>
          <p:nvPr/>
        </p:nvSpPr>
        <p:spPr>
          <a:xfrm flipH="1">
            <a:off x="1047903" y="1931978"/>
            <a:ext cx="8160154" cy="781945"/>
          </a:xfrm>
          <a:prstGeom prst="rect">
            <a:avLst/>
          </a:prstGeom>
          <a:noFill/>
          <a:ln w="9525">
            <a:noFill/>
            <a:miter/>
          </a:ln>
          <a:effectLst>
            <a:outerShdw sx="999" sy="999" algn="ctr" rotWithShape="0">
              <a:srgbClr val="000000"/>
            </a:outerShdw>
          </a:effectLst>
        </p:spPr>
        <p:txBody>
          <a:bodyPr wrap="square" anchor="t">
            <a:spAutoFit/>
          </a:bodyPr>
          <a:lstStyle/>
          <a:p>
            <a:pPr marL="285750" lvl="0" indent="-285750">
              <a:lnSpc>
                <a:spcPct val="120000"/>
              </a:lnSpc>
              <a:buFont typeface="Arial" panose="020B0604020202090204" pitchFamily="34" charset="0"/>
              <a:buChar char="•"/>
            </a:pPr>
            <a:r>
              <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API</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调用：大语言模型可以被设计成能够调用外部</a:t>
            </a:r>
            <a:r>
              <a:rPr lang="en-GB"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API</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的智能体，通过</a:t>
            </a:r>
            <a:r>
              <a:rPr lang="en-GB"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HTTP</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请求与外部系统进行交互</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sp>
        <p:nvSpPr>
          <p:cNvPr id="44" name="文本框 22"/>
          <p:cNvSpPr txBox="1"/>
          <p:nvPr/>
        </p:nvSpPr>
        <p:spPr>
          <a:xfrm flipH="1">
            <a:off x="1047903" y="2920474"/>
            <a:ext cx="8160154" cy="781945"/>
          </a:xfrm>
          <a:prstGeom prst="rect">
            <a:avLst/>
          </a:prstGeom>
          <a:noFill/>
          <a:ln w="9525">
            <a:noFill/>
            <a:miter/>
          </a:ln>
          <a:effectLst>
            <a:outerShdw sx="999" sy="999" algn="ctr" rotWithShape="0">
              <a:srgbClr val="000000"/>
            </a:outerShdw>
          </a:effectLst>
        </p:spPr>
        <p:txBody>
          <a:bodyPr wrap="square" anchor="t">
            <a:spAutoFit/>
          </a:bodyPr>
          <a:lstStyle/>
          <a:p>
            <a:pPr marL="285750" lvl="0" indent="-285750">
              <a:lnSpc>
                <a:spcPct val="120000"/>
              </a:lnSpc>
              <a:buFont typeface="Arial" panose="020B0604020202090204" pitchFamily="34" charset="0"/>
              <a:buChar cha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数据库查询：当模型需要访问大量结构化数据时，可以通过数据库查询工具与数据库进行交互</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sp>
        <p:nvSpPr>
          <p:cNvPr id="45" name="文本框 22"/>
          <p:cNvSpPr txBox="1"/>
          <p:nvPr/>
        </p:nvSpPr>
        <p:spPr>
          <a:xfrm flipH="1">
            <a:off x="1047901" y="4001958"/>
            <a:ext cx="8160154" cy="781945"/>
          </a:xfrm>
          <a:prstGeom prst="rect">
            <a:avLst/>
          </a:prstGeom>
          <a:noFill/>
          <a:ln w="9525">
            <a:noFill/>
            <a:miter/>
          </a:ln>
          <a:effectLst>
            <a:outerShdw sx="999" sy="999" algn="ctr" rotWithShape="0">
              <a:srgbClr val="000000"/>
            </a:outerShdw>
          </a:effectLst>
        </p:spPr>
        <p:txBody>
          <a:bodyPr wrap="square" anchor="t">
            <a:spAutoFit/>
          </a:bodyPr>
          <a:lstStyle/>
          <a:p>
            <a:pPr marL="285750" lvl="0" indent="-285750">
              <a:lnSpc>
                <a:spcPct val="120000"/>
              </a:lnSpc>
              <a:buFont typeface="Arial" panose="020B0604020202090204" pitchFamily="34" charset="0"/>
              <a:buChar cha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检索增强生成（</a:t>
            </a:r>
            <a:r>
              <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RAG</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）工具：结合外部知识库或文档检索系统，辅助智能体访问最新或专业信息，弥补模型训练数据的时效性和覆盖限制。</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sp>
        <p:nvSpPr>
          <p:cNvPr id="46" name="文本框 22"/>
          <p:cNvSpPr txBox="1"/>
          <p:nvPr/>
        </p:nvSpPr>
        <p:spPr>
          <a:xfrm flipH="1">
            <a:off x="1047903" y="5021450"/>
            <a:ext cx="8160152" cy="781945"/>
          </a:xfrm>
          <a:prstGeom prst="rect">
            <a:avLst/>
          </a:prstGeom>
          <a:noFill/>
          <a:ln w="9525">
            <a:noFill/>
            <a:miter/>
          </a:ln>
          <a:effectLst>
            <a:outerShdw sx="999" sy="999" algn="ctr" rotWithShape="0">
              <a:srgbClr val="000000"/>
            </a:outerShdw>
          </a:effectLst>
        </p:spPr>
        <p:txBody>
          <a:bodyPr wrap="square" anchor="t">
            <a:spAutoFit/>
          </a:bodyPr>
          <a:lstStyle/>
          <a:p>
            <a:pPr marL="285750" lvl="0" indent="-285750">
              <a:lnSpc>
                <a:spcPct val="120000"/>
              </a:lnSpc>
              <a:buFont typeface="Arial" panose="020B0604020202090204" pitchFamily="34" charset="0"/>
              <a:buChar cha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文档与文件处理： 模型可以使用文件处理工具来分析和理解文档内容，进行结构化数据提取或内容摘要</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grpSp>
        <p:nvGrpSpPr>
          <p:cNvPr id="2" name="组合 1"/>
          <p:cNvGrpSpPr/>
          <p:nvPr/>
        </p:nvGrpSpPr>
        <p:grpSpPr>
          <a:xfrm>
            <a:off x="9322536" y="2632333"/>
            <a:ext cx="2593474" cy="2306509"/>
            <a:chOff x="7206933" y="2235945"/>
            <a:chExt cx="4373245" cy="4164220"/>
          </a:xfrm>
        </p:grpSpPr>
        <p:sp>
          <p:nvSpPr>
            <p:cNvPr id="9" name="灯泡"/>
            <p:cNvSpPr/>
            <p:nvPr/>
          </p:nvSpPr>
          <p:spPr bwMode="auto">
            <a:xfrm>
              <a:off x="8290560" y="3173730"/>
              <a:ext cx="2167255" cy="3226435"/>
            </a:xfrm>
            <a:custGeom>
              <a:avLst/>
              <a:gdLst>
                <a:gd name="T0" fmla="*/ 2147483646 w 3864"/>
                <a:gd name="T1" fmla="*/ 1817606605 h 6111"/>
                <a:gd name="T2" fmla="*/ 2147483646 w 3864"/>
                <a:gd name="T3" fmla="*/ 2147483646 h 6111"/>
                <a:gd name="T4" fmla="*/ 2147483646 w 3864"/>
                <a:gd name="T5" fmla="*/ 2147483646 h 6111"/>
                <a:gd name="T6" fmla="*/ 2147483646 w 3864"/>
                <a:gd name="T7" fmla="*/ 2147483646 h 6111"/>
                <a:gd name="T8" fmla="*/ 2147483646 w 3864"/>
                <a:gd name="T9" fmla="*/ 2147483646 h 6111"/>
                <a:gd name="T10" fmla="*/ 2147483646 w 3864"/>
                <a:gd name="T11" fmla="*/ 2147483646 h 6111"/>
                <a:gd name="T12" fmla="*/ 2147483646 w 3864"/>
                <a:gd name="T13" fmla="*/ 2147483646 h 6111"/>
                <a:gd name="T14" fmla="*/ 2147483646 w 3864"/>
                <a:gd name="T15" fmla="*/ 2147483646 h 6111"/>
                <a:gd name="T16" fmla="*/ 2147483646 w 3864"/>
                <a:gd name="T17" fmla="*/ 2147483646 h 6111"/>
                <a:gd name="T18" fmla="*/ 2147483646 w 3864"/>
                <a:gd name="T19" fmla="*/ 2147483646 h 6111"/>
                <a:gd name="T20" fmla="*/ 2147483646 w 3864"/>
                <a:gd name="T21" fmla="*/ 2147483646 h 6111"/>
                <a:gd name="T22" fmla="*/ 2147483646 w 3864"/>
                <a:gd name="T23" fmla="*/ 2147483646 h 6111"/>
                <a:gd name="T24" fmla="*/ 2147483646 w 3864"/>
                <a:gd name="T25" fmla="*/ 2147483646 h 6111"/>
                <a:gd name="T26" fmla="*/ 2147483646 w 3864"/>
                <a:gd name="T27" fmla="*/ 2147483646 h 6111"/>
                <a:gd name="T28" fmla="*/ 2147483646 w 3864"/>
                <a:gd name="T29" fmla="*/ 2147483646 h 6111"/>
                <a:gd name="T30" fmla="*/ 2147483646 w 3864"/>
                <a:gd name="T31" fmla="*/ 2147483646 h 6111"/>
                <a:gd name="T32" fmla="*/ 2147483646 w 3864"/>
                <a:gd name="T33" fmla="*/ 2147483646 h 6111"/>
                <a:gd name="T34" fmla="*/ 2147483646 w 3864"/>
                <a:gd name="T35" fmla="*/ 2147483646 h 6111"/>
                <a:gd name="T36" fmla="*/ 574134261 w 3864"/>
                <a:gd name="T37" fmla="*/ 2147483646 h 6111"/>
                <a:gd name="T38" fmla="*/ 906491754 w 3864"/>
                <a:gd name="T39" fmla="*/ 2147483646 h 6111"/>
                <a:gd name="T40" fmla="*/ 2147483646 w 3864"/>
                <a:gd name="T41" fmla="*/ 2147483646 h 6111"/>
                <a:gd name="T42" fmla="*/ 2147483646 w 3864"/>
                <a:gd name="T43" fmla="*/ 2147483646 h 6111"/>
                <a:gd name="T44" fmla="*/ 2147483646 w 3864"/>
                <a:gd name="T45" fmla="*/ 2147483646 h 6111"/>
                <a:gd name="T46" fmla="*/ 2147483646 w 3864"/>
                <a:gd name="T47" fmla="*/ 1817606605 h 6111"/>
                <a:gd name="T48" fmla="*/ 2147483646 w 3864"/>
                <a:gd name="T49" fmla="*/ 2147483646 h 6111"/>
                <a:gd name="T50" fmla="*/ 2147483646 w 3864"/>
                <a:gd name="T51" fmla="*/ 2147483646 h 6111"/>
                <a:gd name="T52" fmla="*/ 2147483646 w 3864"/>
                <a:gd name="T53" fmla="*/ 2147483646 h 6111"/>
                <a:gd name="T54" fmla="*/ 2147483646 w 3864"/>
                <a:gd name="T55" fmla="*/ 2147483646 h 6111"/>
                <a:gd name="T56" fmla="*/ 2147483646 w 3864"/>
                <a:gd name="T57" fmla="*/ 2147483646 h 6111"/>
                <a:gd name="T58" fmla="*/ 2147483646 w 3864"/>
                <a:gd name="T59" fmla="*/ 2147483646 h 6111"/>
                <a:gd name="T60" fmla="*/ 2147483646 w 3864"/>
                <a:gd name="T61" fmla="*/ 2147483646 h 6111"/>
                <a:gd name="T62" fmla="*/ 2147483646 w 3864"/>
                <a:gd name="T63" fmla="*/ 2147483646 h 6111"/>
                <a:gd name="T64" fmla="*/ 2147483646 w 3864"/>
                <a:gd name="T65" fmla="*/ 2147483646 h 6111"/>
                <a:gd name="T66" fmla="*/ 2147483646 w 3864"/>
                <a:gd name="T67" fmla="*/ 2147483646 h 6111"/>
                <a:gd name="T68" fmla="*/ 2147483646 w 3864"/>
                <a:gd name="T69" fmla="*/ 2147483646 h 6111"/>
                <a:gd name="T70" fmla="*/ 2147483646 w 3864"/>
                <a:gd name="T71" fmla="*/ 2147483646 h 6111"/>
                <a:gd name="T72" fmla="*/ 2147483646 w 3864"/>
                <a:gd name="T73" fmla="*/ 2147483646 h 6111"/>
                <a:gd name="T74" fmla="*/ 2147483646 w 3864"/>
                <a:gd name="T75" fmla="*/ 2147483646 h 6111"/>
                <a:gd name="T76" fmla="*/ 2147483646 w 3864"/>
                <a:gd name="T77" fmla="*/ 2147483646 h 6111"/>
                <a:gd name="T78" fmla="*/ 2147483646 w 3864"/>
                <a:gd name="T79" fmla="*/ 2147483646 h 6111"/>
                <a:gd name="T80" fmla="*/ 2147483646 w 3864"/>
                <a:gd name="T81" fmla="*/ 2147483646 h 6111"/>
                <a:gd name="T82" fmla="*/ 2147483646 w 3864"/>
                <a:gd name="T83" fmla="*/ 2147483646 h 6111"/>
                <a:gd name="T84" fmla="*/ 2147483646 w 3864"/>
                <a:gd name="T85" fmla="*/ 2147483646 h 6111"/>
                <a:gd name="T86" fmla="*/ 2147483646 w 3864"/>
                <a:gd name="T87" fmla="*/ 2147483646 h 6111"/>
                <a:gd name="T88" fmla="*/ 2147483646 w 3864"/>
                <a:gd name="T89" fmla="*/ 2147483646 h 6111"/>
                <a:gd name="T90" fmla="*/ 2147483646 w 3864"/>
                <a:gd name="T91" fmla="*/ 2147483646 h 6111"/>
                <a:gd name="T92" fmla="*/ 2147483646 w 3864"/>
                <a:gd name="T93" fmla="*/ 2147483646 h 6111"/>
                <a:gd name="T94" fmla="*/ 2147483646 w 3864"/>
                <a:gd name="T95" fmla="*/ 2147483646 h 6111"/>
                <a:gd name="T96" fmla="*/ 2147483646 w 3864"/>
                <a:gd name="T97" fmla="*/ 2147483646 h 6111"/>
                <a:gd name="T98" fmla="*/ 2147483646 w 3864"/>
                <a:gd name="T99" fmla="*/ 2147483646 h 6111"/>
                <a:gd name="T100" fmla="*/ 2147483646 w 3864"/>
                <a:gd name="T101" fmla="*/ 2147483646 h 6111"/>
                <a:gd name="T102" fmla="*/ 2147483646 w 3864"/>
                <a:gd name="T103" fmla="*/ 2147483646 h 6111"/>
                <a:gd name="T104" fmla="*/ 2147483646 w 3864"/>
                <a:gd name="T105" fmla="*/ 2147483646 h 6111"/>
                <a:gd name="T106" fmla="*/ 2147483646 w 3864"/>
                <a:gd name="T107" fmla="*/ 2147483646 h 6111"/>
                <a:gd name="T108" fmla="*/ 2147483646 w 3864"/>
                <a:gd name="T109" fmla="*/ 2147483646 h 6111"/>
                <a:gd name="T110" fmla="*/ 2147483646 w 3864"/>
                <a:gd name="T111" fmla="*/ 2147483646 h 6111"/>
                <a:gd name="T112" fmla="*/ 2147483646 w 3864"/>
                <a:gd name="T113" fmla="*/ 2147483646 h 6111"/>
                <a:gd name="T114" fmla="*/ 2147483646 w 3864"/>
                <a:gd name="T115" fmla="*/ 2147483646 h 6111"/>
                <a:gd name="T116" fmla="*/ 2147483646 w 3864"/>
                <a:gd name="T117" fmla="*/ 2147483646 h 6111"/>
                <a:gd name="T118" fmla="*/ 2147483646 w 3864"/>
                <a:gd name="T119" fmla="*/ 2147483646 h 611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864" h="6111">
                  <a:moveTo>
                    <a:pt x="1932" y="0"/>
                  </a:moveTo>
                  <a:lnTo>
                    <a:pt x="1932" y="0"/>
                  </a:lnTo>
                  <a:lnTo>
                    <a:pt x="1982" y="0"/>
                  </a:lnTo>
                  <a:lnTo>
                    <a:pt x="2031" y="2"/>
                  </a:lnTo>
                  <a:lnTo>
                    <a:pt x="2081" y="5"/>
                  </a:lnTo>
                  <a:lnTo>
                    <a:pt x="2129" y="9"/>
                  </a:lnTo>
                  <a:lnTo>
                    <a:pt x="2178" y="15"/>
                  </a:lnTo>
                  <a:lnTo>
                    <a:pt x="2226" y="22"/>
                  </a:lnTo>
                  <a:lnTo>
                    <a:pt x="2273" y="30"/>
                  </a:lnTo>
                  <a:lnTo>
                    <a:pt x="2321" y="39"/>
                  </a:lnTo>
                  <a:lnTo>
                    <a:pt x="2367" y="48"/>
                  </a:lnTo>
                  <a:lnTo>
                    <a:pt x="2415" y="60"/>
                  </a:lnTo>
                  <a:lnTo>
                    <a:pt x="2460" y="73"/>
                  </a:lnTo>
                  <a:lnTo>
                    <a:pt x="2507" y="87"/>
                  </a:lnTo>
                  <a:lnTo>
                    <a:pt x="2551" y="101"/>
                  </a:lnTo>
                  <a:lnTo>
                    <a:pt x="2596" y="117"/>
                  </a:lnTo>
                  <a:lnTo>
                    <a:pt x="2640" y="133"/>
                  </a:lnTo>
                  <a:lnTo>
                    <a:pt x="2683" y="152"/>
                  </a:lnTo>
                  <a:lnTo>
                    <a:pt x="2727" y="170"/>
                  </a:lnTo>
                  <a:lnTo>
                    <a:pt x="2769" y="190"/>
                  </a:lnTo>
                  <a:lnTo>
                    <a:pt x="2811" y="211"/>
                  </a:lnTo>
                  <a:lnTo>
                    <a:pt x="2853" y="233"/>
                  </a:lnTo>
                  <a:lnTo>
                    <a:pt x="2893" y="255"/>
                  </a:lnTo>
                  <a:lnTo>
                    <a:pt x="2934" y="279"/>
                  </a:lnTo>
                  <a:lnTo>
                    <a:pt x="2973" y="304"/>
                  </a:lnTo>
                  <a:lnTo>
                    <a:pt x="3012" y="329"/>
                  </a:lnTo>
                  <a:lnTo>
                    <a:pt x="3050" y="356"/>
                  </a:lnTo>
                  <a:lnTo>
                    <a:pt x="3087" y="383"/>
                  </a:lnTo>
                  <a:lnTo>
                    <a:pt x="3124" y="412"/>
                  </a:lnTo>
                  <a:lnTo>
                    <a:pt x="3160" y="441"/>
                  </a:lnTo>
                  <a:lnTo>
                    <a:pt x="3196" y="471"/>
                  </a:lnTo>
                  <a:lnTo>
                    <a:pt x="3231" y="501"/>
                  </a:lnTo>
                  <a:lnTo>
                    <a:pt x="3265" y="532"/>
                  </a:lnTo>
                  <a:lnTo>
                    <a:pt x="3297" y="565"/>
                  </a:lnTo>
                  <a:lnTo>
                    <a:pt x="3330" y="599"/>
                  </a:lnTo>
                  <a:lnTo>
                    <a:pt x="3362" y="632"/>
                  </a:lnTo>
                  <a:lnTo>
                    <a:pt x="3393" y="667"/>
                  </a:lnTo>
                  <a:lnTo>
                    <a:pt x="3423" y="702"/>
                  </a:lnTo>
                  <a:lnTo>
                    <a:pt x="3452" y="739"/>
                  </a:lnTo>
                  <a:lnTo>
                    <a:pt x="3480" y="775"/>
                  </a:lnTo>
                  <a:lnTo>
                    <a:pt x="3507" y="813"/>
                  </a:lnTo>
                  <a:lnTo>
                    <a:pt x="3534" y="852"/>
                  </a:lnTo>
                  <a:lnTo>
                    <a:pt x="3560" y="890"/>
                  </a:lnTo>
                  <a:lnTo>
                    <a:pt x="3584" y="930"/>
                  </a:lnTo>
                  <a:lnTo>
                    <a:pt x="3607" y="970"/>
                  </a:lnTo>
                  <a:lnTo>
                    <a:pt x="3631" y="1011"/>
                  </a:lnTo>
                  <a:lnTo>
                    <a:pt x="3653" y="1051"/>
                  </a:lnTo>
                  <a:lnTo>
                    <a:pt x="3674" y="1094"/>
                  </a:lnTo>
                  <a:lnTo>
                    <a:pt x="3693" y="1136"/>
                  </a:lnTo>
                  <a:lnTo>
                    <a:pt x="3712" y="1179"/>
                  </a:lnTo>
                  <a:lnTo>
                    <a:pt x="3729" y="1223"/>
                  </a:lnTo>
                  <a:lnTo>
                    <a:pt x="3747" y="1267"/>
                  </a:lnTo>
                  <a:lnTo>
                    <a:pt x="3762" y="1312"/>
                  </a:lnTo>
                  <a:lnTo>
                    <a:pt x="3777" y="1357"/>
                  </a:lnTo>
                  <a:lnTo>
                    <a:pt x="3791" y="1402"/>
                  </a:lnTo>
                  <a:lnTo>
                    <a:pt x="3802" y="1449"/>
                  </a:lnTo>
                  <a:lnTo>
                    <a:pt x="3814" y="1495"/>
                  </a:lnTo>
                  <a:lnTo>
                    <a:pt x="3824" y="1543"/>
                  </a:lnTo>
                  <a:lnTo>
                    <a:pt x="3834" y="1589"/>
                  </a:lnTo>
                  <a:lnTo>
                    <a:pt x="3842" y="1638"/>
                  </a:lnTo>
                  <a:lnTo>
                    <a:pt x="3848" y="1685"/>
                  </a:lnTo>
                  <a:lnTo>
                    <a:pt x="3853" y="1734"/>
                  </a:lnTo>
                  <a:lnTo>
                    <a:pt x="3858" y="1783"/>
                  </a:lnTo>
                  <a:lnTo>
                    <a:pt x="3862" y="1832"/>
                  </a:lnTo>
                  <a:lnTo>
                    <a:pt x="3863" y="1882"/>
                  </a:lnTo>
                  <a:lnTo>
                    <a:pt x="3864" y="1932"/>
                  </a:lnTo>
                  <a:lnTo>
                    <a:pt x="3863" y="1999"/>
                  </a:lnTo>
                  <a:lnTo>
                    <a:pt x="3859" y="2065"/>
                  </a:lnTo>
                  <a:lnTo>
                    <a:pt x="3853" y="2130"/>
                  </a:lnTo>
                  <a:lnTo>
                    <a:pt x="3845" y="2195"/>
                  </a:lnTo>
                  <a:lnTo>
                    <a:pt x="3836" y="2260"/>
                  </a:lnTo>
                  <a:lnTo>
                    <a:pt x="3823" y="2324"/>
                  </a:lnTo>
                  <a:lnTo>
                    <a:pt x="3809" y="2387"/>
                  </a:lnTo>
                  <a:lnTo>
                    <a:pt x="3793" y="2449"/>
                  </a:lnTo>
                  <a:lnTo>
                    <a:pt x="3776" y="2511"/>
                  </a:lnTo>
                  <a:lnTo>
                    <a:pt x="3755" y="2571"/>
                  </a:lnTo>
                  <a:lnTo>
                    <a:pt x="3733" y="2631"/>
                  </a:lnTo>
                  <a:lnTo>
                    <a:pt x="3709" y="2690"/>
                  </a:lnTo>
                  <a:lnTo>
                    <a:pt x="3683" y="2747"/>
                  </a:lnTo>
                  <a:lnTo>
                    <a:pt x="3656" y="2804"/>
                  </a:lnTo>
                  <a:lnTo>
                    <a:pt x="3626" y="2859"/>
                  </a:lnTo>
                  <a:lnTo>
                    <a:pt x="3596" y="2914"/>
                  </a:lnTo>
                  <a:lnTo>
                    <a:pt x="3566" y="2963"/>
                  </a:lnTo>
                  <a:lnTo>
                    <a:pt x="3534" y="3011"/>
                  </a:lnTo>
                  <a:lnTo>
                    <a:pt x="3502" y="3058"/>
                  </a:lnTo>
                  <a:lnTo>
                    <a:pt x="3467" y="3103"/>
                  </a:lnTo>
                  <a:lnTo>
                    <a:pt x="3432" y="3148"/>
                  </a:lnTo>
                  <a:lnTo>
                    <a:pt x="3395" y="3193"/>
                  </a:lnTo>
                  <a:lnTo>
                    <a:pt x="3358" y="3234"/>
                  </a:lnTo>
                  <a:lnTo>
                    <a:pt x="3318" y="3276"/>
                  </a:lnTo>
                  <a:lnTo>
                    <a:pt x="3278" y="3317"/>
                  </a:lnTo>
                  <a:lnTo>
                    <a:pt x="3237" y="3356"/>
                  </a:lnTo>
                  <a:lnTo>
                    <a:pt x="3194" y="3393"/>
                  </a:lnTo>
                  <a:lnTo>
                    <a:pt x="3150" y="3431"/>
                  </a:lnTo>
                  <a:lnTo>
                    <a:pt x="3106" y="3465"/>
                  </a:lnTo>
                  <a:lnTo>
                    <a:pt x="3059" y="3500"/>
                  </a:lnTo>
                  <a:lnTo>
                    <a:pt x="3013" y="3533"/>
                  </a:lnTo>
                  <a:lnTo>
                    <a:pt x="2965" y="3564"/>
                  </a:lnTo>
                  <a:lnTo>
                    <a:pt x="2965" y="3763"/>
                  </a:lnTo>
                  <a:lnTo>
                    <a:pt x="3040" y="3756"/>
                  </a:lnTo>
                  <a:lnTo>
                    <a:pt x="3184" y="3744"/>
                  </a:lnTo>
                  <a:lnTo>
                    <a:pt x="3240" y="3879"/>
                  </a:lnTo>
                  <a:lnTo>
                    <a:pt x="3257" y="3921"/>
                  </a:lnTo>
                  <a:lnTo>
                    <a:pt x="3272" y="3961"/>
                  </a:lnTo>
                  <a:lnTo>
                    <a:pt x="3283" y="4003"/>
                  </a:lnTo>
                  <a:lnTo>
                    <a:pt x="3293" y="4044"/>
                  </a:lnTo>
                  <a:lnTo>
                    <a:pt x="3301" y="4084"/>
                  </a:lnTo>
                  <a:lnTo>
                    <a:pt x="3305" y="4125"/>
                  </a:lnTo>
                  <a:lnTo>
                    <a:pt x="3309" y="4166"/>
                  </a:lnTo>
                  <a:lnTo>
                    <a:pt x="3310" y="4206"/>
                  </a:lnTo>
                  <a:lnTo>
                    <a:pt x="3309" y="4248"/>
                  </a:lnTo>
                  <a:lnTo>
                    <a:pt x="3305" y="4289"/>
                  </a:lnTo>
                  <a:lnTo>
                    <a:pt x="3300" y="4329"/>
                  </a:lnTo>
                  <a:lnTo>
                    <a:pt x="3292" y="4370"/>
                  </a:lnTo>
                  <a:lnTo>
                    <a:pt x="3282" y="4409"/>
                  </a:lnTo>
                  <a:lnTo>
                    <a:pt x="3269" y="4449"/>
                  </a:lnTo>
                  <a:lnTo>
                    <a:pt x="3256" y="4487"/>
                  </a:lnTo>
                  <a:lnTo>
                    <a:pt x="3239" y="4527"/>
                  </a:lnTo>
                  <a:lnTo>
                    <a:pt x="3224" y="4560"/>
                  </a:lnTo>
                  <a:lnTo>
                    <a:pt x="3240" y="4600"/>
                  </a:lnTo>
                  <a:lnTo>
                    <a:pt x="3257" y="4642"/>
                  </a:lnTo>
                  <a:lnTo>
                    <a:pt x="3272" y="4682"/>
                  </a:lnTo>
                  <a:lnTo>
                    <a:pt x="3283" y="4724"/>
                  </a:lnTo>
                  <a:lnTo>
                    <a:pt x="3293" y="4765"/>
                  </a:lnTo>
                  <a:lnTo>
                    <a:pt x="3301" y="4805"/>
                  </a:lnTo>
                  <a:lnTo>
                    <a:pt x="3305" y="4846"/>
                  </a:lnTo>
                  <a:lnTo>
                    <a:pt x="3309" y="4888"/>
                  </a:lnTo>
                  <a:lnTo>
                    <a:pt x="3310" y="4927"/>
                  </a:lnTo>
                  <a:lnTo>
                    <a:pt x="3309" y="4969"/>
                  </a:lnTo>
                  <a:lnTo>
                    <a:pt x="3305" y="5010"/>
                  </a:lnTo>
                  <a:lnTo>
                    <a:pt x="3300" y="5050"/>
                  </a:lnTo>
                  <a:lnTo>
                    <a:pt x="3292" y="5091"/>
                  </a:lnTo>
                  <a:lnTo>
                    <a:pt x="3282" y="5130"/>
                  </a:lnTo>
                  <a:lnTo>
                    <a:pt x="3269" y="5170"/>
                  </a:lnTo>
                  <a:lnTo>
                    <a:pt x="3256" y="5209"/>
                  </a:lnTo>
                  <a:lnTo>
                    <a:pt x="3239" y="5248"/>
                  </a:lnTo>
                  <a:lnTo>
                    <a:pt x="3191" y="5356"/>
                  </a:lnTo>
                  <a:lnTo>
                    <a:pt x="3073" y="5366"/>
                  </a:lnTo>
                  <a:lnTo>
                    <a:pt x="886" y="5559"/>
                  </a:lnTo>
                  <a:lnTo>
                    <a:pt x="735" y="5573"/>
                  </a:lnTo>
                  <a:lnTo>
                    <a:pt x="681" y="5430"/>
                  </a:lnTo>
                  <a:lnTo>
                    <a:pt x="668" y="5395"/>
                  </a:lnTo>
                  <a:lnTo>
                    <a:pt x="656" y="5359"/>
                  </a:lnTo>
                  <a:lnTo>
                    <a:pt x="646" y="5323"/>
                  </a:lnTo>
                  <a:lnTo>
                    <a:pt x="636" y="5286"/>
                  </a:lnTo>
                  <a:lnTo>
                    <a:pt x="628" y="5249"/>
                  </a:lnTo>
                  <a:lnTo>
                    <a:pt x="623" y="5210"/>
                  </a:lnTo>
                  <a:lnTo>
                    <a:pt x="618" y="5172"/>
                  </a:lnTo>
                  <a:lnTo>
                    <a:pt x="616" y="5133"/>
                  </a:lnTo>
                  <a:lnTo>
                    <a:pt x="614" y="5091"/>
                  </a:lnTo>
                  <a:lnTo>
                    <a:pt x="617" y="5049"/>
                  </a:lnTo>
                  <a:lnTo>
                    <a:pt x="621" y="5006"/>
                  </a:lnTo>
                  <a:lnTo>
                    <a:pt x="628" y="4963"/>
                  </a:lnTo>
                  <a:lnTo>
                    <a:pt x="633" y="4941"/>
                  </a:lnTo>
                  <a:lnTo>
                    <a:pt x="638" y="4919"/>
                  </a:lnTo>
                  <a:lnTo>
                    <a:pt x="645" y="4897"/>
                  </a:lnTo>
                  <a:lnTo>
                    <a:pt x="652" y="4875"/>
                  </a:lnTo>
                  <a:lnTo>
                    <a:pt x="659" y="4853"/>
                  </a:lnTo>
                  <a:lnTo>
                    <a:pt x="668" y="4831"/>
                  </a:lnTo>
                  <a:lnTo>
                    <a:pt x="677" y="4808"/>
                  </a:lnTo>
                  <a:lnTo>
                    <a:pt x="688" y="4786"/>
                  </a:lnTo>
                  <a:lnTo>
                    <a:pt x="700" y="4759"/>
                  </a:lnTo>
                  <a:lnTo>
                    <a:pt x="681" y="4709"/>
                  </a:lnTo>
                  <a:lnTo>
                    <a:pt x="668" y="4674"/>
                  </a:lnTo>
                  <a:lnTo>
                    <a:pt x="656" y="4638"/>
                  </a:lnTo>
                  <a:lnTo>
                    <a:pt x="646" y="4602"/>
                  </a:lnTo>
                  <a:lnTo>
                    <a:pt x="636" y="4565"/>
                  </a:lnTo>
                  <a:lnTo>
                    <a:pt x="628" y="4528"/>
                  </a:lnTo>
                  <a:lnTo>
                    <a:pt x="623" y="4489"/>
                  </a:lnTo>
                  <a:lnTo>
                    <a:pt x="618" y="4451"/>
                  </a:lnTo>
                  <a:lnTo>
                    <a:pt x="616" y="4412"/>
                  </a:lnTo>
                  <a:lnTo>
                    <a:pt x="614" y="4370"/>
                  </a:lnTo>
                  <a:lnTo>
                    <a:pt x="617" y="4327"/>
                  </a:lnTo>
                  <a:lnTo>
                    <a:pt x="621" y="4285"/>
                  </a:lnTo>
                  <a:lnTo>
                    <a:pt x="628" y="4242"/>
                  </a:lnTo>
                  <a:lnTo>
                    <a:pt x="633" y="4220"/>
                  </a:lnTo>
                  <a:lnTo>
                    <a:pt x="638" y="4198"/>
                  </a:lnTo>
                  <a:lnTo>
                    <a:pt x="645" y="4176"/>
                  </a:lnTo>
                  <a:lnTo>
                    <a:pt x="652" y="4154"/>
                  </a:lnTo>
                  <a:lnTo>
                    <a:pt x="659" y="4132"/>
                  </a:lnTo>
                  <a:lnTo>
                    <a:pt x="668" y="4110"/>
                  </a:lnTo>
                  <a:lnTo>
                    <a:pt x="677" y="4087"/>
                  </a:lnTo>
                  <a:lnTo>
                    <a:pt x="688" y="4064"/>
                  </a:lnTo>
                  <a:lnTo>
                    <a:pt x="736" y="3960"/>
                  </a:lnTo>
                  <a:lnTo>
                    <a:pt x="851" y="3950"/>
                  </a:lnTo>
                  <a:lnTo>
                    <a:pt x="934" y="3943"/>
                  </a:lnTo>
                  <a:lnTo>
                    <a:pt x="934" y="3586"/>
                  </a:lnTo>
                  <a:lnTo>
                    <a:pt x="885" y="3555"/>
                  </a:lnTo>
                  <a:lnTo>
                    <a:pt x="836" y="3522"/>
                  </a:lnTo>
                  <a:lnTo>
                    <a:pt x="789" y="3489"/>
                  </a:lnTo>
                  <a:lnTo>
                    <a:pt x="742" y="3454"/>
                  </a:lnTo>
                  <a:lnTo>
                    <a:pt x="697" y="3417"/>
                  </a:lnTo>
                  <a:lnTo>
                    <a:pt x="653" y="3378"/>
                  </a:lnTo>
                  <a:lnTo>
                    <a:pt x="610" y="3340"/>
                  </a:lnTo>
                  <a:lnTo>
                    <a:pt x="568" y="3299"/>
                  </a:lnTo>
                  <a:lnTo>
                    <a:pt x="527" y="3258"/>
                  </a:lnTo>
                  <a:lnTo>
                    <a:pt x="488" y="3215"/>
                  </a:lnTo>
                  <a:lnTo>
                    <a:pt x="450" y="3170"/>
                  </a:lnTo>
                  <a:lnTo>
                    <a:pt x="414" y="3125"/>
                  </a:lnTo>
                  <a:lnTo>
                    <a:pt x="378" y="3079"/>
                  </a:lnTo>
                  <a:lnTo>
                    <a:pt x="344" y="3031"/>
                  </a:lnTo>
                  <a:lnTo>
                    <a:pt x="311" y="2982"/>
                  </a:lnTo>
                  <a:lnTo>
                    <a:pt x="280" y="2934"/>
                  </a:lnTo>
                  <a:lnTo>
                    <a:pt x="248" y="2878"/>
                  </a:lnTo>
                  <a:lnTo>
                    <a:pt x="217" y="2821"/>
                  </a:lnTo>
                  <a:lnTo>
                    <a:pt x="188" y="2763"/>
                  </a:lnTo>
                  <a:lnTo>
                    <a:pt x="162" y="2705"/>
                  </a:lnTo>
                  <a:lnTo>
                    <a:pt x="136" y="2644"/>
                  </a:lnTo>
                  <a:lnTo>
                    <a:pt x="113" y="2584"/>
                  </a:lnTo>
                  <a:lnTo>
                    <a:pt x="92" y="2523"/>
                  </a:lnTo>
                  <a:lnTo>
                    <a:pt x="73" y="2460"/>
                  </a:lnTo>
                  <a:lnTo>
                    <a:pt x="56" y="2396"/>
                  </a:lnTo>
                  <a:lnTo>
                    <a:pt x="42" y="2332"/>
                  </a:lnTo>
                  <a:lnTo>
                    <a:pt x="29" y="2267"/>
                  </a:lnTo>
                  <a:lnTo>
                    <a:pt x="19" y="2201"/>
                  </a:lnTo>
                  <a:lnTo>
                    <a:pt x="11" y="2135"/>
                  </a:lnTo>
                  <a:lnTo>
                    <a:pt x="5" y="2067"/>
                  </a:lnTo>
                  <a:lnTo>
                    <a:pt x="1" y="2000"/>
                  </a:lnTo>
                  <a:lnTo>
                    <a:pt x="0" y="1932"/>
                  </a:lnTo>
                  <a:lnTo>
                    <a:pt x="0" y="1882"/>
                  </a:lnTo>
                  <a:lnTo>
                    <a:pt x="3" y="1832"/>
                  </a:lnTo>
                  <a:lnTo>
                    <a:pt x="5" y="1783"/>
                  </a:lnTo>
                  <a:lnTo>
                    <a:pt x="10" y="1734"/>
                  </a:lnTo>
                  <a:lnTo>
                    <a:pt x="15" y="1685"/>
                  </a:lnTo>
                  <a:lnTo>
                    <a:pt x="22" y="1638"/>
                  </a:lnTo>
                  <a:lnTo>
                    <a:pt x="30" y="1589"/>
                  </a:lnTo>
                  <a:lnTo>
                    <a:pt x="39" y="1543"/>
                  </a:lnTo>
                  <a:lnTo>
                    <a:pt x="49" y="1495"/>
                  </a:lnTo>
                  <a:lnTo>
                    <a:pt x="61" y="1449"/>
                  </a:lnTo>
                  <a:lnTo>
                    <a:pt x="73" y="1402"/>
                  </a:lnTo>
                  <a:lnTo>
                    <a:pt x="86" y="1357"/>
                  </a:lnTo>
                  <a:lnTo>
                    <a:pt x="101" y="1312"/>
                  </a:lnTo>
                  <a:lnTo>
                    <a:pt x="118" y="1267"/>
                  </a:lnTo>
                  <a:lnTo>
                    <a:pt x="134" y="1223"/>
                  </a:lnTo>
                  <a:lnTo>
                    <a:pt x="151" y="1179"/>
                  </a:lnTo>
                  <a:lnTo>
                    <a:pt x="171" y="1136"/>
                  </a:lnTo>
                  <a:lnTo>
                    <a:pt x="191" y="1094"/>
                  </a:lnTo>
                  <a:lnTo>
                    <a:pt x="212" y="1051"/>
                  </a:lnTo>
                  <a:lnTo>
                    <a:pt x="232" y="1011"/>
                  </a:lnTo>
                  <a:lnTo>
                    <a:pt x="256" y="970"/>
                  </a:lnTo>
                  <a:lnTo>
                    <a:pt x="279" y="930"/>
                  </a:lnTo>
                  <a:lnTo>
                    <a:pt x="304" y="890"/>
                  </a:lnTo>
                  <a:lnTo>
                    <a:pt x="330" y="852"/>
                  </a:lnTo>
                  <a:lnTo>
                    <a:pt x="357" y="813"/>
                  </a:lnTo>
                  <a:lnTo>
                    <a:pt x="383" y="775"/>
                  </a:lnTo>
                  <a:lnTo>
                    <a:pt x="411" y="739"/>
                  </a:lnTo>
                  <a:lnTo>
                    <a:pt x="441" y="702"/>
                  </a:lnTo>
                  <a:lnTo>
                    <a:pt x="470" y="667"/>
                  </a:lnTo>
                  <a:lnTo>
                    <a:pt x="502" y="632"/>
                  </a:lnTo>
                  <a:lnTo>
                    <a:pt x="533" y="599"/>
                  </a:lnTo>
                  <a:lnTo>
                    <a:pt x="566" y="565"/>
                  </a:lnTo>
                  <a:lnTo>
                    <a:pt x="599" y="532"/>
                  </a:lnTo>
                  <a:lnTo>
                    <a:pt x="633" y="501"/>
                  </a:lnTo>
                  <a:lnTo>
                    <a:pt x="668" y="471"/>
                  </a:lnTo>
                  <a:lnTo>
                    <a:pt x="703" y="441"/>
                  </a:lnTo>
                  <a:lnTo>
                    <a:pt x="739" y="412"/>
                  </a:lnTo>
                  <a:lnTo>
                    <a:pt x="776" y="383"/>
                  </a:lnTo>
                  <a:lnTo>
                    <a:pt x="813" y="356"/>
                  </a:lnTo>
                  <a:lnTo>
                    <a:pt x="851" y="329"/>
                  </a:lnTo>
                  <a:lnTo>
                    <a:pt x="891" y="304"/>
                  </a:lnTo>
                  <a:lnTo>
                    <a:pt x="930" y="279"/>
                  </a:lnTo>
                  <a:lnTo>
                    <a:pt x="970" y="255"/>
                  </a:lnTo>
                  <a:lnTo>
                    <a:pt x="1010" y="233"/>
                  </a:lnTo>
                  <a:lnTo>
                    <a:pt x="1052" y="211"/>
                  </a:lnTo>
                  <a:lnTo>
                    <a:pt x="1094" y="190"/>
                  </a:lnTo>
                  <a:lnTo>
                    <a:pt x="1137" y="170"/>
                  </a:lnTo>
                  <a:lnTo>
                    <a:pt x="1180" y="152"/>
                  </a:lnTo>
                  <a:lnTo>
                    <a:pt x="1224" y="133"/>
                  </a:lnTo>
                  <a:lnTo>
                    <a:pt x="1268" y="117"/>
                  </a:lnTo>
                  <a:lnTo>
                    <a:pt x="1312" y="101"/>
                  </a:lnTo>
                  <a:lnTo>
                    <a:pt x="1357" y="87"/>
                  </a:lnTo>
                  <a:lnTo>
                    <a:pt x="1403" y="73"/>
                  </a:lnTo>
                  <a:lnTo>
                    <a:pt x="1449" y="60"/>
                  </a:lnTo>
                  <a:lnTo>
                    <a:pt x="1496" y="48"/>
                  </a:lnTo>
                  <a:lnTo>
                    <a:pt x="1542" y="39"/>
                  </a:lnTo>
                  <a:lnTo>
                    <a:pt x="1590" y="30"/>
                  </a:lnTo>
                  <a:lnTo>
                    <a:pt x="1637" y="22"/>
                  </a:lnTo>
                  <a:lnTo>
                    <a:pt x="1686" y="15"/>
                  </a:lnTo>
                  <a:lnTo>
                    <a:pt x="1735" y="9"/>
                  </a:lnTo>
                  <a:lnTo>
                    <a:pt x="1783" y="5"/>
                  </a:lnTo>
                  <a:lnTo>
                    <a:pt x="1832" y="2"/>
                  </a:lnTo>
                  <a:lnTo>
                    <a:pt x="1882" y="0"/>
                  </a:lnTo>
                  <a:lnTo>
                    <a:pt x="1932" y="0"/>
                  </a:lnTo>
                  <a:close/>
                  <a:moveTo>
                    <a:pt x="1507" y="2300"/>
                  </a:moveTo>
                  <a:lnTo>
                    <a:pt x="1507" y="2300"/>
                  </a:lnTo>
                  <a:lnTo>
                    <a:pt x="1533" y="2310"/>
                  </a:lnTo>
                  <a:lnTo>
                    <a:pt x="1557" y="2318"/>
                  </a:lnTo>
                  <a:lnTo>
                    <a:pt x="1569" y="2321"/>
                  </a:lnTo>
                  <a:lnTo>
                    <a:pt x="1580" y="2323"/>
                  </a:lnTo>
                  <a:lnTo>
                    <a:pt x="1592" y="2324"/>
                  </a:lnTo>
                  <a:lnTo>
                    <a:pt x="1604" y="2324"/>
                  </a:lnTo>
                  <a:lnTo>
                    <a:pt x="1619" y="2324"/>
                  </a:lnTo>
                  <a:lnTo>
                    <a:pt x="1633" y="2322"/>
                  </a:lnTo>
                  <a:lnTo>
                    <a:pt x="1648" y="2318"/>
                  </a:lnTo>
                  <a:lnTo>
                    <a:pt x="1663" y="2314"/>
                  </a:lnTo>
                  <a:lnTo>
                    <a:pt x="1677" y="2308"/>
                  </a:lnTo>
                  <a:lnTo>
                    <a:pt x="1691" y="2300"/>
                  </a:lnTo>
                  <a:lnTo>
                    <a:pt x="1705" y="2289"/>
                  </a:lnTo>
                  <a:lnTo>
                    <a:pt x="1718" y="2279"/>
                  </a:lnTo>
                  <a:lnTo>
                    <a:pt x="1750" y="2251"/>
                  </a:lnTo>
                  <a:lnTo>
                    <a:pt x="1782" y="2276"/>
                  </a:lnTo>
                  <a:lnTo>
                    <a:pt x="1801" y="2290"/>
                  </a:lnTo>
                  <a:lnTo>
                    <a:pt x="1819" y="2303"/>
                  </a:lnTo>
                  <a:lnTo>
                    <a:pt x="1838" y="2314"/>
                  </a:lnTo>
                  <a:lnTo>
                    <a:pt x="1855" y="2323"/>
                  </a:lnTo>
                  <a:lnTo>
                    <a:pt x="1873" y="2330"/>
                  </a:lnTo>
                  <a:lnTo>
                    <a:pt x="1890" y="2336"/>
                  </a:lnTo>
                  <a:lnTo>
                    <a:pt x="1908" y="2339"/>
                  </a:lnTo>
                  <a:lnTo>
                    <a:pt x="1924" y="2340"/>
                  </a:lnTo>
                  <a:lnTo>
                    <a:pt x="1939" y="2340"/>
                  </a:lnTo>
                  <a:lnTo>
                    <a:pt x="1954" y="2338"/>
                  </a:lnTo>
                  <a:lnTo>
                    <a:pt x="1969" y="2333"/>
                  </a:lnTo>
                  <a:lnTo>
                    <a:pt x="1984" y="2328"/>
                  </a:lnTo>
                  <a:lnTo>
                    <a:pt x="1999" y="2319"/>
                  </a:lnTo>
                  <a:lnTo>
                    <a:pt x="2013" y="2309"/>
                  </a:lnTo>
                  <a:lnTo>
                    <a:pt x="2028" y="2296"/>
                  </a:lnTo>
                  <a:lnTo>
                    <a:pt x="2044" y="2282"/>
                  </a:lnTo>
                  <a:lnTo>
                    <a:pt x="2077" y="2246"/>
                  </a:lnTo>
                  <a:lnTo>
                    <a:pt x="2113" y="2279"/>
                  </a:lnTo>
                  <a:lnTo>
                    <a:pt x="2134" y="2295"/>
                  </a:lnTo>
                  <a:lnTo>
                    <a:pt x="2154" y="2308"/>
                  </a:lnTo>
                  <a:lnTo>
                    <a:pt x="2175" y="2319"/>
                  </a:lnTo>
                  <a:lnTo>
                    <a:pt x="2194" y="2326"/>
                  </a:lnTo>
                  <a:lnTo>
                    <a:pt x="2215" y="2332"/>
                  </a:lnTo>
                  <a:lnTo>
                    <a:pt x="2235" y="2336"/>
                  </a:lnTo>
                  <a:lnTo>
                    <a:pt x="2255" y="2337"/>
                  </a:lnTo>
                  <a:lnTo>
                    <a:pt x="2275" y="2336"/>
                  </a:lnTo>
                  <a:lnTo>
                    <a:pt x="2291" y="2333"/>
                  </a:lnTo>
                  <a:lnTo>
                    <a:pt x="2308" y="2330"/>
                  </a:lnTo>
                  <a:lnTo>
                    <a:pt x="2324" y="2325"/>
                  </a:lnTo>
                  <a:lnTo>
                    <a:pt x="2342" y="2319"/>
                  </a:lnTo>
                  <a:lnTo>
                    <a:pt x="2359" y="2314"/>
                  </a:lnTo>
                  <a:lnTo>
                    <a:pt x="2377" y="2307"/>
                  </a:lnTo>
                  <a:lnTo>
                    <a:pt x="2412" y="2290"/>
                  </a:lnTo>
                  <a:lnTo>
                    <a:pt x="2484" y="2175"/>
                  </a:lnTo>
                  <a:lnTo>
                    <a:pt x="2653" y="2281"/>
                  </a:lnTo>
                  <a:lnTo>
                    <a:pt x="2239" y="2948"/>
                  </a:lnTo>
                  <a:lnTo>
                    <a:pt x="2239" y="3826"/>
                  </a:lnTo>
                  <a:lnTo>
                    <a:pt x="2564" y="3799"/>
                  </a:lnTo>
                  <a:lnTo>
                    <a:pt x="2564" y="3450"/>
                  </a:lnTo>
                  <a:lnTo>
                    <a:pt x="2564" y="3332"/>
                  </a:lnTo>
                  <a:lnTo>
                    <a:pt x="2668" y="3274"/>
                  </a:lnTo>
                  <a:lnTo>
                    <a:pt x="2712" y="3248"/>
                  </a:lnTo>
                  <a:lnTo>
                    <a:pt x="2756" y="3222"/>
                  </a:lnTo>
                  <a:lnTo>
                    <a:pt x="2799" y="3194"/>
                  </a:lnTo>
                  <a:lnTo>
                    <a:pt x="2841" y="3163"/>
                  </a:lnTo>
                  <a:lnTo>
                    <a:pt x="2882" y="3132"/>
                  </a:lnTo>
                  <a:lnTo>
                    <a:pt x="2921" y="3100"/>
                  </a:lnTo>
                  <a:lnTo>
                    <a:pt x="2960" y="3066"/>
                  </a:lnTo>
                  <a:lnTo>
                    <a:pt x="2997" y="3031"/>
                  </a:lnTo>
                  <a:lnTo>
                    <a:pt x="3033" y="2995"/>
                  </a:lnTo>
                  <a:lnTo>
                    <a:pt x="3067" y="2958"/>
                  </a:lnTo>
                  <a:lnTo>
                    <a:pt x="3101" y="2918"/>
                  </a:lnTo>
                  <a:lnTo>
                    <a:pt x="3134" y="2879"/>
                  </a:lnTo>
                  <a:lnTo>
                    <a:pt x="3165" y="2838"/>
                  </a:lnTo>
                  <a:lnTo>
                    <a:pt x="3195" y="2797"/>
                  </a:lnTo>
                  <a:lnTo>
                    <a:pt x="3223" y="2754"/>
                  </a:lnTo>
                  <a:lnTo>
                    <a:pt x="3250" y="2711"/>
                  </a:lnTo>
                  <a:lnTo>
                    <a:pt x="3275" y="2667"/>
                  </a:lnTo>
                  <a:lnTo>
                    <a:pt x="3299" y="2624"/>
                  </a:lnTo>
                  <a:lnTo>
                    <a:pt x="3319" y="2578"/>
                  </a:lnTo>
                  <a:lnTo>
                    <a:pt x="3340" y="2533"/>
                  </a:lnTo>
                  <a:lnTo>
                    <a:pt x="3359" y="2487"/>
                  </a:lnTo>
                  <a:lnTo>
                    <a:pt x="3376" y="2439"/>
                  </a:lnTo>
                  <a:lnTo>
                    <a:pt x="3393" y="2391"/>
                  </a:lnTo>
                  <a:lnTo>
                    <a:pt x="3406" y="2343"/>
                  </a:lnTo>
                  <a:lnTo>
                    <a:pt x="3419" y="2293"/>
                  </a:lnTo>
                  <a:lnTo>
                    <a:pt x="3431" y="2243"/>
                  </a:lnTo>
                  <a:lnTo>
                    <a:pt x="3440" y="2193"/>
                  </a:lnTo>
                  <a:lnTo>
                    <a:pt x="3448" y="2142"/>
                  </a:lnTo>
                  <a:lnTo>
                    <a:pt x="3454" y="2089"/>
                  </a:lnTo>
                  <a:lnTo>
                    <a:pt x="3459" y="2037"/>
                  </a:lnTo>
                  <a:lnTo>
                    <a:pt x="3461" y="1985"/>
                  </a:lnTo>
                  <a:lnTo>
                    <a:pt x="3462" y="1932"/>
                  </a:lnTo>
                  <a:lnTo>
                    <a:pt x="3462" y="1892"/>
                  </a:lnTo>
                  <a:lnTo>
                    <a:pt x="3460" y="1853"/>
                  </a:lnTo>
                  <a:lnTo>
                    <a:pt x="3458" y="1814"/>
                  </a:lnTo>
                  <a:lnTo>
                    <a:pt x="3454" y="1775"/>
                  </a:lnTo>
                  <a:lnTo>
                    <a:pt x="3449" y="1737"/>
                  </a:lnTo>
                  <a:lnTo>
                    <a:pt x="3445" y="1698"/>
                  </a:lnTo>
                  <a:lnTo>
                    <a:pt x="3438" y="1661"/>
                  </a:lnTo>
                  <a:lnTo>
                    <a:pt x="3431" y="1623"/>
                  </a:lnTo>
                  <a:lnTo>
                    <a:pt x="3423" y="1586"/>
                  </a:lnTo>
                  <a:lnTo>
                    <a:pt x="3415" y="1548"/>
                  </a:lnTo>
                  <a:lnTo>
                    <a:pt x="3404" y="1512"/>
                  </a:lnTo>
                  <a:lnTo>
                    <a:pt x="3394" y="1476"/>
                  </a:lnTo>
                  <a:lnTo>
                    <a:pt x="3382" y="1440"/>
                  </a:lnTo>
                  <a:lnTo>
                    <a:pt x="3369" y="1406"/>
                  </a:lnTo>
                  <a:lnTo>
                    <a:pt x="3357" y="1371"/>
                  </a:lnTo>
                  <a:lnTo>
                    <a:pt x="3341" y="1336"/>
                  </a:lnTo>
                  <a:lnTo>
                    <a:pt x="3328" y="1301"/>
                  </a:lnTo>
                  <a:lnTo>
                    <a:pt x="3311" y="1267"/>
                  </a:lnTo>
                  <a:lnTo>
                    <a:pt x="3295" y="1235"/>
                  </a:lnTo>
                  <a:lnTo>
                    <a:pt x="3278" y="1202"/>
                  </a:lnTo>
                  <a:lnTo>
                    <a:pt x="3259" y="1170"/>
                  </a:lnTo>
                  <a:lnTo>
                    <a:pt x="3240" y="1137"/>
                  </a:lnTo>
                  <a:lnTo>
                    <a:pt x="3221" y="1106"/>
                  </a:lnTo>
                  <a:lnTo>
                    <a:pt x="3201" y="1076"/>
                  </a:lnTo>
                  <a:lnTo>
                    <a:pt x="3180" y="1046"/>
                  </a:lnTo>
                  <a:lnTo>
                    <a:pt x="3158" y="1015"/>
                  </a:lnTo>
                  <a:lnTo>
                    <a:pt x="3136" y="986"/>
                  </a:lnTo>
                  <a:lnTo>
                    <a:pt x="3113" y="957"/>
                  </a:lnTo>
                  <a:lnTo>
                    <a:pt x="3090" y="930"/>
                  </a:lnTo>
                  <a:lnTo>
                    <a:pt x="3065" y="902"/>
                  </a:lnTo>
                  <a:lnTo>
                    <a:pt x="3040" y="875"/>
                  </a:lnTo>
                  <a:lnTo>
                    <a:pt x="3014" y="849"/>
                  </a:lnTo>
                  <a:lnTo>
                    <a:pt x="2987" y="824"/>
                  </a:lnTo>
                  <a:lnTo>
                    <a:pt x="2961" y="798"/>
                  </a:lnTo>
                  <a:lnTo>
                    <a:pt x="2934" y="774"/>
                  </a:lnTo>
                  <a:lnTo>
                    <a:pt x="2905" y="751"/>
                  </a:lnTo>
                  <a:lnTo>
                    <a:pt x="2877" y="728"/>
                  </a:lnTo>
                  <a:lnTo>
                    <a:pt x="2848" y="704"/>
                  </a:lnTo>
                  <a:lnTo>
                    <a:pt x="2818" y="683"/>
                  </a:lnTo>
                  <a:lnTo>
                    <a:pt x="2788" y="663"/>
                  </a:lnTo>
                  <a:lnTo>
                    <a:pt x="2756" y="642"/>
                  </a:lnTo>
                  <a:lnTo>
                    <a:pt x="2725" y="622"/>
                  </a:lnTo>
                  <a:lnTo>
                    <a:pt x="2694" y="603"/>
                  </a:lnTo>
                  <a:lnTo>
                    <a:pt x="2661" y="586"/>
                  </a:lnTo>
                  <a:lnTo>
                    <a:pt x="2629" y="568"/>
                  </a:lnTo>
                  <a:lnTo>
                    <a:pt x="2595" y="552"/>
                  </a:lnTo>
                  <a:lnTo>
                    <a:pt x="2561" y="536"/>
                  </a:lnTo>
                  <a:lnTo>
                    <a:pt x="2528" y="521"/>
                  </a:lnTo>
                  <a:lnTo>
                    <a:pt x="2493" y="507"/>
                  </a:lnTo>
                  <a:lnTo>
                    <a:pt x="2458" y="494"/>
                  </a:lnTo>
                  <a:lnTo>
                    <a:pt x="2423" y="481"/>
                  </a:lnTo>
                  <a:lnTo>
                    <a:pt x="2387" y="470"/>
                  </a:lnTo>
                  <a:lnTo>
                    <a:pt x="2351" y="459"/>
                  </a:lnTo>
                  <a:lnTo>
                    <a:pt x="2314" y="449"/>
                  </a:lnTo>
                  <a:lnTo>
                    <a:pt x="2277" y="440"/>
                  </a:lnTo>
                  <a:lnTo>
                    <a:pt x="2240" y="431"/>
                  </a:lnTo>
                  <a:lnTo>
                    <a:pt x="2203" y="424"/>
                  </a:lnTo>
                  <a:lnTo>
                    <a:pt x="2164" y="419"/>
                  </a:lnTo>
                  <a:lnTo>
                    <a:pt x="2127" y="413"/>
                  </a:lnTo>
                  <a:lnTo>
                    <a:pt x="2088" y="408"/>
                  </a:lnTo>
                  <a:lnTo>
                    <a:pt x="2049" y="405"/>
                  </a:lnTo>
                  <a:lnTo>
                    <a:pt x="2011" y="402"/>
                  </a:lnTo>
                  <a:lnTo>
                    <a:pt x="1972" y="401"/>
                  </a:lnTo>
                  <a:lnTo>
                    <a:pt x="1932" y="401"/>
                  </a:lnTo>
                  <a:lnTo>
                    <a:pt x="1893" y="401"/>
                  </a:lnTo>
                  <a:lnTo>
                    <a:pt x="1853" y="402"/>
                  </a:lnTo>
                  <a:lnTo>
                    <a:pt x="1814" y="405"/>
                  </a:lnTo>
                  <a:lnTo>
                    <a:pt x="1775" y="408"/>
                  </a:lnTo>
                  <a:lnTo>
                    <a:pt x="1737" y="413"/>
                  </a:lnTo>
                  <a:lnTo>
                    <a:pt x="1699" y="419"/>
                  </a:lnTo>
                  <a:lnTo>
                    <a:pt x="1660" y="424"/>
                  </a:lnTo>
                  <a:lnTo>
                    <a:pt x="1623" y="431"/>
                  </a:lnTo>
                  <a:lnTo>
                    <a:pt x="1586" y="440"/>
                  </a:lnTo>
                  <a:lnTo>
                    <a:pt x="1549" y="449"/>
                  </a:lnTo>
                  <a:lnTo>
                    <a:pt x="1513" y="459"/>
                  </a:lnTo>
                  <a:lnTo>
                    <a:pt x="1477" y="470"/>
                  </a:lnTo>
                  <a:lnTo>
                    <a:pt x="1441" y="481"/>
                  </a:lnTo>
                  <a:lnTo>
                    <a:pt x="1405" y="494"/>
                  </a:lnTo>
                  <a:lnTo>
                    <a:pt x="1370" y="507"/>
                  </a:lnTo>
                  <a:lnTo>
                    <a:pt x="1335" y="521"/>
                  </a:lnTo>
                  <a:lnTo>
                    <a:pt x="1302" y="536"/>
                  </a:lnTo>
                  <a:lnTo>
                    <a:pt x="1268" y="552"/>
                  </a:lnTo>
                  <a:lnTo>
                    <a:pt x="1234" y="568"/>
                  </a:lnTo>
                  <a:lnTo>
                    <a:pt x="1202" y="586"/>
                  </a:lnTo>
                  <a:lnTo>
                    <a:pt x="1169" y="603"/>
                  </a:lnTo>
                  <a:lnTo>
                    <a:pt x="1138" y="622"/>
                  </a:lnTo>
                  <a:lnTo>
                    <a:pt x="1107" y="642"/>
                  </a:lnTo>
                  <a:lnTo>
                    <a:pt x="1076" y="663"/>
                  </a:lnTo>
                  <a:lnTo>
                    <a:pt x="1045" y="683"/>
                  </a:lnTo>
                  <a:lnTo>
                    <a:pt x="1016" y="704"/>
                  </a:lnTo>
                  <a:lnTo>
                    <a:pt x="987" y="728"/>
                  </a:lnTo>
                  <a:lnTo>
                    <a:pt x="958" y="751"/>
                  </a:lnTo>
                  <a:lnTo>
                    <a:pt x="930" y="774"/>
                  </a:lnTo>
                  <a:lnTo>
                    <a:pt x="902" y="798"/>
                  </a:lnTo>
                  <a:lnTo>
                    <a:pt x="876" y="824"/>
                  </a:lnTo>
                  <a:lnTo>
                    <a:pt x="849" y="849"/>
                  </a:lnTo>
                  <a:lnTo>
                    <a:pt x="823" y="875"/>
                  </a:lnTo>
                  <a:lnTo>
                    <a:pt x="799" y="902"/>
                  </a:lnTo>
                  <a:lnTo>
                    <a:pt x="775" y="930"/>
                  </a:lnTo>
                  <a:lnTo>
                    <a:pt x="750" y="957"/>
                  </a:lnTo>
                  <a:lnTo>
                    <a:pt x="728" y="986"/>
                  </a:lnTo>
                  <a:lnTo>
                    <a:pt x="705" y="1015"/>
                  </a:lnTo>
                  <a:lnTo>
                    <a:pt x="684" y="1046"/>
                  </a:lnTo>
                  <a:lnTo>
                    <a:pt x="662" y="1076"/>
                  </a:lnTo>
                  <a:lnTo>
                    <a:pt x="642" y="1106"/>
                  </a:lnTo>
                  <a:lnTo>
                    <a:pt x="623" y="1137"/>
                  </a:lnTo>
                  <a:lnTo>
                    <a:pt x="604" y="1170"/>
                  </a:lnTo>
                  <a:lnTo>
                    <a:pt x="585" y="1202"/>
                  </a:lnTo>
                  <a:lnTo>
                    <a:pt x="569" y="1235"/>
                  </a:lnTo>
                  <a:lnTo>
                    <a:pt x="552" y="1267"/>
                  </a:lnTo>
                  <a:lnTo>
                    <a:pt x="537" y="1301"/>
                  </a:lnTo>
                  <a:lnTo>
                    <a:pt x="522" y="1336"/>
                  </a:lnTo>
                  <a:lnTo>
                    <a:pt x="508" y="1371"/>
                  </a:lnTo>
                  <a:lnTo>
                    <a:pt x="494" y="1406"/>
                  </a:lnTo>
                  <a:lnTo>
                    <a:pt x="482" y="1440"/>
                  </a:lnTo>
                  <a:lnTo>
                    <a:pt x="470" y="1476"/>
                  </a:lnTo>
                  <a:lnTo>
                    <a:pt x="459" y="1512"/>
                  </a:lnTo>
                  <a:lnTo>
                    <a:pt x="450" y="1548"/>
                  </a:lnTo>
                  <a:lnTo>
                    <a:pt x="440" y="1586"/>
                  </a:lnTo>
                  <a:lnTo>
                    <a:pt x="432" y="1623"/>
                  </a:lnTo>
                  <a:lnTo>
                    <a:pt x="425" y="1661"/>
                  </a:lnTo>
                  <a:lnTo>
                    <a:pt x="418" y="1698"/>
                  </a:lnTo>
                  <a:lnTo>
                    <a:pt x="414" y="1737"/>
                  </a:lnTo>
                  <a:lnTo>
                    <a:pt x="409" y="1775"/>
                  </a:lnTo>
                  <a:lnTo>
                    <a:pt x="405" y="1814"/>
                  </a:lnTo>
                  <a:lnTo>
                    <a:pt x="403" y="1853"/>
                  </a:lnTo>
                  <a:lnTo>
                    <a:pt x="402" y="1892"/>
                  </a:lnTo>
                  <a:lnTo>
                    <a:pt x="401" y="1932"/>
                  </a:lnTo>
                  <a:lnTo>
                    <a:pt x="402" y="1986"/>
                  </a:lnTo>
                  <a:lnTo>
                    <a:pt x="405" y="2040"/>
                  </a:lnTo>
                  <a:lnTo>
                    <a:pt x="410" y="2093"/>
                  </a:lnTo>
                  <a:lnTo>
                    <a:pt x="416" y="2146"/>
                  </a:lnTo>
                  <a:lnTo>
                    <a:pt x="424" y="2199"/>
                  </a:lnTo>
                  <a:lnTo>
                    <a:pt x="434" y="2251"/>
                  </a:lnTo>
                  <a:lnTo>
                    <a:pt x="446" y="2301"/>
                  </a:lnTo>
                  <a:lnTo>
                    <a:pt x="459" y="2352"/>
                  </a:lnTo>
                  <a:lnTo>
                    <a:pt x="474" y="2402"/>
                  </a:lnTo>
                  <a:lnTo>
                    <a:pt x="490" y="2451"/>
                  </a:lnTo>
                  <a:lnTo>
                    <a:pt x="509" y="2498"/>
                  </a:lnTo>
                  <a:lnTo>
                    <a:pt x="529" y="2546"/>
                  </a:lnTo>
                  <a:lnTo>
                    <a:pt x="549" y="2592"/>
                  </a:lnTo>
                  <a:lnTo>
                    <a:pt x="573" y="2638"/>
                  </a:lnTo>
                  <a:lnTo>
                    <a:pt x="597" y="2682"/>
                  </a:lnTo>
                  <a:lnTo>
                    <a:pt x="623" y="2726"/>
                  </a:lnTo>
                  <a:lnTo>
                    <a:pt x="650" y="2770"/>
                  </a:lnTo>
                  <a:lnTo>
                    <a:pt x="679" y="2814"/>
                  </a:lnTo>
                  <a:lnTo>
                    <a:pt x="711" y="2856"/>
                  </a:lnTo>
                  <a:lnTo>
                    <a:pt x="743" y="2896"/>
                  </a:lnTo>
                  <a:lnTo>
                    <a:pt x="777" y="2937"/>
                  </a:lnTo>
                  <a:lnTo>
                    <a:pt x="812" y="2975"/>
                  </a:lnTo>
                  <a:lnTo>
                    <a:pt x="848" y="3014"/>
                  </a:lnTo>
                  <a:lnTo>
                    <a:pt x="885" y="3050"/>
                  </a:lnTo>
                  <a:lnTo>
                    <a:pt x="924" y="3085"/>
                  </a:lnTo>
                  <a:lnTo>
                    <a:pt x="964" y="3118"/>
                  </a:lnTo>
                  <a:lnTo>
                    <a:pt x="1004" y="3151"/>
                  </a:lnTo>
                  <a:lnTo>
                    <a:pt x="1047" y="3182"/>
                  </a:lnTo>
                  <a:lnTo>
                    <a:pt x="1090" y="3211"/>
                  </a:lnTo>
                  <a:lnTo>
                    <a:pt x="1135" y="3239"/>
                  </a:lnTo>
                  <a:lnTo>
                    <a:pt x="1180" y="3266"/>
                  </a:lnTo>
                  <a:lnTo>
                    <a:pt x="1226" y="3291"/>
                  </a:lnTo>
                  <a:lnTo>
                    <a:pt x="1335" y="3348"/>
                  </a:lnTo>
                  <a:lnTo>
                    <a:pt x="1335" y="3469"/>
                  </a:lnTo>
                  <a:lnTo>
                    <a:pt x="1335" y="3838"/>
                  </a:lnTo>
                  <a:lnTo>
                    <a:pt x="1674" y="3838"/>
                  </a:lnTo>
                  <a:lnTo>
                    <a:pt x="1674" y="2948"/>
                  </a:lnTo>
                  <a:lnTo>
                    <a:pt x="1260" y="2281"/>
                  </a:lnTo>
                  <a:lnTo>
                    <a:pt x="1431" y="2175"/>
                  </a:lnTo>
                  <a:lnTo>
                    <a:pt x="1507" y="2300"/>
                  </a:lnTo>
                  <a:close/>
                  <a:moveTo>
                    <a:pt x="2326" y="2429"/>
                  </a:moveTo>
                  <a:lnTo>
                    <a:pt x="2326" y="2429"/>
                  </a:lnTo>
                  <a:lnTo>
                    <a:pt x="2305" y="2432"/>
                  </a:lnTo>
                  <a:lnTo>
                    <a:pt x="2284" y="2435"/>
                  </a:lnTo>
                  <a:lnTo>
                    <a:pt x="2258" y="2437"/>
                  </a:lnTo>
                  <a:lnTo>
                    <a:pt x="2234" y="2437"/>
                  </a:lnTo>
                  <a:lnTo>
                    <a:pt x="2208" y="2433"/>
                  </a:lnTo>
                  <a:lnTo>
                    <a:pt x="2184" y="2429"/>
                  </a:lnTo>
                  <a:lnTo>
                    <a:pt x="2158" y="2420"/>
                  </a:lnTo>
                  <a:lnTo>
                    <a:pt x="2134" y="2411"/>
                  </a:lnTo>
                  <a:lnTo>
                    <a:pt x="2109" y="2397"/>
                  </a:lnTo>
                  <a:lnTo>
                    <a:pt x="2083" y="2382"/>
                  </a:lnTo>
                  <a:lnTo>
                    <a:pt x="2063" y="2396"/>
                  </a:lnTo>
                  <a:lnTo>
                    <a:pt x="2045" y="2409"/>
                  </a:lnTo>
                  <a:lnTo>
                    <a:pt x="2024" y="2419"/>
                  </a:lnTo>
                  <a:lnTo>
                    <a:pt x="2004" y="2427"/>
                  </a:lnTo>
                  <a:lnTo>
                    <a:pt x="1983" y="2434"/>
                  </a:lnTo>
                  <a:lnTo>
                    <a:pt x="1962" y="2438"/>
                  </a:lnTo>
                  <a:lnTo>
                    <a:pt x="1941" y="2440"/>
                  </a:lnTo>
                  <a:lnTo>
                    <a:pt x="1920" y="2440"/>
                  </a:lnTo>
                  <a:lnTo>
                    <a:pt x="1900" y="2439"/>
                  </a:lnTo>
                  <a:lnTo>
                    <a:pt x="1879" y="2435"/>
                  </a:lnTo>
                  <a:lnTo>
                    <a:pt x="1858" y="2430"/>
                  </a:lnTo>
                  <a:lnTo>
                    <a:pt x="1837" y="2423"/>
                  </a:lnTo>
                  <a:lnTo>
                    <a:pt x="1816" y="2415"/>
                  </a:lnTo>
                  <a:lnTo>
                    <a:pt x="1794" y="2404"/>
                  </a:lnTo>
                  <a:lnTo>
                    <a:pt x="1773" y="2393"/>
                  </a:lnTo>
                  <a:lnTo>
                    <a:pt x="1752" y="2379"/>
                  </a:lnTo>
                  <a:lnTo>
                    <a:pt x="1735" y="2390"/>
                  </a:lnTo>
                  <a:lnTo>
                    <a:pt x="1716" y="2399"/>
                  </a:lnTo>
                  <a:lnTo>
                    <a:pt x="1699" y="2408"/>
                  </a:lnTo>
                  <a:lnTo>
                    <a:pt x="1679" y="2413"/>
                  </a:lnTo>
                  <a:lnTo>
                    <a:pt x="1660" y="2418"/>
                  </a:lnTo>
                  <a:lnTo>
                    <a:pt x="1642" y="2422"/>
                  </a:lnTo>
                  <a:lnTo>
                    <a:pt x="1622" y="2424"/>
                  </a:lnTo>
                  <a:lnTo>
                    <a:pt x="1602" y="2424"/>
                  </a:lnTo>
                  <a:lnTo>
                    <a:pt x="1585" y="2424"/>
                  </a:lnTo>
                  <a:lnTo>
                    <a:pt x="1860" y="2866"/>
                  </a:lnTo>
                  <a:lnTo>
                    <a:pt x="1875" y="2891"/>
                  </a:lnTo>
                  <a:lnTo>
                    <a:pt x="1875" y="2918"/>
                  </a:lnTo>
                  <a:lnTo>
                    <a:pt x="1875" y="3838"/>
                  </a:lnTo>
                  <a:lnTo>
                    <a:pt x="2038" y="3838"/>
                  </a:lnTo>
                  <a:lnTo>
                    <a:pt x="2038" y="2918"/>
                  </a:lnTo>
                  <a:lnTo>
                    <a:pt x="2038" y="2891"/>
                  </a:lnTo>
                  <a:lnTo>
                    <a:pt x="2053" y="2866"/>
                  </a:lnTo>
                  <a:lnTo>
                    <a:pt x="2326" y="2429"/>
                  </a:lnTo>
                  <a:close/>
                  <a:moveTo>
                    <a:pt x="2506" y="5533"/>
                  </a:moveTo>
                  <a:lnTo>
                    <a:pt x="1402" y="5631"/>
                  </a:lnTo>
                  <a:lnTo>
                    <a:pt x="1405" y="5656"/>
                  </a:lnTo>
                  <a:lnTo>
                    <a:pt x="1410" y="5681"/>
                  </a:lnTo>
                  <a:lnTo>
                    <a:pt x="1417" y="5705"/>
                  </a:lnTo>
                  <a:lnTo>
                    <a:pt x="1424" y="5729"/>
                  </a:lnTo>
                  <a:lnTo>
                    <a:pt x="1432" y="5753"/>
                  </a:lnTo>
                  <a:lnTo>
                    <a:pt x="1441" y="5776"/>
                  </a:lnTo>
                  <a:lnTo>
                    <a:pt x="1451" y="5798"/>
                  </a:lnTo>
                  <a:lnTo>
                    <a:pt x="1463" y="5820"/>
                  </a:lnTo>
                  <a:lnTo>
                    <a:pt x="1475" y="5842"/>
                  </a:lnTo>
                  <a:lnTo>
                    <a:pt x="1489" y="5862"/>
                  </a:lnTo>
                  <a:lnTo>
                    <a:pt x="1503" y="5883"/>
                  </a:lnTo>
                  <a:lnTo>
                    <a:pt x="1516" y="5902"/>
                  </a:lnTo>
                  <a:lnTo>
                    <a:pt x="1533" y="5921"/>
                  </a:lnTo>
                  <a:lnTo>
                    <a:pt x="1549" y="5938"/>
                  </a:lnTo>
                  <a:lnTo>
                    <a:pt x="1566" y="5956"/>
                  </a:lnTo>
                  <a:lnTo>
                    <a:pt x="1584" y="5973"/>
                  </a:lnTo>
                  <a:lnTo>
                    <a:pt x="1602" y="5988"/>
                  </a:lnTo>
                  <a:lnTo>
                    <a:pt x="1622" y="6003"/>
                  </a:lnTo>
                  <a:lnTo>
                    <a:pt x="1642" y="6017"/>
                  </a:lnTo>
                  <a:lnTo>
                    <a:pt x="1663" y="6031"/>
                  </a:lnTo>
                  <a:lnTo>
                    <a:pt x="1685" y="6043"/>
                  </a:lnTo>
                  <a:lnTo>
                    <a:pt x="1706" y="6055"/>
                  </a:lnTo>
                  <a:lnTo>
                    <a:pt x="1729" y="6065"/>
                  </a:lnTo>
                  <a:lnTo>
                    <a:pt x="1752" y="6074"/>
                  </a:lnTo>
                  <a:lnTo>
                    <a:pt x="1775" y="6082"/>
                  </a:lnTo>
                  <a:lnTo>
                    <a:pt x="1799" y="6091"/>
                  </a:lnTo>
                  <a:lnTo>
                    <a:pt x="1823" y="6096"/>
                  </a:lnTo>
                  <a:lnTo>
                    <a:pt x="1849" y="6102"/>
                  </a:lnTo>
                  <a:lnTo>
                    <a:pt x="1873" y="6106"/>
                  </a:lnTo>
                  <a:lnTo>
                    <a:pt x="1900" y="6109"/>
                  </a:lnTo>
                  <a:lnTo>
                    <a:pt x="1925" y="6110"/>
                  </a:lnTo>
                  <a:lnTo>
                    <a:pt x="1951" y="6111"/>
                  </a:lnTo>
                  <a:lnTo>
                    <a:pt x="1980" y="6110"/>
                  </a:lnTo>
                  <a:lnTo>
                    <a:pt x="2008" y="6109"/>
                  </a:lnTo>
                  <a:lnTo>
                    <a:pt x="2035" y="6106"/>
                  </a:lnTo>
                  <a:lnTo>
                    <a:pt x="2063" y="6100"/>
                  </a:lnTo>
                  <a:lnTo>
                    <a:pt x="2090" y="6094"/>
                  </a:lnTo>
                  <a:lnTo>
                    <a:pt x="2117" y="6087"/>
                  </a:lnTo>
                  <a:lnTo>
                    <a:pt x="2142" y="6078"/>
                  </a:lnTo>
                  <a:lnTo>
                    <a:pt x="2168" y="6067"/>
                  </a:lnTo>
                  <a:lnTo>
                    <a:pt x="2192" y="6057"/>
                  </a:lnTo>
                  <a:lnTo>
                    <a:pt x="2215" y="6044"/>
                  </a:lnTo>
                  <a:lnTo>
                    <a:pt x="2239" y="6031"/>
                  </a:lnTo>
                  <a:lnTo>
                    <a:pt x="2262" y="6016"/>
                  </a:lnTo>
                  <a:lnTo>
                    <a:pt x="2284" y="6001"/>
                  </a:lnTo>
                  <a:lnTo>
                    <a:pt x="2305" y="5985"/>
                  </a:lnTo>
                  <a:lnTo>
                    <a:pt x="2324" y="5968"/>
                  </a:lnTo>
                  <a:lnTo>
                    <a:pt x="2344" y="5949"/>
                  </a:lnTo>
                  <a:lnTo>
                    <a:pt x="2362" y="5929"/>
                  </a:lnTo>
                  <a:lnTo>
                    <a:pt x="2379" y="5909"/>
                  </a:lnTo>
                  <a:lnTo>
                    <a:pt x="2396" y="5889"/>
                  </a:lnTo>
                  <a:lnTo>
                    <a:pt x="2412" y="5866"/>
                  </a:lnTo>
                  <a:lnTo>
                    <a:pt x="2425" y="5844"/>
                  </a:lnTo>
                  <a:lnTo>
                    <a:pt x="2439" y="5821"/>
                  </a:lnTo>
                  <a:lnTo>
                    <a:pt x="2451" y="5797"/>
                  </a:lnTo>
                  <a:lnTo>
                    <a:pt x="2463" y="5772"/>
                  </a:lnTo>
                  <a:lnTo>
                    <a:pt x="2473" y="5747"/>
                  </a:lnTo>
                  <a:lnTo>
                    <a:pt x="2481" y="5721"/>
                  </a:lnTo>
                  <a:lnTo>
                    <a:pt x="2489" y="5695"/>
                  </a:lnTo>
                  <a:lnTo>
                    <a:pt x="2495" y="5668"/>
                  </a:lnTo>
                  <a:lnTo>
                    <a:pt x="2500" y="5641"/>
                  </a:lnTo>
                  <a:lnTo>
                    <a:pt x="2503" y="5613"/>
                  </a:lnTo>
                  <a:lnTo>
                    <a:pt x="2506" y="5584"/>
                  </a:lnTo>
                  <a:lnTo>
                    <a:pt x="2507" y="5556"/>
                  </a:lnTo>
                  <a:lnTo>
                    <a:pt x="2506" y="5533"/>
                  </a:lnTo>
                  <a:close/>
                  <a:moveTo>
                    <a:pt x="2908" y="4892"/>
                  </a:moveTo>
                  <a:lnTo>
                    <a:pt x="1018" y="5060"/>
                  </a:lnTo>
                  <a:lnTo>
                    <a:pt x="1015" y="5089"/>
                  </a:lnTo>
                  <a:lnTo>
                    <a:pt x="1015" y="5118"/>
                  </a:lnTo>
                  <a:lnTo>
                    <a:pt x="1017" y="5144"/>
                  </a:lnTo>
                  <a:lnTo>
                    <a:pt x="2906" y="4978"/>
                  </a:lnTo>
                  <a:lnTo>
                    <a:pt x="2908" y="4953"/>
                  </a:lnTo>
                  <a:lnTo>
                    <a:pt x="2910" y="4927"/>
                  </a:lnTo>
                  <a:lnTo>
                    <a:pt x="2910" y="4910"/>
                  </a:lnTo>
                  <a:lnTo>
                    <a:pt x="2908" y="4892"/>
                  </a:lnTo>
                  <a:close/>
                  <a:moveTo>
                    <a:pt x="2908" y="4171"/>
                  </a:moveTo>
                  <a:lnTo>
                    <a:pt x="1018" y="4337"/>
                  </a:lnTo>
                  <a:lnTo>
                    <a:pt x="1015" y="4368"/>
                  </a:lnTo>
                  <a:lnTo>
                    <a:pt x="1015" y="4397"/>
                  </a:lnTo>
                  <a:lnTo>
                    <a:pt x="1017" y="4423"/>
                  </a:lnTo>
                  <a:lnTo>
                    <a:pt x="2906" y="4257"/>
                  </a:lnTo>
                  <a:lnTo>
                    <a:pt x="2908" y="4232"/>
                  </a:lnTo>
                  <a:lnTo>
                    <a:pt x="2910" y="4206"/>
                  </a:lnTo>
                  <a:lnTo>
                    <a:pt x="2910" y="4189"/>
                  </a:lnTo>
                  <a:lnTo>
                    <a:pt x="2908" y="4171"/>
                  </a:lnTo>
                  <a:close/>
                </a:path>
              </a:pathLst>
            </a:custGeom>
            <a:solidFill>
              <a:srgbClr val="557199"/>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a:lstStyle>
            <a:p>
              <a:pPr algn="ctr">
                <a:defRPr/>
              </a:pP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2" name="椭圆 11"/>
            <p:cNvSpPr/>
            <p:nvPr/>
          </p:nvSpPr>
          <p:spPr>
            <a:xfrm>
              <a:off x="7206933" y="3410485"/>
              <a:ext cx="872490" cy="872490"/>
            </a:xfrm>
            <a:prstGeom prst="ellipse">
              <a:avLst/>
            </a:prstGeom>
            <a:solidFill>
              <a:srgbClr val="557199"/>
            </a:solidFill>
            <a:ln w="444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3" name="椭圆 12"/>
            <p:cNvSpPr/>
            <p:nvPr/>
          </p:nvSpPr>
          <p:spPr>
            <a:xfrm>
              <a:off x="7952740" y="2235945"/>
              <a:ext cx="872490" cy="872490"/>
            </a:xfrm>
            <a:prstGeom prst="ellipse">
              <a:avLst/>
            </a:prstGeom>
            <a:solidFill>
              <a:srgbClr val="9FACC3"/>
            </a:solidFill>
            <a:ln w="444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4" name="椭圆 13"/>
            <p:cNvSpPr/>
            <p:nvPr/>
          </p:nvSpPr>
          <p:spPr>
            <a:xfrm>
              <a:off x="9928860" y="2235945"/>
              <a:ext cx="872490" cy="872490"/>
            </a:xfrm>
            <a:prstGeom prst="ellipse">
              <a:avLst/>
            </a:prstGeom>
            <a:solidFill>
              <a:srgbClr val="557199"/>
            </a:solidFill>
            <a:ln w="444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8" name="椭圆 17"/>
            <p:cNvSpPr/>
            <p:nvPr/>
          </p:nvSpPr>
          <p:spPr>
            <a:xfrm>
              <a:off x="10707688" y="3410485"/>
              <a:ext cx="872490" cy="872490"/>
            </a:xfrm>
            <a:prstGeom prst="ellipse">
              <a:avLst/>
            </a:prstGeom>
            <a:solidFill>
              <a:srgbClr val="9FACC3"/>
            </a:solidFill>
            <a:ln w="444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48" name="放大镜"/>
            <p:cNvSpPr/>
            <p:nvPr/>
          </p:nvSpPr>
          <p:spPr>
            <a:xfrm>
              <a:off x="10901363" y="3558440"/>
              <a:ext cx="485775" cy="576580"/>
            </a:xfrm>
            <a:custGeom>
              <a:avLst/>
              <a:gdLst>
                <a:gd name="connsiteX0" fmla="*/ 1638300 w 4396363"/>
                <a:gd name="connsiteY0" fmla="*/ 558403 h 5128349"/>
                <a:gd name="connsiteX1" fmla="*/ 558403 w 4396363"/>
                <a:gd name="connsiteY1" fmla="*/ 1638300 h 5128349"/>
                <a:gd name="connsiteX2" fmla="*/ 1638300 w 4396363"/>
                <a:gd name="connsiteY2" fmla="*/ 2718197 h 5128349"/>
                <a:gd name="connsiteX3" fmla="*/ 2718197 w 4396363"/>
                <a:gd name="connsiteY3" fmla="*/ 1638300 h 5128349"/>
                <a:gd name="connsiteX4" fmla="*/ 1638300 w 4396363"/>
                <a:gd name="connsiteY4" fmla="*/ 558403 h 5128349"/>
                <a:gd name="connsiteX5" fmla="*/ 1638300 w 4396363"/>
                <a:gd name="connsiteY5" fmla="*/ 0 h 5128349"/>
                <a:gd name="connsiteX6" fmla="*/ 3276600 w 4396363"/>
                <a:gd name="connsiteY6" fmla="*/ 1638300 h 5128349"/>
                <a:gd name="connsiteX7" fmla="*/ 2902492 w 4396363"/>
                <a:gd name="connsiteY7" fmla="*/ 2680411 h 5128349"/>
                <a:gd name="connsiteX8" fmla="*/ 2816386 w 4396363"/>
                <a:gd name="connsiteY8" fmla="*/ 2775151 h 5128349"/>
                <a:gd name="connsiteX9" fmla="*/ 2928393 w 4396363"/>
                <a:gd name="connsiteY9" fmla="*/ 2923790 h 5128349"/>
                <a:gd name="connsiteX10" fmla="*/ 2942554 w 4396363"/>
                <a:gd name="connsiteY10" fmla="*/ 2913119 h 5128349"/>
                <a:gd name="connsiteX11" fmla="*/ 3136485 w 4396363"/>
                <a:gd name="connsiteY11" fmla="*/ 2942400 h 5128349"/>
                <a:gd name="connsiteX12" fmla="*/ 4367683 w 4396363"/>
                <a:gd name="connsiteY12" fmla="*/ 4576254 h 5128349"/>
                <a:gd name="connsiteX13" fmla="*/ 4342375 w 4396363"/>
                <a:gd name="connsiteY13" fmla="*/ 4770744 h 5128349"/>
                <a:gd name="connsiteX14" fmla="*/ 3903910 w 4396363"/>
                <a:gd name="connsiteY14" fmla="*/ 5101151 h 5128349"/>
                <a:gd name="connsiteX15" fmla="*/ 3709978 w 4396363"/>
                <a:gd name="connsiteY15" fmla="*/ 5071870 h 5128349"/>
                <a:gd name="connsiteX16" fmla="*/ 2478781 w 4396363"/>
                <a:gd name="connsiteY16" fmla="*/ 3438015 h 5128349"/>
                <a:gd name="connsiteX17" fmla="*/ 2504089 w 4396363"/>
                <a:gd name="connsiteY17" fmla="*/ 3243526 h 5128349"/>
                <a:gd name="connsiteX18" fmla="*/ 2518249 w 4396363"/>
                <a:gd name="connsiteY18" fmla="*/ 3232855 h 5128349"/>
                <a:gd name="connsiteX19" fmla="*/ 2406738 w 4396363"/>
                <a:gd name="connsiteY19" fmla="*/ 3084875 h 5128349"/>
                <a:gd name="connsiteX20" fmla="*/ 2276001 w 4396363"/>
                <a:gd name="connsiteY20" fmla="*/ 3147854 h 5128349"/>
                <a:gd name="connsiteX21" fmla="*/ 1638300 w 4396363"/>
                <a:gd name="connsiteY21" fmla="*/ 3276600 h 5128349"/>
                <a:gd name="connsiteX22" fmla="*/ 0 w 4396363"/>
                <a:gd name="connsiteY22" fmla="*/ 1638300 h 5128349"/>
                <a:gd name="connsiteX23" fmla="*/ 1638300 w 4396363"/>
                <a:gd name="connsiteY23" fmla="*/ 0 h 5128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96363" h="5128349">
                  <a:moveTo>
                    <a:pt x="1638300" y="558403"/>
                  </a:moveTo>
                  <a:cubicBezTo>
                    <a:pt x="1041889" y="558403"/>
                    <a:pt x="558403" y="1041889"/>
                    <a:pt x="558403" y="1638300"/>
                  </a:cubicBezTo>
                  <a:cubicBezTo>
                    <a:pt x="558403" y="2234711"/>
                    <a:pt x="1041889" y="2718197"/>
                    <a:pt x="1638300" y="2718197"/>
                  </a:cubicBezTo>
                  <a:cubicBezTo>
                    <a:pt x="2234711" y="2718197"/>
                    <a:pt x="2718197" y="2234711"/>
                    <a:pt x="2718197" y="1638300"/>
                  </a:cubicBezTo>
                  <a:cubicBezTo>
                    <a:pt x="2718197" y="1041889"/>
                    <a:pt x="2234711" y="558403"/>
                    <a:pt x="1638300" y="558403"/>
                  </a:cubicBezTo>
                  <a:close/>
                  <a:moveTo>
                    <a:pt x="1638300" y="0"/>
                  </a:moveTo>
                  <a:cubicBezTo>
                    <a:pt x="2543108" y="0"/>
                    <a:pt x="3276600" y="733492"/>
                    <a:pt x="3276600" y="1638300"/>
                  </a:cubicBezTo>
                  <a:cubicBezTo>
                    <a:pt x="3276600" y="2034154"/>
                    <a:pt x="3136205" y="2397216"/>
                    <a:pt x="2902492" y="2680411"/>
                  </a:cubicBezTo>
                  <a:lnTo>
                    <a:pt x="2816386" y="2775151"/>
                  </a:lnTo>
                  <a:lnTo>
                    <a:pt x="2928393" y="2923790"/>
                  </a:lnTo>
                  <a:lnTo>
                    <a:pt x="2942554" y="2913119"/>
                  </a:lnTo>
                  <a:cubicBezTo>
                    <a:pt x="3003095" y="2867498"/>
                    <a:pt x="3089921" y="2880607"/>
                    <a:pt x="3136485" y="2942400"/>
                  </a:cubicBezTo>
                  <a:lnTo>
                    <a:pt x="4367683" y="4576254"/>
                  </a:lnTo>
                  <a:cubicBezTo>
                    <a:pt x="4414247" y="4638047"/>
                    <a:pt x="4402916" y="4725123"/>
                    <a:pt x="4342375" y="4770744"/>
                  </a:cubicBezTo>
                  <a:lnTo>
                    <a:pt x="3903910" y="5101151"/>
                  </a:lnTo>
                  <a:cubicBezTo>
                    <a:pt x="3843369" y="5146772"/>
                    <a:pt x="3756543" y="5133662"/>
                    <a:pt x="3709978" y="5071870"/>
                  </a:cubicBezTo>
                  <a:lnTo>
                    <a:pt x="2478781" y="3438015"/>
                  </a:lnTo>
                  <a:cubicBezTo>
                    <a:pt x="2432217" y="3376223"/>
                    <a:pt x="2443548" y="3289147"/>
                    <a:pt x="2504089" y="3243526"/>
                  </a:cubicBezTo>
                  <a:lnTo>
                    <a:pt x="2518249" y="3232855"/>
                  </a:lnTo>
                  <a:lnTo>
                    <a:pt x="2406738" y="3084875"/>
                  </a:lnTo>
                  <a:lnTo>
                    <a:pt x="2276001" y="3147854"/>
                  </a:lnTo>
                  <a:cubicBezTo>
                    <a:pt x="2079997" y="3230757"/>
                    <a:pt x="1864502" y="3276600"/>
                    <a:pt x="1638300" y="3276600"/>
                  </a:cubicBezTo>
                  <a:cubicBezTo>
                    <a:pt x="733492" y="3276600"/>
                    <a:pt x="0" y="2543108"/>
                    <a:pt x="0" y="1638300"/>
                  </a:cubicBezTo>
                  <a:cubicBezTo>
                    <a:pt x="0" y="733492"/>
                    <a:pt x="733492" y="0"/>
                    <a:pt x="16383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49" name="电池"/>
            <p:cNvSpPr/>
            <p:nvPr/>
          </p:nvSpPr>
          <p:spPr>
            <a:xfrm>
              <a:off x="7461568" y="3573680"/>
              <a:ext cx="363855" cy="546100"/>
            </a:xfrm>
            <a:custGeom>
              <a:avLst/>
              <a:gdLst>
                <a:gd name="connsiteX0" fmla="*/ 703180 w 3238500"/>
                <a:gd name="connsiteY0" fmla="*/ 4435548 h 5638341"/>
                <a:gd name="connsiteX1" fmla="*/ 2535317 w 3238500"/>
                <a:gd name="connsiteY1" fmla="*/ 4435548 h 5638341"/>
                <a:gd name="connsiteX2" fmla="*/ 2535317 w 3238500"/>
                <a:gd name="connsiteY2" fmla="*/ 4838393 h 5638341"/>
                <a:gd name="connsiteX3" fmla="*/ 703180 w 3238500"/>
                <a:gd name="connsiteY3" fmla="*/ 4838393 h 5638341"/>
                <a:gd name="connsiteX4" fmla="*/ 703181 w 3238500"/>
                <a:gd name="connsiteY4" fmla="*/ 3675025 h 5638341"/>
                <a:gd name="connsiteX5" fmla="*/ 2535318 w 3238500"/>
                <a:gd name="connsiteY5" fmla="*/ 3675025 h 5638341"/>
                <a:gd name="connsiteX6" fmla="*/ 2535318 w 3238500"/>
                <a:gd name="connsiteY6" fmla="*/ 4077870 h 5638341"/>
                <a:gd name="connsiteX7" fmla="*/ 703181 w 3238500"/>
                <a:gd name="connsiteY7" fmla="*/ 4077870 h 5638341"/>
                <a:gd name="connsiteX8" fmla="*/ 703181 w 3238500"/>
                <a:gd name="connsiteY8" fmla="*/ 2914502 h 5638341"/>
                <a:gd name="connsiteX9" fmla="*/ 2535318 w 3238500"/>
                <a:gd name="connsiteY9" fmla="*/ 2914502 h 5638341"/>
                <a:gd name="connsiteX10" fmla="*/ 2535318 w 3238500"/>
                <a:gd name="connsiteY10" fmla="*/ 3317347 h 5638341"/>
                <a:gd name="connsiteX11" fmla="*/ 703181 w 3238500"/>
                <a:gd name="connsiteY11" fmla="*/ 3317347 h 5638341"/>
                <a:gd name="connsiteX12" fmla="*/ 703181 w 3238500"/>
                <a:gd name="connsiteY12" fmla="*/ 2153979 h 5638341"/>
                <a:gd name="connsiteX13" fmla="*/ 2535318 w 3238500"/>
                <a:gd name="connsiteY13" fmla="*/ 2153979 h 5638341"/>
                <a:gd name="connsiteX14" fmla="*/ 2535318 w 3238500"/>
                <a:gd name="connsiteY14" fmla="*/ 2556824 h 5638341"/>
                <a:gd name="connsiteX15" fmla="*/ 703181 w 3238500"/>
                <a:gd name="connsiteY15" fmla="*/ 2556824 h 5638341"/>
                <a:gd name="connsiteX16" fmla="*/ 703181 w 3238500"/>
                <a:gd name="connsiteY16" fmla="*/ 1393456 h 5638341"/>
                <a:gd name="connsiteX17" fmla="*/ 2535318 w 3238500"/>
                <a:gd name="connsiteY17" fmla="*/ 1393456 h 5638341"/>
                <a:gd name="connsiteX18" fmla="*/ 2535318 w 3238500"/>
                <a:gd name="connsiteY18" fmla="*/ 1796301 h 5638341"/>
                <a:gd name="connsiteX19" fmla="*/ 703181 w 3238500"/>
                <a:gd name="connsiteY19" fmla="*/ 1796301 h 5638341"/>
                <a:gd name="connsiteX20" fmla="*/ 545879 w 3238500"/>
                <a:gd name="connsiteY20" fmla="*/ 854765 h 5638341"/>
                <a:gd name="connsiteX21" fmla="*/ 355211 w 3238500"/>
                <a:gd name="connsiteY21" fmla="*/ 1045433 h 5638341"/>
                <a:gd name="connsiteX22" fmla="*/ 355211 w 3238500"/>
                <a:gd name="connsiteY22" fmla="*/ 5115447 h 5638341"/>
                <a:gd name="connsiteX23" fmla="*/ 545879 w 3238500"/>
                <a:gd name="connsiteY23" fmla="*/ 5306115 h 5638341"/>
                <a:gd name="connsiteX24" fmla="*/ 2692622 w 3238500"/>
                <a:gd name="connsiteY24" fmla="*/ 5306115 h 5638341"/>
                <a:gd name="connsiteX25" fmla="*/ 2883290 w 3238500"/>
                <a:gd name="connsiteY25" fmla="*/ 5115447 h 5638341"/>
                <a:gd name="connsiteX26" fmla="*/ 2883290 w 3238500"/>
                <a:gd name="connsiteY26" fmla="*/ 1045433 h 5638341"/>
                <a:gd name="connsiteX27" fmla="*/ 2692622 w 3238500"/>
                <a:gd name="connsiteY27" fmla="*/ 854765 h 5638341"/>
                <a:gd name="connsiteX28" fmla="*/ 1055257 w 3238500"/>
                <a:gd name="connsiteY28" fmla="*/ 0 h 5638341"/>
                <a:gd name="connsiteX29" fmla="*/ 2197532 w 3238500"/>
                <a:gd name="connsiteY29" fmla="*/ 0 h 5638341"/>
                <a:gd name="connsiteX30" fmla="*/ 2331244 w 3238500"/>
                <a:gd name="connsiteY30" fmla="*/ 133712 h 5638341"/>
                <a:gd name="connsiteX31" fmla="*/ 2331244 w 3238500"/>
                <a:gd name="connsiteY31" fmla="*/ 522540 h 5638341"/>
                <a:gd name="connsiteX32" fmla="*/ 2718105 w 3238500"/>
                <a:gd name="connsiteY32" fmla="*/ 522540 h 5638341"/>
                <a:gd name="connsiteX33" fmla="*/ 3238500 w 3238500"/>
                <a:gd name="connsiteY33" fmla="*/ 1042935 h 5638341"/>
                <a:gd name="connsiteX34" fmla="*/ 3238500 w 3238500"/>
                <a:gd name="connsiteY34" fmla="*/ 5117946 h 5638341"/>
                <a:gd name="connsiteX35" fmla="*/ 2718105 w 3238500"/>
                <a:gd name="connsiteY35" fmla="*/ 5638341 h 5638341"/>
                <a:gd name="connsiteX36" fmla="*/ 520395 w 3238500"/>
                <a:gd name="connsiteY36" fmla="*/ 5638341 h 5638341"/>
                <a:gd name="connsiteX37" fmla="*/ 0 w 3238500"/>
                <a:gd name="connsiteY37" fmla="*/ 5117946 h 5638341"/>
                <a:gd name="connsiteX38" fmla="*/ 0 w 3238500"/>
                <a:gd name="connsiteY38" fmla="*/ 1042935 h 5638341"/>
                <a:gd name="connsiteX39" fmla="*/ 520395 w 3238500"/>
                <a:gd name="connsiteY39" fmla="*/ 522540 h 5638341"/>
                <a:gd name="connsiteX40" fmla="*/ 921545 w 3238500"/>
                <a:gd name="connsiteY40" fmla="*/ 522540 h 5638341"/>
                <a:gd name="connsiteX41" fmla="*/ 921545 w 3238500"/>
                <a:gd name="connsiteY41" fmla="*/ 133712 h 5638341"/>
                <a:gd name="connsiteX42" fmla="*/ 1055257 w 3238500"/>
                <a:gd name="connsiteY42" fmla="*/ 0 h 5638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38500" h="5638341">
                  <a:moveTo>
                    <a:pt x="703180" y="4435548"/>
                  </a:moveTo>
                  <a:lnTo>
                    <a:pt x="2535317" y="4435548"/>
                  </a:lnTo>
                  <a:lnTo>
                    <a:pt x="2535317" y="4838393"/>
                  </a:lnTo>
                  <a:lnTo>
                    <a:pt x="703180" y="4838393"/>
                  </a:lnTo>
                  <a:close/>
                  <a:moveTo>
                    <a:pt x="703181" y="3675025"/>
                  </a:moveTo>
                  <a:lnTo>
                    <a:pt x="2535318" y="3675025"/>
                  </a:lnTo>
                  <a:lnTo>
                    <a:pt x="2535318" y="4077870"/>
                  </a:lnTo>
                  <a:lnTo>
                    <a:pt x="703181" y="4077870"/>
                  </a:lnTo>
                  <a:close/>
                  <a:moveTo>
                    <a:pt x="703181" y="2914502"/>
                  </a:moveTo>
                  <a:lnTo>
                    <a:pt x="2535318" y="2914502"/>
                  </a:lnTo>
                  <a:lnTo>
                    <a:pt x="2535318" y="3317347"/>
                  </a:lnTo>
                  <a:lnTo>
                    <a:pt x="703181" y="3317347"/>
                  </a:lnTo>
                  <a:close/>
                  <a:moveTo>
                    <a:pt x="703181" y="2153979"/>
                  </a:moveTo>
                  <a:lnTo>
                    <a:pt x="2535318" y="2153979"/>
                  </a:lnTo>
                  <a:lnTo>
                    <a:pt x="2535318" y="2556824"/>
                  </a:lnTo>
                  <a:lnTo>
                    <a:pt x="703181" y="2556824"/>
                  </a:lnTo>
                  <a:close/>
                  <a:moveTo>
                    <a:pt x="703181" y="1393456"/>
                  </a:moveTo>
                  <a:lnTo>
                    <a:pt x="2535318" y="1393456"/>
                  </a:lnTo>
                  <a:lnTo>
                    <a:pt x="2535318" y="1796301"/>
                  </a:lnTo>
                  <a:lnTo>
                    <a:pt x="703181" y="1796301"/>
                  </a:lnTo>
                  <a:close/>
                  <a:moveTo>
                    <a:pt x="545879" y="854765"/>
                  </a:moveTo>
                  <a:cubicBezTo>
                    <a:pt x="440576" y="854765"/>
                    <a:pt x="355211" y="940130"/>
                    <a:pt x="355211" y="1045433"/>
                  </a:cubicBezTo>
                  <a:lnTo>
                    <a:pt x="355211" y="5115447"/>
                  </a:lnTo>
                  <a:cubicBezTo>
                    <a:pt x="355211" y="5220750"/>
                    <a:pt x="440576" y="5306115"/>
                    <a:pt x="545879" y="5306115"/>
                  </a:cubicBezTo>
                  <a:lnTo>
                    <a:pt x="2692622" y="5306115"/>
                  </a:lnTo>
                  <a:cubicBezTo>
                    <a:pt x="2797925" y="5306115"/>
                    <a:pt x="2883290" y="5220750"/>
                    <a:pt x="2883290" y="5115447"/>
                  </a:cubicBezTo>
                  <a:lnTo>
                    <a:pt x="2883290" y="1045433"/>
                  </a:lnTo>
                  <a:cubicBezTo>
                    <a:pt x="2883290" y="940130"/>
                    <a:pt x="2797925" y="854765"/>
                    <a:pt x="2692622" y="854765"/>
                  </a:cubicBezTo>
                  <a:close/>
                  <a:moveTo>
                    <a:pt x="1055257" y="0"/>
                  </a:moveTo>
                  <a:lnTo>
                    <a:pt x="2197532" y="0"/>
                  </a:lnTo>
                  <a:cubicBezTo>
                    <a:pt x="2271379" y="0"/>
                    <a:pt x="2331244" y="59865"/>
                    <a:pt x="2331244" y="133712"/>
                  </a:cubicBezTo>
                  <a:lnTo>
                    <a:pt x="2331244" y="522540"/>
                  </a:lnTo>
                  <a:lnTo>
                    <a:pt x="2718105" y="522540"/>
                  </a:lnTo>
                  <a:cubicBezTo>
                    <a:pt x="3005511" y="522540"/>
                    <a:pt x="3238500" y="755529"/>
                    <a:pt x="3238500" y="1042935"/>
                  </a:cubicBezTo>
                  <a:lnTo>
                    <a:pt x="3238500" y="5117946"/>
                  </a:lnTo>
                  <a:cubicBezTo>
                    <a:pt x="3238500" y="5405352"/>
                    <a:pt x="3005511" y="5638341"/>
                    <a:pt x="2718105" y="5638341"/>
                  </a:cubicBezTo>
                  <a:lnTo>
                    <a:pt x="520395" y="5638341"/>
                  </a:lnTo>
                  <a:cubicBezTo>
                    <a:pt x="232989" y="5638341"/>
                    <a:pt x="0" y="5405352"/>
                    <a:pt x="0" y="5117946"/>
                  </a:cubicBezTo>
                  <a:lnTo>
                    <a:pt x="0" y="1042935"/>
                  </a:lnTo>
                  <a:cubicBezTo>
                    <a:pt x="0" y="755529"/>
                    <a:pt x="232989" y="522540"/>
                    <a:pt x="520395" y="522540"/>
                  </a:cubicBezTo>
                  <a:lnTo>
                    <a:pt x="921545" y="522540"/>
                  </a:lnTo>
                  <a:lnTo>
                    <a:pt x="921545" y="133712"/>
                  </a:lnTo>
                  <a:cubicBezTo>
                    <a:pt x="921545" y="59865"/>
                    <a:pt x="981410" y="0"/>
                    <a:pt x="10552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50" name="雨伞"/>
            <p:cNvSpPr/>
            <p:nvPr/>
          </p:nvSpPr>
          <p:spPr>
            <a:xfrm>
              <a:off x="10112375" y="2399140"/>
              <a:ext cx="546735" cy="546735"/>
            </a:xfrm>
            <a:custGeom>
              <a:avLst/>
              <a:gdLst>
                <a:gd name="connsiteX0" fmla="*/ 10295531 w 10295617"/>
                <a:gd name="connsiteY0" fmla="*/ 6044312 h 10760938"/>
                <a:gd name="connsiteX1" fmla="*/ 10295617 w 10295617"/>
                <a:gd name="connsiteY1" fmla="*/ 6046023 h 10760938"/>
                <a:gd name="connsiteX2" fmla="*/ 10295311 w 10295617"/>
                <a:gd name="connsiteY2" fmla="*/ 6046023 h 10760938"/>
                <a:gd name="connsiteX3" fmla="*/ 86 w 10295617"/>
                <a:gd name="connsiteY3" fmla="*/ 6044312 h 10760938"/>
                <a:gd name="connsiteX4" fmla="*/ 306 w 10295617"/>
                <a:gd name="connsiteY4" fmla="*/ 6046023 h 10760938"/>
                <a:gd name="connsiteX5" fmla="*/ 0 w 10295617"/>
                <a:gd name="connsiteY5" fmla="*/ 6046023 h 10760938"/>
                <a:gd name="connsiteX6" fmla="*/ 5147809 w 10295617"/>
                <a:gd name="connsiteY6" fmla="*/ 0 h 10760938"/>
                <a:gd name="connsiteX7" fmla="*/ 5325006 w 10295617"/>
                <a:gd name="connsiteY7" fmla="*/ 177197 h 10760938"/>
                <a:gd name="connsiteX8" fmla="*/ 5325006 w 10295617"/>
                <a:gd name="connsiteY8" fmla="*/ 837837 h 10760938"/>
                <a:gd name="connsiteX9" fmla="*/ 5396256 w 10295617"/>
                <a:gd name="connsiteY9" fmla="*/ 839547 h 10760938"/>
                <a:gd name="connsiteX10" fmla="*/ 10269039 w 10295617"/>
                <a:gd name="connsiteY10" fmla="*/ 5513084 h 10760938"/>
                <a:gd name="connsiteX11" fmla="*/ 10295425 w 10295617"/>
                <a:gd name="connsiteY11" fmla="*/ 6042158 h 10760938"/>
                <a:gd name="connsiteX12" fmla="*/ 10260748 w 10295617"/>
                <a:gd name="connsiteY12" fmla="*/ 5773580 h 10760938"/>
                <a:gd name="connsiteX13" fmla="*/ 8579250 w 10295617"/>
                <a:gd name="connsiteY13" fmla="*/ 4703575 h 10760938"/>
                <a:gd name="connsiteX14" fmla="*/ 6897754 w 10295617"/>
                <a:gd name="connsiteY14" fmla="*/ 5773580 h 10760938"/>
                <a:gd name="connsiteX15" fmla="*/ 6863530 w 10295617"/>
                <a:gd name="connsiteY15" fmla="*/ 6038646 h 10760938"/>
                <a:gd name="connsiteX16" fmla="*/ 6829306 w 10295617"/>
                <a:gd name="connsiteY16" fmla="*/ 5773580 h 10760938"/>
                <a:gd name="connsiteX17" fmla="*/ 5451635 w 10295617"/>
                <a:gd name="connsiteY17" fmla="*/ 4724506 h 10760938"/>
                <a:gd name="connsiteX18" fmla="*/ 5325006 w 10295617"/>
                <a:gd name="connsiteY18" fmla="*/ 4711318 h 10760938"/>
                <a:gd name="connsiteX19" fmla="*/ 5325006 w 10295617"/>
                <a:gd name="connsiteY19" fmla="*/ 9805674 h 10760938"/>
                <a:gd name="connsiteX20" fmla="*/ 5325006 w 10295617"/>
                <a:gd name="connsiteY20" fmla="*/ 9821152 h 10760938"/>
                <a:gd name="connsiteX21" fmla="*/ 5323964 w 10295617"/>
                <a:gd name="connsiteY21" fmla="*/ 9821152 h 10760938"/>
                <a:gd name="connsiteX22" fmla="*/ 5316404 w 10295617"/>
                <a:gd name="connsiteY22" fmla="*/ 9933477 h 10760938"/>
                <a:gd name="connsiteX23" fmla="*/ 4838721 w 10295617"/>
                <a:gd name="connsiteY23" fmla="*/ 10637788 h 10760938"/>
                <a:gd name="connsiteX24" fmla="*/ 3875045 w 10295617"/>
                <a:gd name="connsiteY24" fmla="*/ 10623063 h 10760938"/>
                <a:gd name="connsiteX25" fmla="*/ 3414410 w 10295617"/>
                <a:gd name="connsiteY25" fmla="*/ 9776480 h 10760938"/>
                <a:gd name="connsiteX26" fmla="*/ 3769699 w 10295617"/>
                <a:gd name="connsiteY26" fmla="*/ 9787246 h 10760938"/>
                <a:gd name="connsiteX27" fmla="*/ 4058978 w 10295617"/>
                <a:gd name="connsiteY27" fmla="*/ 10318901 h 10760938"/>
                <a:gd name="connsiteX28" fmla="*/ 4664167 w 10295617"/>
                <a:gd name="connsiteY28" fmla="*/ 10328148 h 10760938"/>
                <a:gd name="connsiteX29" fmla="*/ 4969554 w 10295617"/>
                <a:gd name="connsiteY29" fmla="*/ 9805580 h 10760938"/>
                <a:gd name="connsiteX30" fmla="*/ 4970612 w 10295617"/>
                <a:gd name="connsiteY30" fmla="*/ 9805580 h 10760938"/>
                <a:gd name="connsiteX31" fmla="*/ 4970612 w 10295617"/>
                <a:gd name="connsiteY31" fmla="*/ 4711318 h 10760938"/>
                <a:gd name="connsiteX32" fmla="*/ 4843983 w 10295617"/>
                <a:gd name="connsiteY32" fmla="*/ 4724506 h 10760938"/>
                <a:gd name="connsiteX33" fmla="*/ 3466313 w 10295617"/>
                <a:gd name="connsiteY33" fmla="*/ 5773580 h 10760938"/>
                <a:gd name="connsiteX34" fmla="*/ 3432089 w 10295617"/>
                <a:gd name="connsiteY34" fmla="*/ 6038646 h 10760938"/>
                <a:gd name="connsiteX35" fmla="*/ 3397865 w 10295617"/>
                <a:gd name="connsiteY35" fmla="*/ 5773580 h 10760938"/>
                <a:gd name="connsiteX36" fmla="*/ 1716367 w 10295617"/>
                <a:gd name="connsiteY36" fmla="*/ 4703575 h 10760938"/>
                <a:gd name="connsiteX37" fmla="*/ 34871 w 10295617"/>
                <a:gd name="connsiteY37" fmla="*/ 5773580 h 10760938"/>
                <a:gd name="connsiteX38" fmla="*/ 194 w 10295617"/>
                <a:gd name="connsiteY38" fmla="*/ 6042158 h 10760938"/>
                <a:gd name="connsiteX39" fmla="*/ 26578 w 10295617"/>
                <a:gd name="connsiteY39" fmla="*/ 5513084 h 10760938"/>
                <a:gd name="connsiteX40" fmla="*/ 4899361 w 10295617"/>
                <a:gd name="connsiteY40" fmla="*/ 839547 h 10760938"/>
                <a:gd name="connsiteX41" fmla="*/ 4970612 w 10295617"/>
                <a:gd name="connsiteY41" fmla="*/ 837837 h 10760938"/>
                <a:gd name="connsiteX42" fmla="*/ 4970612 w 10295617"/>
                <a:gd name="connsiteY42" fmla="*/ 177197 h 10760938"/>
                <a:gd name="connsiteX43" fmla="*/ 5147809 w 10295617"/>
                <a:gd name="connsiteY43" fmla="*/ 0 h 1076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295617" h="10760938">
                  <a:moveTo>
                    <a:pt x="10295531" y="6044312"/>
                  </a:moveTo>
                  <a:lnTo>
                    <a:pt x="10295617" y="6046023"/>
                  </a:lnTo>
                  <a:lnTo>
                    <a:pt x="10295311" y="6046023"/>
                  </a:lnTo>
                  <a:close/>
                  <a:moveTo>
                    <a:pt x="86" y="6044312"/>
                  </a:moveTo>
                  <a:lnTo>
                    <a:pt x="306" y="6046023"/>
                  </a:lnTo>
                  <a:lnTo>
                    <a:pt x="0" y="6046023"/>
                  </a:lnTo>
                  <a:close/>
                  <a:moveTo>
                    <a:pt x="5147809" y="0"/>
                  </a:moveTo>
                  <a:cubicBezTo>
                    <a:pt x="5245672" y="0"/>
                    <a:pt x="5325006" y="79334"/>
                    <a:pt x="5325006" y="177197"/>
                  </a:cubicBezTo>
                  <a:lnTo>
                    <a:pt x="5325006" y="837837"/>
                  </a:lnTo>
                  <a:lnTo>
                    <a:pt x="5396256" y="839547"/>
                  </a:lnTo>
                  <a:cubicBezTo>
                    <a:pt x="7948306" y="962340"/>
                    <a:pt x="10013658" y="2966815"/>
                    <a:pt x="10269039" y="5513084"/>
                  </a:cubicBezTo>
                  <a:lnTo>
                    <a:pt x="10295425" y="6042158"/>
                  </a:lnTo>
                  <a:lnTo>
                    <a:pt x="10260748" y="5773580"/>
                  </a:lnTo>
                  <a:cubicBezTo>
                    <a:pt x="10100703" y="5162929"/>
                    <a:pt x="9408684" y="4703575"/>
                    <a:pt x="8579250" y="4703575"/>
                  </a:cubicBezTo>
                  <a:cubicBezTo>
                    <a:pt x="7749818" y="4703575"/>
                    <a:pt x="7057798" y="5162929"/>
                    <a:pt x="6897754" y="5773580"/>
                  </a:cubicBezTo>
                  <a:lnTo>
                    <a:pt x="6863530" y="6038646"/>
                  </a:lnTo>
                  <a:lnTo>
                    <a:pt x="6829306" y="5773580"/>
                  </a:lnTo>
                  <a:cubicBezTo>
                    <a:pt x="6689267" y="5239260"/>
                    <a:pt x="6141936" y="4820778"/>
                    <a:pt x="5451635" y="4724506"/>
                  </a:cubicBezTo>
                  <a:lnTo>
                    <a:pt x="5325006" y="4711318"/>
                  </a:lnTo>
                  <a:lnTo>
                    <a:pt x="5325006" y="9805674"/>
                  </a:lnTo>
                  <a:lnTo>
                    <a:pt x="5325006" y="9821152"/>
                  </a:lnTo>
                  <a:lnTo>
                    <a:pt x="5323964" y="9821152"/>
                  </a:lnTo>
                  <a:lnTo>
                    <a:pt x="5316404" y="9933477"/>
                  </a:lnTo>
                  <a:cubicBezTo>
                    <a:pt x="5276666" y="10227644"/>
                    <a:pt x="5101532" y="10489633"/>
                    <a:pt x="4838721" y="10637788"/>
                  </a:cubicBezTo>
                  <a:cubicBezTo>
                    <a:pt x="4538366" y="10807108"/>
                    <a:pt x="4170086" y="10801480"/>
                    <a:pt x="3875045" y="10623063"/>
                  </a:cubicBezTo>
                  <a:cubicBezTo>
                    <a:pt x="3580003" y="10444646"/>
                    <a:pt x="3403967" y="10121115"/>
                    <a:pt x="3414410" y="9776480"/>
                  </a:cubicBezTo>
                  <a:lnTo>
                    <a:pt x="3769699" y="9787246"/>
                  </a:lnTo>
                  <a:cubicBezTo>
                    <a:pt x="3763141" y="10003677"/>
                    <a:pt x="3873692" y="10206855"/>
                    <a:pt x="4058978" y="10318901"/>
                  </a:cubicBezTo>
                  <a:cubicBezTo>
                    <a:pt x="4244264" y="10430947"/>
                    <a:pt x="4475544" y="10434481"/>
                    <a:pt x="4664167" y="10328148"/>
                  </a:cubicBezTo>
                  <a:cubicBezTo>
                    <a:pt x="4852790" y="10221815"/>
                    <a:pt x="4969497" y="10022110"/>
                    <a:pt x="4969554" y="9805580"/>
                  </a:cubicBezTo>
                  <a:lnTo>
                    <a:pt x="4970612" y="9805580"/>
                  </a:lnTo>
                  <a:lnTo>
                    <a:pt x="4970612" y="4711318"/>
                  </a:lnTo>
                  <a:lnTo>
                    <a:pt x="4843983" y="4724506"/>
                  </a:lnTo>
                  <a:cubicBezTo>
                    <a:pt x="4153684" y="4820778"/>
                    <a:pt x="3606351" y="5239260"/>
                    <a:pt x="3466313" y="5773580"/>
                  </a:cubicBezTo>
                  <a:lnTo>
                    <a:pt x="3432089" y="6038646"/>
                  </a:lnTo>
                  <a:lnTo>
                    <a:pt x="3397865" y="5773580"/>
                  </a:lnTo>
                  <a:cubicBezTo>
                    <a:pt x="3237820" y="5162929"/>
                    <a:pt x="2545801" y="4703575"/>
                    <a:pt x="1716367" y="4703575"/>
                  </a:cubicBezTo>
                  <a:cubicBezTo>
                    <a:pt x="886935" y="4703575"/>
                    <a:pt x="194916" y="5162929"/>
                    <a:pt x="34871" y="5773580"/>
                  </a:cubicBezTo>
                  <a:lnTo>
                    <a:pt x="194" y="6042158"/>
                  </a:lnTo>
                  <a:lnTo>
                    <a:pt x="26578" y="5513084"/>
                  </a:lnTo>
                  <a:cubicBezTo>
                    <a:pt x="281959" y="2966815"/>
                    <a:pt x="2347313" y="962340"/>
                    <a:pt x="4899361" y="839547"/>
                  </a:cubicBezTo>
                  <a:lnTo>
                    <a:pt x="4970612" y="837837"/>
                  </a:lnTo>
                  <a:lnTo>
                    <a:pt x="4970612" y="177197"/>
                  </a:lnTo>
                  <a:cubicBezTo>
                    <a:pt x="4970612" y="79334"/>
                    <a:pt x="5049946" y="0"/>
                    <a:pt x="51478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bIns="90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51" name="领带"/>
            <p:cNvSpPr/>
            <p:nvPr/>
          </p:nvSpPr>
          <p:spPr bwMode="auto">
            <a:xfrm>
              <a:off x="8211820" y="2388980"/>
              <a:ext cx="355600" cy="621665"/>
            </a:xfrm>
            <a:custGeom>
              <a:avLst/>
              <a:gdLst>
                <a:gd name="T0" fmla="*/ 815953 w 3389"/>
                <a:gd name="T1" fmla="*/ 142499 h 6457"/>
                <a:gd name="T2" fmla="*/ 812410 w 3389"/>
                <a:gd name="T3" fmla="*/ 151940 h 6457"/>
                <a:gd name="T4" fmla="*/ 800897 w 3389"/>
                <a:gd name="T5" fmla="*/ 179082 h 6457"/>
                <a:gd name="T6" fmla="*/ 783185 w 3389"/>
                <a:gd name="T7" fmla="*/ 218911 h 6457"/>
                <a:gd name="T8" fmla="*/ 759568 w 3389"/>
                <a:gd name="T9" fmla="*/ 268476 h 6457"/>
                <a:gd name="T10" fmla="*/ 737723 w 3389"/>
                <a:gd name="T11" fmla="*/ 310075 h 6457"/>
                <a:gd name="T12" fmla="*/ 721191 w 3389"/>
                <a:gd name="T13" fmla="*/ 338693 h 6457"/>
                <a:gd name="T14" fmla="*/ 703479 w 3389"/>
                <a:gd name="T15" fmla="*/ 367901 h 6457"/>
                <a:gd name="T16" fmla="*/ 684881 w 3389"/>
                <a:gd name="T17" fmla="*/ 396814 h 6457"/>
                <a:gd name="T18" fmla="*/ 665102 w 3389"/>
                <a:gd name="T19" fmla="*/ 425136 h 6457"/>
                <a:gd name="T20" fmla="*/ 643847 w 3389"/>
                <a:gd name="T21" fmla="*/ 452574 h 6457"/>
                <a:gd name="T22" fmla="*/ 621706 w 3389"/>
                <a:gd name="T23" fmla="*/ 478536 h 6457"/>
                <a:gd name="T24" fmla="*/ 1000457 w 3389"/>
                <a:gd name="T25" fmla="*/ 1407582 h 6457"/>
                <a:gd name="T26" fmla="*/ 0 w 3389"/>
                <a:gd name="T27" fmla="*/ 1407582 h 6457"/>
                <a:gd name="T28" fmla="*/ 388493 w 3389"/>
                <a:gd name="T29" fmla="*/ 499484 h 6457"/>
                <a:gd name="T30" fmla="*/ 365171 w 3389"/>
                <a:gd name="T31" fmla="*/ 473521 h 6457"/>
                <a:gd name="T32" fmla="*/ 343031 w 3389"/>
                <a:gd name="T33" fmla="*/ 445788 h 6457"/>
                <a:gd name="T34" fmla="*/ 321481 w 3389"/>
                <a:gd name="T35" fmla="*/ 416580 h 6457"/>
                <a:gd name="T36" fmla="*/ 301406 w 3389"/>
                <a:gd name="T37" fmla="*/ 386488 h 6457"/>
                <a:gd name="T38" fmla="*/ 282218 w 3389"/>
                <a:gd name="T39" fmla="*/ 355805 h 6457"/>
                <a:gd name="T40" fmla="*/ 264506 w 3389"/>
                <a:gd name="T41" fmla="*/ 325122 h 6457"/>
                <a:gd name="T42" fmla="*/ 247974 w 3389"/>
                <a:gd name="T43" fmla="*/ 294734 h 6457"/>
                <a:gd name="T44" fmla="*/ 219339 w 3389"/>
                <a:gd name="T45" fmla="*/ 238383 h 6457"/>
                <a:gd name="T46" fmla="*/ 197198 w 3389"/>
                <a:gd name="T47" fmla="*/ 189998 h 6457"/>
                <a:gd name="T48" fmla="*/ 181552 w 3389"/>
                <a:gd name="T49" fmla="*/ 153710 h 6457"/>
                <a:gd name="T50" fmla="*/ 172106 w 3389"/>
                <a:gd name="T51" fmla="*/ 130993 h 6457"/>
                <a:gd name="T52" fmla="*/ 175648 w 3389"/>
                <a:gd name="T53" fmla="*/ 127452 h 6457"/>
                <a:gd name="T54" fmla="*/ 192770 w 3389"/>
                <a:gd name="T55" fmla="*/ 112996 h 6457"/>
                <a:gd name="T56" fmla="*/ 211664 w 3389"/>
                <a:gd name="T57" fmla="*/ 97950 h 6457"/>
                <a:gd name="T58" fmla="*/ 236461 w 3389"/>
                <a:gd name="T59" fmla="*/ 80838 h 6457"/>
                <a:gd name="T60" fmla="*/ 266277 w 3389"/>
                <a:gd name="T61" fmla="*/ 62841 h 6457"/>
                <a:gd name="T62" fmla="*/ 301111 w 3389"/>
                <a:gd name="T63" fmla="*/ 44549 h 6457"/>
                <a:gd name="T64" fmla="*/ 320595 w 3389"/>
                <a:gd name="T65" fmla="*/ 36289 h 6457"/>
                <a:gd name="T66" fmla="*/ 340669 w 3389"/>
                <a:gd name="T67" fmla="*/ 28028 h 6457"/>
                <a:gd name="T68" fmla="*/ 362219 w 3389"/>
                <a:gd name="T69" fmla="*/ 20947 h 6457"/>
                <a:gd name="T70" fmla="*/ 384655 w 3389"/>
                <a:gd name="T71" fmla="*/ 14456 h 6457"/>
                <a:gd name="T72" fmla="*/ 408271 w 3389"/>
                <a:gd name="T73" fmla="*/ 8851 h 6457"/>
                <a:gd name="T74" fmla="*/ 432478 w 3389"/>
                <a:gd name="T75" fmla="*/ 4425 h 6457"/>
                <a:gd name="T76" fmla="*/ 457866 w 3389"/>
                <a:gd name="T77" fmla="*/ 1475 h 6457"/>
                <a:gd name="T78" fmla="*/ 483845 w 3389"/>
                <a:gd name="T79" fmla="*/ 0 h 6457"/>
                <a:gd name="T80" fmla="*/ 510708 w 3389"/>
                <a:gd name="T81" fmla="*/ 295 h 6457"/>
                <a:gd name="T82" fmla="*/ 538753 w 3389"/>
                <a:gd name="T83" fmla="*/ 2360 h 6457"/>
                <a:gd name="T84" fmla="*/ 567388 w 3389"/>
                <a:gd name="T85" fmla="*/ 6491 h 6457"/>
                <a:gd name="T86" fmla="*/ 596318 w 3389"/>
                <a:gd name="T87" fmla="*/ 12686 h 6457"/>
                <a:gd name="T88" fmla="*/ 626430 w 3389"/>
                <a:gd name="T89" fmla="*/ 20947 h 6457"/>
                <a:gd name="T90" fmla="*/ 656836 w 3389"/>
                <a:gd name="T91" fmla="*/ 31863 h 6457"/>
                <a:gd name="T92" fmla="*/ 687833 w 3389"/>
                <a:gd name="T93" fmla="*/ 45434 h 6457"/>
                <a:gd name="T94" fmla="*/ 719420 w 3389"/>
                <a:gd name="T95" fmla="*/ 61661 h 6457"/>
                <a:gd name="T96" fmla="*/ 751597 w 3389"/>
                <a:gd name="T97" fmla="*/ 80838 h 6457"/>
                <a:gd name="T98" fmla="*/ 784070 w 3389"/>
                <a:gd name="T99" fmla="*/ 103260 h 6457"/>
                <a:gd name="T100" fmla="*/ 817133 w 3389"/>
                <a:gd name="T101" fmla="*/ 128928 h 645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389" h="6457">
                  <a:moveTo>
                    <a:pt x="2768" y="437"/>
                  </a:moveTo>
                  <a:lnTo>
                    <a:pt x="2764" y="483"/>
                  </a:lnTo>
                  <a:lnTo>
                    <a:pt x="2752" y="515"/>
                  </a:lnTo>
                  <a:lnTo>
                    <a:pt x="2735" y="555"/>
                  </a:lnTo>
                  <a:lnTo>
                    <a:pt x="2713" y="607"/>
                  </a:lnTo>
                  <a:lnTo>
                    <a:pt x="2687" y="669"/>
                  </a:lnTo>
                  <a:lnTo>
                    <a:pt x="2653" y="742"/>
                  </a:lnTo>
                  <a:lnTo>
                    <a:pt x="2615" y="823"/>
                  </a:lnTo>
                  <a:lnTo>
                    <a:pt x="2573" y="910"/>
                  </a:lnTo>
                  <a:lnTo>
                    <a:pt x="2524" y="1003"/>
                  </a:lnTo>
                  <a:lnTo>
                    <a:pt x="2499" y="1051"/>
                  </a:lnTo>
                  <a:lnTo>
                    <a:pt x="2471" y="1100"/>
                  </a:lnTo>
                  <a:lnTo>
                    <a:pt x="2443" y="1148"/>
                  </a:lnTo>
                  <a:lnTo>
                    <a:pt x="2414" y="1198"/>
                  </a:lnTo>
                  <a:lnTo>
                    <a:pt x="2383" y="1247"/>
                  </a:lnTo>
                  <a:lnTo>
                    <a:pt x="2352" y="1296"/>
                  </a:lnTo>
                  <a:lnTo>
                    <a:pt x="2320" y="1345"/>
                  </a:lnTo>
                  <a:lnTo>
                    <a:pt x="2286" y="1393"/>
                  </a:lnTo>
                  <a:lnTo>
                    <a:pt x="2253" y="1441"/>
                  </a:lnTo>
                  <a:lnTo>
                    <a:pt x="2217" y="1488"/>
                  </a:lnTo>
                  <a:lnTo>
                    <a:pt x="2181" y="1534"/>
                  </a:lnTo>
                  <a:lnTo>
                    <a:pt x="2144" y="1578"/>
                  </a:lnTo>
                  <a:lnTo>
                    <a:pt x="2106" y="1622"/>
                  </a:lnTo>
                  <a:lnTo>
                    <a:pt x="2067" y="1662"/>
                  </a:lnTo>
                  <a:lnTo>
                    <a:pt x="3389" y="4771"/>
                  </a:lnTo>
                  <a:lnTo>
                    <a:pt x="1695" y="6457"/>
                  </a:lnTo>
                  <a:lnTo>
                    <a:pt x="0" y="4771"/>
                  </a:lnTo>
                  <a:lnTo>
                    <a:pt x="1316" y="1693"/>
                  </a:lnTo>
                  <a:lnTo>
                    <a:pt x="1276" y="1650"/>
                  </a:lnTo>
                  <a:lnTo>
                    <a:pt x="1237" y="1605"/>
                  </a:lnTo>
                  <a:lnTo>
                    <a:pt x="1199" y="1558"/>
                  </a:lnTo>
                  <a:lnTo>
                    <a:pt x="1162" y="1511"/>
                  </a:lnTo>
                  <a:lnTo>
                    <a:pt x="1125" y="1463"/>
                  </a:lnTo>
                  <a:lnTo>
                    <a:pt x="1089" y="1412"/>
                  </a:lnTo>
                  <a:lnTo>
                    <a:pt x="1055" y="1361"/>
                  </a:lnTo>
                  <a:lnTo>
                    <a:pt x="1021" y="1310"/>
                  </a:lnTo>
                  <a:lnTo>
                    <a:pt x="988" y="1258"/>
                  </a:lnTo>
                  <a:lnTo>
                    <a:pt x="956" y="1206"/>
                  </a:lnTo>
                  <a:lnTo>
                    <a:pt x="925" y="1154"/>
                  </a:lnTo>
                  <a:lnTo>
                    <a:pt x="896" y="1102"/>
                  </a:lnTo>
                  <a:lnTo>
                    <a:pt x="868" y="1050"/>
                  </a:lnTo>
                  <a:lnTo>
                    <a:pt x="840" y="999"/>
                  </a:lnTo>
                  <a:lnTo>
                    <a:pt x="789" y="901"/>
                  </a:lnTo>
                  <a:lnTo>
                    <a:pt x="743" y="808"/>
                  </a:lnTo>
                  <a:lnTo>
                    <a:pt x="702" y="722"/>
                  </a:lnTo>
                  <a:lnTo>
                    <a:pt x="668" y="644"/>
                  </a:lnTo>
                  <a:lnTo>
                    <a:pt x="638" y="577"/>
                  </a:lnTo>
                  <a:lnTo>
                    <a:pt x="615" y="521"/>
                  </a:lnTo>
                  <a:lnTo>
                    <a:pt x="597" y="480"/>
                  </a:lnTo>
                  <a:lnTo>
                    <a:pt x="583" y="444"/>
                  </a:lnTo>
                  <a:lnTo>
                    <a:pt x="595" y="432"/>
                  </a:lnTo>
                  <a:lnTo>
                    <a:pt x="628" y="403"/>
                  </a:lnTo>
                  <a:lnTo>
                    <a:pt x="653" y="383"/>
                  </a:lnTo>
                  <a:lnTo>
                    <a:pt x="683" y="358"/>
                  </a:lnTo>
                  <a:lnTo>
                    <a:pt x="717" y="332"/>
                  </a:lnTo>
                  <a:lnTo>
                    <a:pt x="757" y="304"/>
                  </a:lnTo>
                  <a:lnTo>
                    <a:pt x="801" y="274"/>
                  </a:lnTo>
                  <a:lnTo>
                    <a:pt x="849" y="243"/>
                  </a:lnTo>
                  <a:lnTo>
                    <a:pt x="902" y="213"/>
                  </a:lnTo>
                  <a:lnTo>
                    <a:pt x="959" y="181"/>
                  </a:lnTo>
                  <a:lnTo>
                    <a:pt x="1020" y="151"/>
                  </a:lnTo>
                  <a:lnTo>
                    <a:pt x="1052" y="136"/>
                  </a:lnTo>
                  <a:lnTo>
                    <a:pt x="1086" y="123"/>
                  </a:lnTo>
                  <a:lnTo>
                    <a:pt x="1119" y="109"/>
                  </a:lnTo>
                  <a:lnTo>
                    <a:pt x="1154" y="95"/>
                  </a:lnTo>
                  <a:lnTo>
                    <a:pt x="1190" y="82"/>
                  </a:lnTo>
                  <a:lnTo>
                    <a:pt x="1227" y="71"/>
                  </a:lnTo>
                  <a:lnTo>
                    <a:pt x="1265" y="59"/>
                  </a:lnTo>
                  <a:lnTo>
                    <a:pt x="1303" y="49"/>
                  </a:lnTo>
                  <a:lnTo>
                    <a:pt x="1342" y="38"/>
                  </a:lnTo>
                  <a:lnTo>
                    <a:pt x="1383" y="30"/>
                  </a:lnTo>
                  <a:lnTo>
                    <a:pt x="1423" y="22"/>
                  </a:lnTo>
                  <a:lnTo>
                    <a:pt x="1465" y="15"/>
                  </a:lnTo>
                  <a:lnTo>
                    <a:pt x="1507" y="9"/>
                  </a:lnTo>
                  <a:lnTo>
                    <a:pt x="1551" y="5"/>
                  </a:lnTo>
                  <a:lnTo>
                    <a:pt x="1595" y="2"/>
                  </a:lnTo>
                  <a:lnTo>
                    <a:pt x="1639" y="0"/>
                  </a:lnTo>
                  <a:lnTo>
                    <a:pt x="1685" y="0"/>
                  </a:lnTo>
                  <a:lnTo>
                    <a:pt x="1730" y="1"/>
                  </a:lnTo>
                  <a:lnTo>
                    <a:pt x="1778" y="4"/>
                  </a:lnTo>
                  <a:lnTo>
                    <a:pt x="1825" y="8"/>
                  </a:lnTo>
                  <a:lnTo>
                    <a:pt x="1873" y="14"/>
                  </a:lnTo>
                  <a:lnTo>
                    <a:pt x="1922" y="22"/>
                  </a:lnTo>
                  <a:lnTo>
                    <a:pt x="1971" y="31"/>
                  </a:lnTo>
                  <a:lnTo>
                    <a:pt x="2020" y="43"/>
                  </a:lnTo>
                  <a:lnTo>
                    <a:pt x="2071" y="56"/>
                  </a:lnTo>
                  <a:lnTo>
                    <a:pt x="2122" y="71"/>
                  </a:lnTo>
                  <a:lnTo>
                    <a:pt x="2173" y="88"/>
                  </a:lnTo>
                  <a:lnTo>
                    <a:pt x="2225" y="108"/>
                  </a:lnTo>
                  <a:lnTo>
                    <a:pt x="2278" y="130"/>
                  </a:lnTo>
                  <a:lnTo>
                    <a:pt x="2330" y="154"/>
                  </a:lnTo>
                  <a:lnTo>
                    <a:pt x="2383" y="180"/>
                  </a:lnTo>
                  <a:lnTo>
                    <a:pt x="2437" y="209"/>
                  </a:lnTo>
                  <a:lnTo>
                    <a:pt x="2492" y="240"/>
                  </a:lnTo>
                  <a:lnTo>
                    <a:pt x="2546" y="274"/>
                  </a:lnTo>
                  <a:lnTo>
                    <a:pt x="2601" y="311"/>
                  </a:lnTo>
                  <a:lnTo>
                    <a:pt x="2656" y="350"/>
                  </a:lnTo>
                  <a:lnTo>
                    <a:pt x="2712" y="392"/>
                  </a:lnTo>
                  <a:lnTo>
                    <a:pt x="2768" y="437"/>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a:lstStyle>
            <a:p>
              <a:pPr algn="ctr">
                <a:defRPr/>
              </a:pP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grpSp>
      <p:sp>
        <p:nvSpPr>
          <p:cNvPr id="53" name="矩形 52"/>
          <p:cNvSpPr/>
          <p:nvPr/>
        </p:nvSpPr>
        <p:spPr>
          <a:xfrm>
            <a:off x="790093" y="2074156"/>
            <a:ext cx="77811" cy="880327"/>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790093" y="3078151"/>
            <a:ext cx="77811" cy="880327"/>
          </a:xfrm>
          <a:prstGeom prst="rect">
            <a:avLst/>
          </a:pr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790093" y="4113142"/>
            <a:ext cx="77811" cy="880327"/>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790093" y="5132638"/>
            <a:ext cx="77811" cy="880327"/>
          </a:xfrm>
          <a:prstGeom prst="rect">
            <a:avLst/>
          </a:pr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6"/>
          <p:cNvSpPr txBox="1"/>
          <p:nvPr/>
        </p:nvSpPr>
        <p:spPr>
          <a:xfrm>
            <a:off x="265096" y="1030999"/>
            <a:ext cx="1920165"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常见工具</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 name="矩形 4"/>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6"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0"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31"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2"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 name="TextBox 6"/>
          <p:cNvSpPr txBox="1"/>
          <p:nvPr/>
        </p:nvSpPr>
        <p:spPr>
          <a:xfrm>
            <a:off x="265096" y="1030999"/>
            <a:ext cx="3109853" cy="466269"/>
          </a:xfrm>
          <a:prstGeom prst="rect">
            <a:avLst/>
          </a:prstGeom>
          <a:noFill/>
        </p:spPr>
        <p:txBody>
          <a:bodyPr wrap="square" lIns="0" tIns="48000" rIns="0" bIns="48000" rtlCol="0">
            <a:spAutoFit/>
          </a:bodyPr>
          <a:lstStyle/>
          <a:p>
            <a:pPr algn="ctr"/>
            <a:r>
              <a:rPr lang="en-US" altLang="zh-CN" sz="2400" b="1" dirty="0" err="1">
                <a:solidFill>
                  <a:schemeClr val="tx1">
                    <a:lumMod val="65000"/>
                    <a:lumOff val="35000"/>
                  </a:schemeClr>
                </a:solidFill>
                <a:latin typeface="微软雅黑" panose="020B0503020204020204" pitchFamily="34" charset="-122"/>
                <a:ea typeface="微软雅黑" panose="020B0503020204020204" pitchFamily="34" charset="-122"/>
              </a:rPr>
              <a:t>DeepSeek</a:t>
            </a: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-API</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调用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 name="矩形 4"/>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6"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20"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3"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31"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2"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a:blip r:embed="rId2"/>
          <a:stretch>
            <a:fillRect/>
          </a:stretch>
        </p:blipFill>
        <p:spPr>
          <a:xfrm>
            <a:off x="425752" y="1736267"/>
            <a:ext cx="5601744" cy="3318599"/>
          </a:xfrm>
          <a:prstGeom prst="rect">
            <a:avLst/>
          </a:prstGeom>
        </p:spPr>
      </p:pic>
      <p:pic>
        <p:nvPicPr>
          <p:cNvPr id="15" name="图片 1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6027496" y="2660040"/>
            <a:ext cx="6129376" cy="398205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文本框 22"/>
          <p:cNvSpPr txBox="1"/>
          <p:nvPr/>
        </p:nvSpPr>
        <p:spPr>
          <a:xfrm flipH="1">
            <a:off x="1047903" y="1931978"/>
            <a:ext cx="8160154" cy="781945"/>
          </a:xfrm>
          <a:prstGeom prst="rect">
            <a:avLst/>
          </a:prstGeom>
          <a:noFill/>
          <a:ln w="9525">
            <a:noFill/>
            <a:miter/>
          </a:ln>
          <a:effectLst>
            <a:outerShdw sx="999" sy="999" algn="ctr" rotWithShape="0">
              <a:srgbClr val="000000"/>
            </a:outerShdw>
          </a:effectLst>
        </p:spPr>
        <p:txBody>
          <a:bodyPr wrap="square" anchor="t">
            <a:spAutoFit/>
          </a:bodyPr>
          <a:lstStyle/>
          <a:p>
            <a:pPr marL="285750" lvl="0" indent="-285750">
              <a:lnSpc>
                <a:spcPct val="120000"/>
              </a:lnSpc>
              <a:buFont typeface="Arial" panose="020B0604020202090204" pitchFamily="34" charset="0"/>
              <a:buChar cha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智能体需要通过各种输入获取外部环境的信息。这些输入可能来自传感器、用户指令、</a:t>
            </a:r>
            <a:r>
              <a:rPr lang="en-US" altLang="zh-CN"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API</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响应、文本输入等</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sp>
        <p:nvSpPr>
          <p:cNvPr id="44" name="文本框 22"/>
          <p:cNvSpPr txBox="1"/>
          <p:nvPr/>
        </p:nvSpPr>
        <p:spPr>
          <a:xfrm flipH="1">
            <a:off x="1047903" y="2858482"/>
            <a:ext cx="8160154" cy="1151277"/>
          </a:xfrm>
          <a:prstGeom prst="rect">
            <a:avLst/>
          </a:prstGeom>
          <a:noFill/>
          <a:ln w="9525">
            <a:noFill/>
            <a:miter/>
          </a:ln>
          <a:effectLst>
            <a:outerShdw sx="999" sy="999" algn="ctr" rotWithShape="0">
              <a:srgbClr val="000000"/>
            </a:outerShdw>
          </a:effectLst>
        </p:spPr>
        <p:txBody>
          <a:bodyPr wrap="square" anchor="t">
            <a:spAutoFit/>
          </a:bodyPr>
          <a:lstStyle/>
          <a:p>
            <a:pPr marL="285750" lvl="0" indent="-285750">
              <a:lnSpc>
                <a:spcPct val="120000"/>
              </a:lnSpc>
              <a:buFont typeface="Arial" panose="020B0604020202090204" pitchFamily="34" charset="0"/>
              <a:buChar cha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基于感知到的环境信息，智能体通过推理来做出决策。决策过程可能基于目标导向的规划，或者基于模仿学习</a:t>
            </a:r>
            <a:r>
              <a:rPr lang="zh-CN" altLang="en-GB"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a:t>
            </a: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强化学习等技术来调整行为策略</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sp>
        <p:nvSpPr>
          <p:cNvPr id="45" name="文本框 22"/>
          <p:cNvSpPr txBox="1"/>
          <p:nvPr/>
        </p:nvSpPr>
        <p:spPr>
          <a:xfrm flipH="1">
            <a:off x="1047901" y="4154318"/>
            <a:ext cx="8160154" cy="412613"/>
          </a:xfrm>
          <a:prstGeom prst="rect">
            <a:avLst/>
          </a:prstGeom>
          <a:noFill/>
          <a:ln w="9525">
            <a:noFill/>
            <a:miter/>
          </a:ln>
          <a:effectLst>
            <a:outerShdw sx="999" sy="999" algn="ctr" rotWithShape="0">
              <a:srgbClr val="000000"/>
            </a:outerShdw>
          </a:effectLst>
        </p:spPr>
        <p:txBody>
          <a:bodyPr wrap="square" anchor="t">
            <a:spAutoFit/>
          </a:bodyPr>
          <a:lstStyle/>
          <a:p>
            <a:pPr marL="285750" lvl="0" indent="-285750">
              <a:lnSpc>
                <a:spcPct val="120000"/>
              </a:lnSpc>
              <a:buFont typeface="Arial" panose="020B0604020202090204" pitchFamily="34" charset="0"/>
              <a:buChar cha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在决策过程中，智能体可能需要调用外部工具来执行某些任务。</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sp>
        <p:nvSpPr>
          <p:cNvPr id="46" name="文本框 22"/>
          <p:cNvSpPr txBox="1"/>
          <p:nvPr/>
        </p:nvSpPr>
        <p:spPr>
          <a:xfrm flipH="1">
            <a:off x="1047903" y="5021450"/>
            <a:ext cx="8160152" cy="781945"/>
          </a:xfrm>
          <a:prstGeom prst="rect">
            <a:avLst/>
          </a:prstGeom>
          <a:noFill/>
          <a:ln w="9525">
            <a:noFill/>
            <a:miter/>
          </a:ln>
          <a:effectLst>
            <a:outerShdw sx="999" sy="999" algn="ctr" rotWithShape="0">
              <a:srgbClr val="000000"/>
            </a:outerShdw>
          </a:effectLst>
        </p:spPr>
        <p:txBody>
          <a:bodyPr wrap="square" anchor="t">
            <a:spAutoFit/>
          </a:bodyPr>
          <a:lstStyle/>
          <a:p>
            <a:pPr marL="285750" lvl="0" indent="-285750">
              <a:lnSpc>
                <a:spcPct val="120000"/>
              </a:lnSpc>
              <a:buFont typeface="Arial" panose="020B0604020202090204" pitchFamily="34" charset="0"/>
              <a:buChar char="•"/>
            </a:pPr>
            <a:r>
              <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rPr>
              <a:t>最终，智能体会执行相应的操作。在与用户或外部系统的交互过程中，智能体需要具备处理反馈的能力，进行调整、学习，并优化其行为</a:t>
            </a:r>
            <a:endParaRPr lang="zh-CN" altLang="en-US" sz="2000" dirty="0">
              <a:solidFill>
                <a:srgbClr val="595959"/>
              </a:solidFill>
              <a:latin typeface="楷体" panose="02010609060101010101" pitchFamily="49" charset="-122"/>
              <a:ea typeface="楷体" panose="02010609060101010101" pitchFamily="49" charset="-122"/>
              <a:sym typeface="微软雅黑 Light" panose="020B0502040204020203" pitchFamily="34" charset="-122"/>
            </a:endParaRPr>
          </a:p>
        </p:txBody>
      </p:sp>
      <p:grpSp>
        <p:nvGrpSpPr>
          <p:cNvPr id="2" name="组合 1"/>
          <p:cNvGrpSpPr/>
          <p:nvPr/>
        </p:nvGrpSpPr>
        <p:grpSpPr>
          <a:xfrm>
            <a:off x="9322536" y="2632333"/>
            <a:ext cx="2593474" cy="2306509"/>
            <a:chOff x="7206933" y="2235945"/>
            <a:chExt cx="4373245" cy="4164220"/>
          </a:xfrm>
        </p:grpSpPr>
        <p:sp>
          <p:nvSpPr>
            <p:cNvPr id="9" name="灯泡"/>
            <p:cNvSpPr/>
            <p:nvPr/>
          </p:nvSpPr>
          <p:spPr bwMode="auto">
            <a:xfrm>
              <a:off x="8290560" y="3173730"/>
              <a:ext cx="2167255" cy="3226435"/>
            </a:xfrm>
            <a:custGeom>
              <a:avLst/>
              <a:gdLst>
                <a:gd name="T0" fmla="*/ 2147483646 w 3864"/>
                <a:gd name="T1" fmla="*/ 1817606605 h 6111"/>
                <a:gd name="T2" fmla="*/ 2147483646 w 3864"/>
                <a:gd name="T3" fmla="*/ 2147483646 h 6111"/>
                <a:gd name="T4" fmla="*/ 2147483646 w 3864"/>
                <a:gd name="T5" fmla="*/ 2147483646 h 6111"/>
                <a:gd name="T6" fmla="*/ 2147483646 w 3864"/>
                <a:gd name="T7" fmla="*/ 2147483646 h 6111"/>
                <a:gd name="T8" fmla="*/ 2147483646 w 3864"/>
                <a:gd name="T9" fmla="*/ 2147483646 h 6111"/>
                <a:gd name="T10" fmla="*/ 2147483646 w 3864"/>
                <a:gd name="T11" fmla="*/ 2147483646 h 6111"/>
                <a:gd name="T12" fmla="*/ 2147483646 w 3864"/>
                <a:gd name="T13" fmla="*/ 2147483646 h 6111"/>
                <a:gd name="T14" fmla="*/ 2147483646 w 3864"/>
                <a:gd name="T15" fmla="*/ 2147483646 h 6111"/>
                <a:gd name="T16" fmla="*/ 2147483646 w 3864"/>
                <a:gd name="T17" fmla="*/ 2147483646 h 6111"/>
                <a:gd name="T18" fmla="*/ 2147483646 w 3864"/>
                <a:gd name="T19" fmla="*/ 2147483646 h 6111"/>
                <a:gd name="T20" fmla="*/ 2147483646 w 3864"/>
                <a:gd name="T21" fmla="*/ 2147483646 h 6111"/>
                <a:gd name="T22" fmla="*/ 2147483646 w 3864"/>
                <a:gd name="T23" fmla="*/ 2147483646 h 6111"/>
                <a:gd name="T24" fmla="*/ 2147483646 w 3864"/>
                <a:gd name="T25" fmla="*/ 2147483646 h 6111"/>
                <a:gd name="T26" fmla="*/ 2147483646 w 3864"/>
                <a:gd name="T27" fmla="*/ 2147483646 h 6111"/>
                <a:gd name="T28" fmla="*/ 2147483646 w 3864"/>
                <a:gd name="T29" fmla="*/ 2147483646 h 6111"/>
                <a:gd name="T30" fmla="*/ 2147483646 w 3864"/>
                <a:gd name="T31" fmla="*/ 2147483646 h 6111"/>
                <a:gd name="T32" fmla="*/ 2147483646 w 3864"/>
                <a:gd name="T33" fmla="*/ 2147483646 h 6111"/>
                <a:gd name="T34" fmla="*/ 2147483646 w 3864"/>
                <a:gd name="T35" fmla="*/ 2147483646 h 6111"/>
                <a:gd name="T36" fmla="*/ 574134261 w 3864"/>
                <a:gd name="T37" fmla="*/ 2147483646 h 6111"/>
                <a:gd name="T38" fmla="*/ 906491754 w 3864"/>
                <a:gd name="T39" fmla="*/ 2147483646 h 6111"/>
                <a:gd name="T40" fmla="*/ 2147483646 w 3864"/>
                <a:gd name="T41" fmla="*/ 2147483646 h 6111"/>
                <a:gd name="T42" fmla="*/ 2147483646 w 3864"/>
                <a:gd name="T43" fmla="*/ 2147483646 h 6111"/>
                <a:gd name="T44" fmla="*/ 2147483646 w 3864"/>
                <a:gd name="T45" fmla="*/ 2147483646 h 6111"/>
                <a:gd name="T46" fmla="*/ 2147483646 w 3864"/>
                <a:gd name="T47" fmla="*/ 1817606605 h 6111"/>
                <a:gd name="T48" fmla="*/ 2147483646 w 3864"/>
                <a:gd name="T49" fmla="*/ 2147483646 h 6111"/>
                <a:gd name="T50" fmla="*/ 2147483646 w 3864"/>
                <a:gd name="T51" fmla="*/ 2147483646 h 6111"/>
                <a:gd name="T52" fmla="*/ 2147483646 w 3864"/>
                <a:gd name="T53" fmla="*/ 2147483646 h 6111"/>
                <a:gd name="T54" fmla="*/ 2147483646 w 3864"/>
                <a:gd name="T55" fmla="*/ 2147483646 h 6111"/>
                <a:gd name="T56" fmla="*/ 2147483646 w 3864"/>
                <a:gd name="T57" fmla="*/ 2147483646 h 6111"/>
                <a:gd name="T58" fmla="*/ 2147483646 w 3864"/>
                <a:gd name="T59" fmla="*/ 2147483646 h 6111"/>
                <a:gd name="T60" fmla="*/ 2147483646 w 3864"/>
                <a:gd name="T61" fmla="*/ 2147483646 h 6111"/>
                <a:gd name="T62" fmla="*/ 2147483646 w 3864"/>
                <a:gd name="T63" fmla="*/ 2147483646 h 6111"/>
                <a:gd name="T64" fmla="*/ 2147483646 w 3864"/>
                <a:gd name="T65" fmla="*/ 2147483646 h 6111"/>
                <a:gd name="T66" fmla="*/ 2147483646 w 3864"/>
                <a:gd name="T67" fmla="*/ 2147483646 h 6111"/>
                <a:gd name="T68" fmla="*/ 2147483646 w 3864"/>
                <a:gd name="T69" fmla="*/ 2147483646 h 6111"/>
                <a:gd name="T70" fmla="*/ 2147483646 w 3864"/>
                <a:gd name="T71" fmla="*/ 2147483646 h 6111"/>
                <a:gd name="T72" fmla="*/ 2147483646 w 3864"/>
                <a:gd name="T73" fmla="*/ 2147483646 h 6111"/>
                <a:gd name="T74" fmla="*/ 2147483646 w 3864"/>
                <a:gd name="T75" fmla="*/ 2147483646 h 6111"/>
                <a:gd name="T76" fmla="*/ 2147483646 w 3864"/>
                <a:gd name="T77" fmla="*/ 2147483646 h 6111"/>
                <a:gd name="T78" fmla="*/ 2147483646 w 3864"/>
                <a:gd name="T79" fmla="*/ 2147483646 h 6111"/>
                <a:gd name="T80" fmla="*/ 2147483646 w 3864"/>
                <a:gd name="T81" fmla="*/ 2147483646 h 6111"/>
                <a:gd name="T82" fmla="*/ 2147483646 w 3864"/>
                <a:gd name="T83" fmla="*/ 2147483646 h 6111"/>
                <a:gd name="T84" fmla="*/ 2147483646 w 3864"/>
                <a:gd name="T85" fmla="*/ 2147483646 h 6111"/>
                <a:gd name="T86" fmla="*/ 2147483646 w 3864"/>
                <a:gd name="T87" fmla="*/ 2147483646 h 6111"/>
                <a:gd name="T88" fmla="*/ 2147483646 w 3864"/>
                <a:gd name="T89" fmla="*/ 2147483646 h 6111"/>
                <a:gd name="T90" fmla="*/ 2147483646 w 3864"/>
                <a:gd name="T91" fmla="*/ 2147483646 h 6111"/>
                <a:gd name="T92" fmla="*/ 2147483646 w 3864"/>
                <a:gd name="T93" fmla="*/ 2147483646 h 6111"/>
                <a:gd name="T94" fmla="*/ 2147483646 w 3864"/>
                <a:gd name="T95" fmla="*/ 2147483646 h 6111"/>
                <a:gd name="T96" fmla="*/ 2147483646 w 3864"/>
                <a:gd name="T97" fmla="*/ 2147483646 h 6111"/>
                <a:gd name="T98" fmla="*/ 2147483646 w 3864"/>
                <a:gd name="T99" fmla="*/ 2147483646 h 6111"/>
                <a:gd name="T100" fmla="*/ 2147483646 w 3864"/>
                <a:gd name="T101" fmla="*/ 2147483646 h 6111"/>
                <a:gd name="T102" fmla="*/ 2147483646 w 3864"/>
                <a:gd name="T103" fmla="*/ 2147483646 h 6111"/>
                <a:gd name="T104" fmla="*/ 2147483646 w 3864"/>
                <a:gd name="T105" fmla="*/ 2147483646 h 6111"/>
                <a:gd name="T106" fmla="*/ 2147483646 w 3864"/>
                <a:gd name="T107" fmla="*/ 2147483646 h 6111"/>
                <a:gd name="T108" fmla="*/ 2147483646 w 3864"/>
                <a:gd name="T109" fmla="*/ 2147483646 h 6111"/>
                <a:gd name="T110" fmla="*/ 2147483646 w 3864"/>
                <a:gd name="T111" fmla="*/ 2147483646 h 6111"/>
                <a:gd name="T112" fmla="*/ 2147483646 w 3864"/>
                <a:gd name="T113" fmla="*/ 2147483646 h 6111"/>
                <a:gd name="T114" fmla="*/ 2147483646 w 3864"/>
                <a:gd name="T115" fmla="*/ 2147483646 h 6111"/>
                <a:gd name="T116" fmla="*/ 2147483646 w 3864"/>
                <a:gd name="T117" fmla="*/ 2147483646 h 6111"/>
                <a:gd name="T118" fmla="*/ 2147483646 w 3864"/>
                <a:gd name="T119" fmla="*/ 2147483646 h 611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3864" h="6111">
                  <a:moveTo>
                    <a:pt x="1932" y="0"/>
                  </a:moveTo>
                  <a:lnTo>
                    <a:pt x="1932" y="0"/>
                  </a:lnTo>
                  <a:lnTo>
                    <a:pt x="1982" y="0"/>
                  </a:lnTo>
                  <a:lnTo>
                    <a:pt x="2031" y="2"/>
                  </a:lnTo>
                  <a:lnTo>
                    <a:pt x="2081" y="5"/>
                  </a:lnTo>
                  <a:lnTo>
                    <a:pt x="2129" y="9"/>
                  </a:lnTo>
                  <a:lnTo>
                    <a:pt x="2178" y="15"/>
                  </a:lnTo>
                  <a:lnTo>
                    <a:pt x="2226" y="22"/>
                  </a:lnTo>
                  <a:lnTo>
                    <a:pt x="2273" y="30"/>
                  </a:lnTo>
                  <a:lnTo>
                    <a:pt x="2321" y="39"/>
                  </a:lnTo>
                  <a:lnTo>
                    <a:pt x="2367" y="48"/>
                  </a:lnTo>
                  <a:lnTo>
                    <a:pt x="2415" y="60"/>
                  </a:lnTo>
                  <a:lnTo>
                    <a:pt x="2460" y="73"/>
                  </a:lnTo>
                  <a:lnTo>
                    <a:pt x="2507" y="87"/>
                  </a:lnTo>
                  <a:lnTo>
                    <a:pt x="2551" y="101"/>
                  </a:lnTo>
                  <a:lnTo>
                    <a:pt x="2596" y="117"/>
                  </a:lnTo>
                  <a:lnTo>
                    <a:pt x="2640" y="133"/>
                  </a:lnTo>
                  <a:lnTo>
                    <a:pt x="2683" y="152"/>
                  </a:lnTo>
                  <a:lnTo>
                    <a:pt x="2727" y="170"/>
                  </a:lnTo>
                  <a:lnTo>
                    <a:pt x="2769" y="190"/>
                  </a:lnTo>
                  <a:lnTo>
                    <a:pt x="2811" y="211"/>
                  </a:lnTo>
                  <a:lnTo>
                    <a:pt x="2853" y="233"/>
                  </a:lnTo>
                  <a:lnTo>
                    <a:pt x="2893" y="255"/>
                  </a:lnTo>
                  <a:lnTo>
                    <a:pt x="2934" y="279"/>
                  </a:lnTo>
                  <a:lnTo>
                    <a:pt x="2973" y="304"/>
                  </a:lnTo>
                  <a:lnTo>
                    <a:pt x="3012" y="329"/>
                  </a:lnTo>
                  <a:lnTo>
                    <a:pt x="3050" y="356"/>
                  </a:lnTo>
                  <a:lnTo>
                    <a:pt x="3087" y="383"/>
                  </a:lnTo>
                  <a:lnTo>
                    <a:pt x="3124" y="412"/>
                  </a:lnTo>
                  <a:lnTo>
                    <a:pt x="3160" y="441"/>
                  </a:lnTo>
                  <a:lnTo>
                    <a:pt x="3196" y="471"/>
                  </a:lnTo>
                  <a:lnTo>
                    <a:pt x="3231" y="501"/>
                  </a:lnTo>
                  <a:lnTo>
                    <a:pt x="3265" y="532"/>
                  </a:lnTo>
                  <a:lnTo>
                    <a:pt x="3297" y="565"/>
                  </a:lnTo>
                  <a:lnTo>
                    <a:pt x="3330" y="599"/>
                  </a:lnTo>
                  <a:lnTo>
                    <a:pt x="3362" y="632"/>
                  </a:lnTo>
                  <a:lnTo>
                    <a:pt x="3393" y="667"/>
                  </a:lnTo>
                  <a:lnTo>
                    <a:pt x="3423" y="702"/>
                  </a:lnTo>
                  <a:lnTo>
                    <a:pt x="3452" y="739"/>
                  </a:lnTo>
                  <a:lnTo>
                    <a:pt x="3480" y="775"/>
                  </a:lnTo>
                  <a:lnTo>
                    <a:pt x="3507" y="813"/>
                  </a:lnTo>
                  <a:lnTo>
                    <a:pt x="3534" y="852"/>
                  </a:lnTo>
                  <a:lnTo>
                    <a:pt x="3560" y="890"/>
                  </a:lnTo>
                  <a:lnTo>
                    <a:pt x="3584" y="930"/>
                  </a:lnTo>
                  <a:lnTo>
                    <a:pt x="3607" y="970"/>
                  </a:lnTo>
                  <a:lnTo>
                    <a:pt x="3631" y="1011"/>
                  </a:lnTo>
                  <a:lnTo>
                    <a:pt x="3653" y="1051"/>
                  </a:lnTo>
                  <a:lnTo>
                    <a:pt x="3674" y="1094"/>
                  </a:lnTo>
                  <a:lnTo>
                    <a:pt x="3693" y="1136"/>
                  </a:lnTo>
                  <a:lnTo>
                    <a:pt x="3712" y="1179"/>
                  </a:lnTo>
                  <a:lnTo>
                    <a:pt x="3729" y="1223"/>
                  </a:lnTo>
                  <a:lnTo>
                    <a:pt x="3747" y="1267"/>
                  </a:lnTo>
                  <a:lnTo>
                    <a:pt x="3762" y="1312"/>
                  </a:lnTo>
                  <a:lnTo>
                    <a:pt x="3777" y="1357"/>
                  </a:lnTo>
                  <a:lnTo>
                    <a:pt x="3791" y="1402"/>
                  </a:lnTo>
                  <a:lnTo>
                    <a:pt x="3802" y="1449"/>
                  </a:lnTo>
                  <a:lnTo>
                    <a:pt x="3814" y="1495"/>
                  </a:lnTo>
                  <a:lnTo>
                    <a:pt x="3824" y="1543"/>
                  </a:lnTo>
                  <a:lnTo>
                    <a:pt x="3834" y="1589"/>
                  </a:lnTo>
                  <a:lnTo>
                    <a:pt x="3842" y="1638"/>
                  </a:lnTo>
                  <a:lnTo>
                    <a:pt x="3848" y="1685"/>
                  </a:lnTo>
                  <a:lnTo>
                    <a:pt x="3853" y="1734"/>
                  </a:lnTo>
                  <a:lnTo>
                    <a:pt x="3858" y="1783"/>
                  </a:lnTo>
                  <a:lnTo>
                    <a:pt x="3862" y="1832"/>
                  </a:lnTo>
                  <a:lnTo>
                    <a:pt x="3863" y="1882"/>
                  </a:lnTo>
                  <a:lnTo>
                    <a:pt x="3864" y="1932"/>
                  </a:lnTo>
                  <a:lnTo>
                    <a:pt x="3863" y="1999"/>
                  </a:lnTo>
                  <a:lnTo>
                    <a:pt x="3859" y="2065"/>
                  </a:lnTo>
                  <a:lnTo>
                    <a:pt x="3853" y="2130"/>
                  </a:lnTo>
                  <a:lnTo>
                    <a:pt x="3845" y="2195"/>
                  </a:lnTo>
                  <a:lnTo>
                    <a:pt x="3836" y="2260"/>
                  </a:lnTo>
                  <a:lnTo>
                    <a:pt x="3823" y="2324"/>
                  </a:lnTo>
                  <a:lnTo>
                    <a:pt x="3809" y="2387"/>
                  </a:lnTo>
                  <a:lnTo>
                    <a:pt x="3793" y="2449"/>
                  </a:lnTo>
                  <a:lnTo>
                    <a:pt x="3776" y="2511"/>
                  </a:lnTo>
                  <a:lnTo>
                    <a:pt x="3755" y="2571"/>
                  </a:lnTo>
                  <a:lnTo>
                    <a:pt x="3733" y="2631"/>
                  </a:lnTo>
                  <a:lnTo>
                    <a:pt x="3709" y="2690"/>
                  </a:lnTo>
                  <a:lnTo>
                    <a:pt x="3683" y="2747"/>
                  </a:lnTo>
                  <a:lnTo>
                    <a:pt x="3656" y="2804"/>
                  </a:lnTo>
                  <a:lnTo>
                    <a:pt x="3626" y="2859"/>
                  </a:lnTo>
                  <a:lnTo>
                    <a:pt x="3596" y="2914"/>
                  </a:lnTo>
                  <a:lnTo>
                    <a:pt x="3566" y="2963"/>
                  </a:lnTo>
                  <a:lnTo>
                    <a:pt x="3534" y="3011"/>
                  </a:lnTo>
                  <a:lnTo>
                    <a:pt x="3502" y="3058"/>
                  </a:lnTo>
                  <a:lnTo>
                    <a:pt x="3467" y="3103"/>
                  </a:lnTo>
                  <a:lnTo>
                    <a:pt x="3432" y="3148"/>
                  </a:lnTo>
                  <a:lnTo>
                    <a:pt x="3395" y="3193"/>
                  </a:lnTo>
                  <a:lnTo>
                    <a:pt x="3358" y="3234"/>
                  </a:lnTo>
                  <a:lnTo>
                    <a:pt x="3318" y="3276"/>
                  </a:lnTo>
                  <a:lnTo>
                    <a:pt x="3278" y="3317"/>
                  </a:lnTo>
                  <a:lnTo>
                    <a:pt x="3237" y="3356"/>
                  </a:lnTo>
                  <a:lnTo>
                    <a:pt x="3194" y="3393"/>
                  </a:lnTo>
                  <a:lnTo>
                    <a:pt x="3150" y="3431"/>
                  </a:lnTo>
                  <a:lnTo>
                    <a:pt x="3106" y="3465"/>
                  </a:lnTo>
                  <a:lnTo>
                    <a:pt x="3059" y="3500"/>
                  </a:lnTo>
                  <a:lnTo>
                    <a:pt x="3013" y="3533"/>
                  </a:lnTo>
                  <a:lnTo>
                    <a:pt x="2965" y="3564"/>
                  </a:lnTo>
                  <a:lnTo>
                    <a:pt x="2965" y="3763"/>
                  </a:lnTo>
                  <a:lnTo>
                    <a:pt x="3040" y="3756"/>
                  </a:lnTo>
                  <a:lnTo>
                    <a:pt x="3184" y="3744"/>
                  </a:lnTo>
                  <a:lnTo>
                    <a:pt x="3240" y="3879"/>
                  </a:lnTo>
                  <a:lnTo>
                    <a:pt x="3257" y="3921"/>
                  </a:lnTo>
                  <a:lnTo>
                    <a:pt x="3272" y="3961"/>
                  </a:lnTo>
                  <a:lnTo>
                    <a:pt x="3283" y="4003"/>
                  </a:lnTo>
                  <a:lnTo>
                    <a:pt x="3293" y="4044"/>
                  </a:lnTo>
                  <a:lnTo>
                    <a:pt x="3301" y="4084"/>
                  </a:lnTo>
                  <a:lnTo>
                    <a:pt x="3305" y="4125"/>
                  </a:lnTo>
                  <a:lnTo>
                    <a:pt x="3309" y="4166"/>
                  </a:lnTo>
                  <a:lnTo>
                    <a:pt x="3310" y="4206"/>
                  </a:lnTo>
                  <a:lnTo>
                    <a:pt x="3309" y="4248"/>
                  </a:lnTo>
                  <a:lnTo>
                    <a:pt x="3305" y="4289"/>
                  </a:lnTo>
                  <a:lnTo>
                    <a:pt x="3300" y="4329"/>
                  </a:lnTo>
                  <a:lnTo>
                    <a:pt x="3292" y="4370"/>
                  </a:lnTo>
                  <a:lnTo>
                    <a:pt x="3282" y="4409"/>
                  </a:lnTo>
                  <a:lnTo>
                    <a:pt x="3269" y="4449"/>
                  </a:lnTo>
                  <a:lnTo>
                    <a:pt x="3256" y="4487"/>
                  </a:lnTo>
                  <a:lnTo>
                    <a:pt x="3239" y="4527"/>
                  </a:lnTo>
                  <a:lnTo>
                    <a:pt x="3224" y="4560"/>
                  </a:lnTo>
                  <a:lnTo>
                    <a:pt x="3240" y="4600"/>
                  </a:lnTo>
                  <a:lnTo>
                    <a:pt x="3257" y="4642"/>
                  </a:lnTo>
                  <a:lnTo>
                    <a:pt x="3272" y="4682"/>
                  </a:lnTo>
                  <a:lnTo>
                    <a:pt x="3283" y="4724"/>
                  </a:lnTo>
                  <a:lnTo>
                    <a:pt x="3293" y="4765"/>
                  </a:lnTo>
                  <a:lnTo>
                    <a:pt x="3301" y="4805"/>
                  </a:lnTo>
                  <a:lnTo>
                    <a:pt x="3305" y="4846"/>
                  </a:lnTo>
                  <a:lnTo>
                    <a:pt x="3309" y="4888"/>
                  </a:lnTo>
                  <a:lnTo>
                    <a:pt x="3310" y="4927"/>
                  </a:lnTo>
                  <a:lnTo>
                    <a:pt x="3309" y="4969"/>
                  </a:lnTo>
                  <a:lnTo>
                    <a:pt x="3305" y="5010"/>
                  </a:lnTo>
                  <a:lnTo>
                    <a:pt x="3300" y="5050"/>
                  </a:lnTo>
                  <a:lnTo>
                    <a:pt x="3292" y="5091"/>
                  </a:lnTo>
                  <a:lnTo>
                    <a:pt x="3282" y="5130"/>
                  </a:lnTo>
                  <a:lnTo>
                    <a:pt x="3269" y="5170"/>
                  </a:lnTo>
                  <a:lnTo>
                    <a:pt x="3256" y="5209"/>
                  </a:lnTo>
                  <a:lnTo>
                    <a:pt x="3239" y="5248"/>
                  </a:lnTo>
                  <a:lnTo>
                    <a:pt x="3191" y="5356"/>
                  </a:lnTo>
                  <a:lnTo>
                    <a:pt x="3073" y="5366"/>
                  </a:lnTo>
                  <a:lnTo>
                    <a:pt x="886" y="5559"/>
                  </a:lnTo>
                  <a:lnTo>
                    <a:pt x="735" y="5573"/>
                  </a:lnTo>
                  <a:lnTo>
                    <a:pt x="681" y="5430"/>
                  </a:lnTo>
                  <a:lnTo>
                    <a:pt x="668" y="5395"/>
                  </a:lnTo>
                  <a:lnTo>
                    <a:pt x="656" y="5359"/>
                  </a:lnTo>
                  <a:lnTo>
                    <a:pt x="646" y="5323"/>
                  </a:lnTo>
                  <a:lnTo>
                    <a:pt x="636" y="5286"/>
                  </a:lnTo>
                  <a:lnTo>
                    <a:pt x="628" y="5249"/>
                  </a:lnTo>
                  <a:lnTo>
                    <a:pt x="623" y="5210"/>
                  </a:lnTo>
                  <a:lnTo>
                    <a:pt x="618" y="5172"/>
                  </a:lnTo>
                  <a:lnTo>
                    <a:pt x="616" y="5133"/>
                  </a:lnTo>
                  <a:lnTo>
                    <a:pt x="614" y="5091"/>
                  </a:lnTo>
                  <a:lnTo>
                    <a:pt x="617" y="5049"/>
                  </a:lnTo>
                  <a:lnTo>
                    <a:pt x="621" y="5006"/>
                  </a:lnTo>
                  <a:lnTo>
                    <a:pt x="628" y="4963"/>
                  </a:lnTo>
                  <a:lnTo>
                    <a:pt x="633" y="4941"/>
                  </a:lnTo>
                  <a:lnTo>
                    <a:pt x="638" y="4919"/>
                  </a:lnTo>
                  <a:lnTo>
                    <a:pt x="645" y="4897"/>
                  </a:lnTo>
                  <a:lnTo>
                    <a:pt x="652" y="4875"/>
                  </a:lnTo>
                  <a:lnTo>
                    <a:pt x="659" y="4853"/>
                  </a:lnTo>
                  <a:lnTo>
                    <a:pt x="668" y="4831"/>
                  </a:lnTo>
                  <a:lnTo>
                    <a:pt x="677" y="4808"/>
                  </a:lnTo>
                  <a:lnTo>
                    <a:pt x="688" y="4786"/>
                  </a:lnTo>
                  <a:lnTo>
                    <a:pt x="700" y="4759"/>
                  </a:lnTo>
                  <a:lnTo>
                    <a:pt x="681" y="4709"/>
                  </a:lnTo>
                  <a:lnTo>
                    <a:pt x="668" y="4674"/>
                  </a:lnTo>
                  <a:lnTo>
                    <a:pt x="656" y="4638"/>
                  </a:lnTo>
                  <a:lnTo>
                    <a:pt x="646" y="4602"/>
                  </a:lnTo>
                  <a:lnTo>
                    <a:pt x="636" y="4565"/>
                  </a:lnTo>
                  <a:lnTo>
                    <a:pt x="628" y="4528"/>
                  </a:lnTo>
                  <a:lnTo>
                    <a:pt x="623" y="4489"/>
                  </a:lnTo>
                  <a:lnTo>
                    <a:pt x="618" y="4451"/>
                  </a:lnTo>
                  <a:lnTo>
                    <a:pt x="616" y="4412"/>
                  </a:lnTo>
                  <a:lnTo>
                    <a:pt x="614" y="4370"/>
                  </a:lnTo>
                  <a:lnTo>
                    <a:pt x="617" y="4327"/>
                  </a:lnTo>
                  <a:lnTo>
                    <a:pt x="621" y="4285"/>
                  </a:lnTo>
                  <a:lnTo>
                    <a:pt x="628" y="4242"/>
                  </a:lnTo>
                  <a:lnTo>
                    <a:pt x="633" y="4220"/>
                  </a:lnTo>
                  <a:lnTo>
                    <a:pt x="638" y="4198"/>
                  </a:lnTo>
                  <a:lnTo>
                    <a:pt x="645" y="4176"/>
                  </a:lnTo>
                  <a:lnTo>
                    <a:pt x="652" y="4154"/>
                  </a:lnTo>
                  <a:lnTo>
                    <a:pt x="659" y="4132"/>
                  </a:lnTo>
                  <a:lnTo>
                    <a:pt x="668" y="4110"/>
                  </a:lnTo>
                  <a:lnTo>
                    <a:pt x="677" y="4087"/>
                  </a:lnTo>
                  <a:lnTo>
                    <a:pt x="688" y="4064"/>
                  </a:lnTo>
                  <a:lnTo>
                    <a:pt x="736" y="3960"/>
                  </a:lnTo>
                  <a:lnTo>
                    <a:pt x="851" y="3950"/>
                  </a:lnTo>
                  <a:lnTo>
                    <a:pt x="934" y="3943"/>
                  </a:lnTo>
                  <a:lnTo>
                    <a:pt x="934" y="3586"/>
                  </a:lnTo>
                  <a:lnTo>
                    <a:pt x="885" y="3555"/>
                  </a:lnTo>
                  <a:lnTo>
                    <a:pt x="836" y="3522"/>
                  </a:lnTo>
                  <a:lnTo>
                    <a:pt x="789" y="3489"/>
                  </a:lnTo>
                  <a:lnTo>
                    <a:pt x="742" y="3454"/>
                  </a:lnTo>
                  <a:lnTo>
                    <a:pt x="697" y="3417"/>
                  </a:lnTo>
                  <a:lnTo>
                    <a:pt x="653" y="3378"/>
                  </a:lnTo>
                  <a:lnTo>
                    <a:pt x="610" y="3340"/>
                  </a:lnTo>
                  <a:lnTo>
                    <a:pt x="568" y="3299"/>
                  </a:lnTo>
                  <a:lnTo>
                    <a:pt x="527" y="3258"/>
                  </a:lnTo>
                  <a:lnTo>
                    <a:pt x="488" y="3215"/>
                  </a:lnTo>
                  <a:lnTo>
                    <a:pt x="450" y="3170"/>
                  </a:lnTo>
                  <a:lnTo>
                    <a:pt x="414" y="3125"/>
                  </a:lnTo>
                  <a:lnTo>
                    <a:pt x="378" y="3079"/>
                  </a:lnTo>
                  <a:lnTo>
                    <a:pt x="344" y="3031"/>
                  </a:lnTo>
                  <a:lnTo>
                    <a:pt x="311" y="2982"/>
                  </a:lnTo>
                  <a:lnTo>
                    <a:pt x="280" y="2934"/>
                  </a:lnTo>
                  <a:lnTo>
                    <a:pt x="248" y="2878"/>
                  </a:lnTo>
                  <a:lnTo>
                    <a:pt x="217" y="2821"/>
                  </a:lnTo>
                  <a:lnTo>
                    <a:pt x="188" y="2763"/>
                  </a:lnTo>
                  <a:lnTo>
                    <a:pt x="162" y="2705"/>
                  </a:lnTo>
                  <a:lnTo>
                    <a:pt x="136" y="2644"/>
                  </a:lnTo>
                  <a:lnTo>
                    <a:pt x="113" y="2584"/>
                  </a:lnTo>
                  <a:lnTo>
                    <a:pt x="92" y="2523"/>
                  </a:lnTo>
                  <a:lnTo>
                    <a:pt x="73" y="2460"/>
                  </a:lnTo>
                  <a:lnTo>
                    <a:pt x="56" y="2396"/>
                  </a:lnTo>
                  <a:lnTo>
                    <a:pt x="42" y="2332"/>
                  </a:lnTo>
                  <a:lnTo>
                    <a:pt x="29" y="2267"/>
                  </a:lnTo>
                  <a:lnTo>
                    <a:pt x="19" y="2201"/>
                  </a:lnTo>
                  <a:lnTo>
                    <a:pt x="11" y="2135"/>
                  </a:lnTo>
                  <a:lnTo>
                    <a:pt x="5" y="2067"/>
                  </a:lnTo>
                  <a:lnTo>
                    <a:pt x="1" y="2000"/>
                  </a:lnTo>
                  <a:lnTo>
                    <a:pt x="0" y="1932"/>
                  </a:lnTo>
                  <a:lnTo>
                    <a:pt x="0" y="1882"/>
                  </a:lnTo>
                  <a:lnTo>
                    <a:pt x="3" y="1832"/>
                  </a:lnTo>
                  <a:lnTo>
                    <a:pt x="5" y="1783"/>
                  </a:lnTo>
                  <a:lnTo>
                    <a:pt x="10" y="1734"/>
                  </a:lnTo>
                  <a:lnTo>
                    <a:pt x="15" y="1685"/>
                  </a:lnTo>
                  <a:lnTo>
                    <a:pt x="22" y="1638"/>
                  </a:lnTo>
                  <a:lnTo>
                    <a:pt x="30" y="1589"/>
                  </a:lnTo>
                  <a:lnTo>
                    <a:pt x="39" y="1543"/>
                  </a:lnTo>
                  <a:lnTo>
                    <a:pt x="49" y="1495"/>
                  </a:lnTo>
                  <a:lnTo>
                    <a:pt x="61" y="1449"/>
                  </a:lnTo>
                  <a:lnTo>
                    <a:pt x="73" y="1402"/>
                  </a:lnTo>
                  <a:lnTo>
                    <a:pt x="86" y="1357"/>
                  </a:lnTo>
                  <a:lnTo>
                    <a:pt x="101" y="1312"/>
                  </a:lnTo>
                  <a:lnTo>
                    <a:pt x="118" y="1267"/>
                  </a:lnTo>
                  <a:lnTo>
                    <a:pt x="134" y="1223"/>
                  </a:lnTo>
                  <a:lnTo>
                    <a:pt x="151" y="1179"/>
                  </a:lnTo>
                  <a:lnTo>
                    <a:pt x="171" y="1136"/>
                  </a:lnTo>
                  <a:lnTo>
                    <a:pt x="191" y="1094"/>
                  </a:lnTo>
                  <a:lnTo>
                    <a:pt x="212" y="1051"/>
                  </a:lnTo>
                  <a:lnTo>
                    <a:pt x="232" y="1011"/>
                  </a:lnTo>
                  <a:lnTo>
                    <a:pt x="256" y="970"/>
                  </a:lnTo>
                  <a:lnTo>
                    <a:pt x="279" y="930"/>
                  </a:lnTo>
                  <a:lnTo>
                    <a:pt x="304" y="890"/>
                  </a:lnTo>
                  <a:lnTo>
                    <a:pt x="330" y="852"/>
                  </a:lnTo>
                  <a:lnTo>
                    <a:pt x="357" y="813"/>
                  </a:lnTo>
                  <a:lnTo>
                    <a:pt x="383" y="775"/>
                  </a:lnTo>
                  <a:lnTo>
                    <a:pt x="411" y="739"/>
                  </a:lnTo>
                  <a:lnTo>
                    <a:pt x="441" y="702"/>
                  </a:lnTo>
                  <a:lnTo>
                    <a:pt x="470" y="667"/>
                  </a:lnTo>
                  <a:lnTo>
                    <a:pt x="502" y="632"/>
                  </a:lnTo>
                  <a:lnTo>
                    <a:pt x="533" y="599"/>
                  </a:lnTo>
                  <a:lnTo>
                    <a:pt x="566" y="565"/>
                  </a:lnTo>
                  <a:lnTo>
                    <a:pt x="599" y="532"/>
                  </a:lnTo>
                  <a:lnTo>
                    <a:pt x="633" y="501"/>
                  </a:lnTo>
                  <a:lnTo>
                    <a:pt x="668" y="471"/>
                  </a:lnTo>
                  <a:lnTo>
                    <a:pt x="703" y="441"/>
                  </a:lnTo>
                  <a:lnTo>
                    <a:pt x="739" y="412"/>
                  </a:lnTo>
                  <a:lnTo>
                    <a:pt x="776" y="383"/>
                  </a:lnTo>
                  <a:lnTo>
                    <a:pt x="813" y="356"/>
                  </a:lnTo>
                  <a:lnTo>
                    <a:pt x="851" y="329"/>
                  </a:lnTo>
                  <a:lnTo>
                    <a:pt x="891" y="304"/>
                  </a:lnTo>
                  <a:lnTo>
                    <a:pt x="930" y="279"/>
                  </a:lnTo>
                  <a:lnTo>
                    <a:pt x="970" y="255"/>
                  </a:lnTo>
                  <a:lnTo>
                    <a:pt x="1010" y="233"/>
                  </a:lnTo>
                  <a:lnTo>
                    <a:pt x="1052" y="211"/>
                  </a:lnTo>
                  <a:lnTo>
                    <a:pt x="1094" y="190"/>
                  </a:lnTo>
                  <a:lnTo>
                    <a:pt x="1137" y="170"/>
                  </a:lnTo>
                  <a:lnTo>
                    <a:pt x="1180" y="152"/>
                  </a:lnTo>
                  <a:lnTo>
                    <a:pt x="1224" y="133"/>
                  </a:lnTo>
                  <a:lnTo>
                    <a:pt x="1268" y="117"/>
                  </a:lnTo>
                  <a:lnTo>
                    <a:pt x="1312" y="101"/>
                  </a:lnTo>
                  <a:lnTo>
                    <a:pt x="1357" y="87"/>
                  </a:lnTo>
                  <a:lnTo>
                    <a:pt x="1403" y="73"/>
                  </a:lnTo>
                  <a:lnTo>
                    <a:pt x="1449" y="60"/>
                  </a:lnTo>
                  <a:lnTo>
                    <a:pt x="1496" y="48"/>
                  </a:lnTo>
                  <a:lnTo>
                    <a:pt x="1542" y="39"/>
                  </a:lnTo>
                  <a:lnTo>
                    <a:pt x="1590" y="30"/>
                  </a:lnTo>
                  <a:lnTo>
                    <a:pt x="1637" y="22"/>
                  </a:lnTo>
                  <a:lnTo>
                    <a:pt x="1686" y="15"/>
                  </a:lnTo>
                  <a:lnTo>
                    <a:pt x="1735" y="9"/>
                  </a:lnTo>
                  <a:lnTo>
                    <a:pt x="1783" y="5"/>
                  </a:lnTo>
                  <a:lnTo>
                    <a:pt x="1832" y="2"/>
                  </a:lnTo>
                  <a:lnTo>
                    <a:pt x="1882" y="0"/>
                  </a:lnTo>
                  <a:lnTo>
                    <a:pt x="1932" y="0"/>
                  </a:lnTo>
                  <a:close/>
                  <a:moveTo>
                    <a:pt x="1507" y="2300"/>
                  </a:moveTo>
                  <a:lnTo>
                    <a:pt x="1507" y="2300"/>
                  </a:lnTo>
                  <a:lnTo>
                    <a:pt x="1533" y="2310"/>
                  </a:lnTo>
                  <a:lnTo>
                    <a:pt x="1557" y="2318"/>
                  </a:lnTo>
                  <a:lnTo>
                    <a:pt x="1569" y="2321"/>
                  </a:lnTo>
                  <a:lnTo>
                    <a:pt x="1580" y="2323"/>
                  </a:lnTo>
                  <a:lnTo>
                    <a:pt x="1592" y="2324"/>
                  </a:lnTo>
                  <a:lnTo>
                    <a:pt x="1604" y="2324"/>
                  </a:lnTo>
                  <a:lnTo>
                    <a:pt x="1619" y="2324"/>
                  </a:lnTo>
                  <a:lnTo>
                    <a:pt x="1633" y="2322"/>
                  </a:lnTo>
                  <a:lnTo>
                    <a:pt x="1648" y="2318"/>
                  </a:lnTo>
                  <a:lnTo>
                    <a:pt x="1663" y="2314"/>
                  </a:lnTo>
                  <a:lnTo>
                    <a:pt x="1677" y="2308"/>
                  </a:lnTo>
                  <a:lnTo>
                    <a:pt x="1691" y="2300"/>
                  </a:lnTo>
                  <a:lnTo>
                    <a:pt x="1705" y="2289"/>
                  </a:lnTo>
                  <a:lnTo>
                    <a:pt x="1718" y="2279"/>
                  </a:lnTo>
                  <a:lnTo>
                    <a:pt x="1750" y="2251"/>
                  </a:lnTo>
                  <a:lnTo>
                    <a:pt x="1782" y="2276"/>
                  </a:lnTo>
                  <a:lnTo>
                    <a:pt x="1801" y="2290"/>
                  </a:lnTo>
                  <a:lnTo>
                    <a:pt x="1819" y="2303"/>
                  </a:lnTo>
                  <a:lnTo>
                    <a:pt x="1838" y="2314"/>
                  </a:lnTo>
                  <a:lnTo>
                    <a:pt x="1855" y="2323"/>
                  </a:lnTo>
                  <a:lnTo>
                    <a:pt x="1873" y="2330"/>
                  </a:lnTo>
                  <a:lnTo>
                    <a:pt x="1890" y="2336"/>
                  </a:lnTo>
                  <a:lnTo>
                    <a:pt x="1908" y="2339"/>
                  </a:lnTo>
                  <a:lnTo>
                    <a:pt x="1924" y="2340"/>
                  </a:lnTo>
                  <a:lnTo>
                    <a:pt x="1939" y="2340"/>
                  </a:lnTo>
                  <a:lnTo>
                    <a:pt x="1954" y="2338"/>
                  </a:lnTo>
                  <a:lnTo>
                    <a:pt x="1969" y="2333"/>
                  </a:lnTo>
                  <a:lnTo>
                    <a:pt x="1984" y="2328"/>
                  </a:lnTo>
                  <a:lnTo>
                    <a:pt x="1999" y="2319"/>
                  </a:lnTo>
                  <a:lnTo>
                    <a:pt x="2013" y="2309"/>
                  </a:lnTo>
                  <a:lnTo>
                    <a:pt x="2028" y="2296"/>
                  </a:lnTo>
                  <a:lnTo>
                    <a:pt x="2044" y="2282"/>
                  </a:lnTo>
                  <a:lnTo>
                    <a:pt x="2077" y="2246"/>
                  </a:lnTo>
                  <a:lnTo>
                    <a:pt x="2113" y="2279"/>
                  </a:lnTo>
                  <a:lnTo>
                    <a:pt x="2134" y="2295"/>
                  </a:lnTo>
                  <a:lnTo>
                    <a:pt x="2154" y="2308"/>
                  </a:lnTo>
                  <a:lnTo>
                    <a:pt x="2175" y="2319"/>
                  </a:lnTo>
                  <a:lnTo>
                    <a:pt x="2194" y="2326"/>
                  </a:lnTo>
                  <a:lnTo>
                    <a:pt x="2215" y="2332"/>
                  </a:lnTo>
                  <a:lnTo>
                    <a:pt x="2235" y="2336"/>
                  </a:lnTo>
                  <a:lnTo>
                    <a:pt x="2255" y="2337"/>
                  </a:lnTo>
                  <a:lnTo>
                    <a:pt x="2275" y="2336"/>
                  </a:lnTo>
                  <a:lnTo>
                    <a:pt x="2291" y="2333"/>
                  </a:lnTo>
                  <a:lnTo>
                    <a:pt x="2308" y="2330"/>
                  </a:lnTo>
                  <a:lnTo>
                    <a:pt x="2324" y="2325"/>
                  </a:lnTo>
                  <a:lnTo>
                    <a:pt x="2342" y="2319"/>
                  </a:lnTo>
                  <a:lnTo>
                    <a:pt x="2359" y="2314"/>
                  </a:lnTo>
                  <a:lnTo>
                    <a:pt x="2377" y="2307"/>
                  </a:lnTo>
                  <a:lnTo>
                    <a:pt x="2412" y="2290"/>
                  </a:lnTo>
                  <a:lnTo>
                    <a:pt x="2484" y="2175"/>
                  </a:lnTo>
                  <a:lnTo>
                    <a:pt x="2653" y="2281"/>
                  </a:lnTo>
                  <a:lnTo>
                    <a:pt x="2239" y="2948"/>
                  </a:lnTo>
                  <a:lnTo>
                    <a:pt x="2239" y="3826"/>
                  </a:lnTo>
                  <a:lnTo>
                    <a:pt x="2564" y="3799"/>
                  </a:lnTo>
                  <a:lnTo>
                    <a:pt x="2564" y="3450"/>
                  </a:lnTo>
                  <a:lnTo>
                    <a:pt x="2564" y="3332"/>
                  </a:lnTo>
                  <a:lnTo>
                    <a:pt x="2668" y="3274"/>
                  </a:lnTo>
                  <a:lnTo>
                    <a:pt x="2712" y="3248"/>
                  </a:lnTo>
                  <a:lnTo>
                    <a:pt x="2756" y="3222"/>
                  </a:lnTo>
                  <a:lnTo>
                    <a:pt x="2799" y="3194"/>
                  </a:lnTo>
                  <a:lnTo>
                    <a:pt x="2841" y="3163"/>
                  </a:lnTo>
                  <a:lnTo>
                    <a:pt x="2882" y="3132"/>
                  </a:lnTo>
                  <a:lnTo>
                    <a:pt x="2921" y="3100"/>
                  </a:lnTo>
                  <a:lnTo>
                    <a:pt x="2960" y="3066"/>
                  </a:lnTo>
                  <a:lnTo>
                    <a:pt x="2997" y="3031"/>
                  </a:lnTo>
                  <a:lnTo>
                    <a:pt x="3033" y="2995"/>
                  </a:lnTo>
                  <a:lnTo>
                    <a:pt x="3067" y="2958"/>
                  </a:lnTo>
                  <a:lnTo>
                    <a:pt x="3101" y="2918"/>
                  </a:lnTo>
                  <a:lnTo>
                    <a:pt x="3134" y="2879"/>
                  </a:lnTo>
                  <a:lnTo>
                    <a:pt x="3165" y="2838"/>
                  </a:lnTo>
                  <a:lnTo>
                    <a:pt x="3195" y="2797"/>
                  </a:lnTo>
                  <a:lnTo>
                    <a:pt x="3223" y="2754"/>
                  </a:lnTo>
                  <a:lnTo>
                    <a:pt x="3250" y="2711"/>
                  </a:lnTo>
                  <a:lnTo>
                    <a:pt x="3275" y="2667"/>
                  </a:lnTo>
                  <a:lnTo>
                    <a:pt x="3299" y="2624"/>
                  </a:lnTo>
                  <a:lnTo>
                    <a:pt x="3319" y="2578"/>
                  </a:lnTo>
                  <a:lnTo>
                    <a:pt x="3340" y="2533"/>
                  </a:lnTo>
                  <a:lnTo>
                    <a:pt x="3359" y="2487"/>
                  </a:lnTo>
                  <a:lnTo>
                    <a:pt x="3376" y="2439"/>
                  </a:lnTo>
                  <a:lnTo>
                    <a:pt x="3393" y="2391"/>
                  </a:lnTo>
                  <a:lnTo>
                    <a:pt x="3406" y="2343"/>
                  </a:lnTo>
                  <a:lnTo>
                    <a:pt x="3419" y="2293"/>
                  </a:lnTo>
                  <a:lnTo>
                    <a:pt x="3431" y="2243"/>
                  </a:lnTo>
                  <a:lnTo>
                    <a:pt x="3440" y="2193"/>
                  </a:lnTo>
                  <a:lnTo>
                    <a:pt x="3448" y="2142"/>
                  </a:lnTo>
                  <a:lnTo>
                    <a:pt x="3454" y="2089"/>
                  </a:lnTo>
                  <a:lnTo>
                    <a:pt x="3459" y="2037"/>
                  </a:lnTo>
                  <a:lnTo>
                    <a:pt x="3461" y="1985"/>
                  </a:lnTo>
                  <a:lnTo>
                    <a:pt x="3462" y="1932"/>
                  </a:lnTo>
                  <a:lnTo>
                    <a:pt x="3462" y="1892"/>
                  </a:lnTo>
                  <a:lnTo>
                    <a:pt x="3460" y="1853"/>
                  </a:lnTo>
                  <a:lnTo>
                    <a:pt x="3458" y="1814"/>
                  </a:lnTo>
                  <a:lnTo>
                    <a:pt x="3454" y="1775"/>
                  </a:lnTo>
                  <a:lnTo>
                    <a:pt x="3449" y="1737"/>
                  </a:lnTo>
                  <a:lnTo>
                    <a:pt x="3445" y="1698"/>
                  </a:lnTo>
                  <a:lnTo>
                    <a:pt x="3438" y="1661"/>
                  </a:lnTo>
                  <a:lnTo>
                    <a:pt x="3431" y="1623"/>
                  </a:lnTo>
                  <a:lnTo>
                    <a:pt x="3423" y="1586"/>
                  </a:lnTo>
                  <a:lnTo>
                    <a:pt x="3415" y="1548"/>
                  </a:lnTo>
                  <a:lnTo>
                    <a:pt x="3404" y="1512"/>
                  </a:lnTo>
                  <a:lnTo>
                    <a:pt x="3394" y="1476"/>
                  </a:lnTo>
                  <a:lnTo>
                    <a:pt x="3382" y="1440"/>
                  </a:lnTo>
                  <a:lnTo>
                    <a:pt x="3369" y="1406"/>
                  </a:lnTo>
                  <a:lnTo>
                    <a:pt x="3357" y="1371"/>
                  </a:lnTo>
                  <a:lnTo>
                    <a:pt x="3341" y="1336"/>
                  </a:lnTo>
                  <a:lnTo>
                    <a:pt x="3328" y="1301"/>
                  </a:lnTo>
                  <a:lnTo>
                    <a:pt x="3311" y="1267"/>
                  </a:lnTo>
                  <a:lnTo>
                    <a:pt x="3295" y="1235"/>
                  </a:lnTo>
                  <a:lnTo>
                    <a:pt x="3278" y="1202"/>
                  </a:lnTo>
                  <a:lnTo>
                    <a:pt x="3259" y="1170"/>
                  </a:lnTo>
                  <a:lnTo>
                    <a:pt x="3240" y="1137"/>
                  </a:lnTo>
                  <a:lnTo>
                    <a:pt x="3221" y="1106"/>
                  </a:lnTo>
                  <a:lnTo>
                    <a:pt x="3201" y="1076"/>
                  </a:lnTo>
                  <a:lnTo>
                    <a:pt x="3180" y="1046"/>
                  </a:lnTo>
                  <a:lnTo>
                    <a:pt x="3158" y="1015"/>
                  </a:lnTo>
                  <a:lnTo>
                    <a:pt x="3136" y="986"/>
                  </a:lnTo>
                  <a:lnTo>
                    <a:pt x="3113" y="957"/>
                  </a:lnTo>
                  <a:lnTo>
                    <a:pt x="3090" y="930"/>
                  </a:lnTo>
                  <a:lnTo>
                    <a:pt x="3065" y="902"/>
                  </a:lnTo>
                  <a:lnTo>
                    <a:pt x="3040" y="875"/>
                  </a:lnTo>
                  <a:lnTo>
                    <a:pt x="3014" y="849"/>
                  </a:lnTo>
                  <a:lnTo>
                    <a:pt x="2987" y="824"/>
                  </a:lnTo>
                  <a:lnTo>
                    <a:pt x="2961" y="798"/>
                  </a:lnTo>
                  <a:lnTo>
                    <a:pt x="2934" y="774"/>
                  </a:lnTo>
                  <a:lnTo>
                    <a:pt x="2905" y="751"/>
                  </a:lnTo>
                  <a:lnTo>
                    <a:pt x="2877" y="728"/>
                  </a:lnTo>
                  <a:lnTo>
                    <a:pt x="2848" y="704"/>
                  </a:lnTo>
                  <a:lnTo>
                    <a:pt x="2818" y="683"/>
                  </a:lnTo>
                  <a:lnTo>
                    <a:pt x="2788" y="663"/>
                  </a:lnTo>
                  <a:lnTo>
                    <a:pt x="2756" y="642"/>
                  </a:lnTo>
                  <a:lnTo>
                    <a:pt x="2725" y="622"/>
                  </a:lnTo>
                  <a:lnTo>
                    <a:pt x="2694" y="603"/>
                  </a:lnTo>
                  <a:lnTo>
                    <a:pt x="2661" y="586"/>
                  </a:lnTo>
                  <a:lnTo>
                    <a:pt x="2629" y="568"/>
                  </a:lnTo>
                  <a:lnTo>
                    <a:pt x="2595" y="552"/>
                  </a:lnTo>
                  <a:lnTo>
                    <a:pt x="2561" y="536"/>
                  </a:lnTo>
                  <a:lnTo>
                    <a:pt x="2528" y="521"/>
                  </a:lnTo>
                  <a:lnTo>
                    <a:pt x="2493" y="507"/>
                  </a:lnTo>
                  <a:lnTo>
                    <a:pt x="2458" y="494"/>
                  </a:lnTo>
                  <a:lnTo>
                    <a:pt x="2423" y="481"/>
                  </a:lnTo>
                  <a:lnTo>
                    <a:pt x="2387" y="470"/>
                  </a:lnTo>
                  <a:lnTo>
                    <a:pt x="2351" y="459"/>
                  </a:lnTo>
                  <a:lnTo>
                    <a:pt x="2314" y="449"/>
                  </a:lnTo>
                  <a:lnTo>
                    <a:pt x="2277" y="440"/>
                  </a:lnTo>
                  <a:lnTo>
                    <a:pt x="2240" y="431"/>
                  </a:lnTo>
                  <a:lnTo>
                    <a:pt x="2203" y="424"/>
                  </a:lnTo>
                  <a:lnTo>
                    <a:pt x="2164" y="419"/>
                  </a:lnTo>
                  <a:lnTo>
                    <a:pt x="2127" y="413"/>
                  </a:lnTo>
                  <a:lnTo>
                    <a:pt x="2088" y="408"/>
                  </a:lnTo>
                  <a:lnTo>
                    <a:pt x="2049" y="405"/>
                  </a:lnTo>
                  <a:lnTo>
                    <a:pt x="2011" y="402"/>
                  </a:lnTo>
                  <a:lnTo>
                    <a:pt x="1972" y="401"/>
                  </a:lnTo>
                  <a:lnTo>
                    <a:pt x="1932" y="401"/>
                  </a:lnTo>
                  <a:lnTo>
                    <a:pt x="1893" y="401"/>
                  </a:lnTo>
                  <a:lnTo>
                    <a:pt x="1853" y="402"/>
                  </a:lnTo>
                  <a:lnTo>
                    <a:pt x="1814" y="405"/>
                  </a:lnTo>
                  <a:lnTo>
                    <a:pt x="1775" y="408"/>
                  </a:lnTo>
                  <a:lnTo>
                    <a:pt x="1737" y="413"/>
                  </a:lnTo>
                  <a:lnTo>
                    <a:pt x="1699" y="419"/>
                  </a:lnTo>
                  <a:lnTo>
                    <a:pt x="1660" y="424"/>
                  </a:lnTo>
                  <a:lnTo>
                    <a:pt x="1623" y="431"/>
                  </a:lnTo>
                  <a:lnTo>
                    <a:pt x="1586" y="440"/>
                  </a:lnTo>
                  <a:lnTo>
                    <a:pt x="1549" y="449"/>
                  </a:lnTo>
                  <a:lnTo>
                    <a:pt x="1513" y="459"/>
                  </a:lnTo>
                  <a:lnTo>
                    <a:pt x="1477" y="470"/>
                  </a:lnTo>
                  <a:lnTo>
                    <a:pt x="1441" y="481"/>
                  </a:lnTo>
                  <a:lnTo>
                    <a:pt x="1405" y="494"/>
                  </a:lnTo>
                  <a:lnTo>
                    <a:pt x="1370" y="507"/>
                  </a:lnTo>
                  <a:lnTo>
                    <a:pt x="1335" y="521"/>
                  </a:lnTo>
                  <a:lnTo>
                    <a:pt x="1302" y="536"/>
                  </a:lnTo>
                  <a:lnTo>
                    <a:pt x="1268" y="552"/>
                  </a:lnTo>
                  <a:lnTo>
                    <a:pt x="1234" y="568"/>
                  </a:lnTo>
                  <a:lnTo>
                    <a:pt x="1202" y="586"/>
                  </a:lnTo>
                  <a:lnTo>
                    <a:pt x="1169" y="603"/>
                  </a:lnTo>
                  <a:lnTo>
                    <a:pt x="1138" y="622"/>
                  </a:lnTo>
                  <a:lnTo>
                    <a:pt x="1107" y="642"/>
                  </a:lnTo>
                  <a:lnTo>
                    <a:pt x="1076" y="663"/>
                  </a:lnTo>
                  <a:lnTo>
                    <a:pt x="1045" y="683"/>
                  </a:lnTo>
                  <a:lnTo>
                    <a:pt x="1016" y="704"/>
                  </a:lnTo>
                  <a:lnTo>
                    <a:pt x="987" y="728"/>
                  </a:lnTo>
                  <a:lnTo>
                    <a:pt x="958" y="751"/>
                  </a:lnTo>
                  <a:lnTo>
                    <a:pt x="930" y="774"/>
                  </a:lnTo>
                  <a:lnTo>
                    <a:pt x="902" y="798"/>
                  </a:lnTo>
                  <a:lnTo>
                    <a:pt x="876" y="824"/>
                  </a:lnTo>
                  <a:lnTo>
                    <a:pt x="849" y="849"/>
                  </a:lnTo>
                  <a:lnTo>
                    <a:pt x="823" y="875"/>
                  </a:lnTo>
                  <a:lnTo>
                    <a:pt x="799" y="902"/>
                  </a:lnTo>
                  <a:lnTo>
                    <a:pt x="775" y="930"/>
                  </a:lnTo>
                  <a:lnTo>
                    <a:pt x="750" y="957"/>
                  </a:lnTo>
                  <a:lnTo>
                    <a:pt x="728" y="986"/>
                  </a:lnTo>
                  <a:lnTo>
                    <a:pt x="705" y="1015"/>
                  </a:lnTo>
                  <a:lnTo>
                    <a:pt x="684" y="1046"/>
                  </a:lnTo>
                  <a:lnTo>
                    <a:pt x="662" y="1076"/>
                  </a:lnTo>
                  <a:lnTo>
                    <a:pt x="642" y="1106"/>
                  </a:lnTo>
                  <a:lnTo>
                    <a:pt x="623" y="1137"/>
                  </a:lnTo>
                  <a:lnTo>
                    <a:pt x="604" y="1170"/>
                  </a:lnTo>
                  <a:lnTo>
                    <a:pt x="585" y="1202"/>
                  </a:lnTo>
                  <a:lnTo>
                    <a:pt x="569" y="1235"/>
                  </a:lnTo>
                  <a:lnTo>
                    <a:pt x="552" y="1267"/>
                  </a:lnTo>
                  <a:lnTo>
                    <a:pt x="537" y="1301"/>
                  </a:lnTo>
                  <a:lnTo>
                    <a:pt x="522" y="1336"/>
                  </a:lnTo>
                  <a:lnTo>
                    <a:pt x="508" y="1371"/>
                  </a:lnTo>
                  <a:lnTo>
                    <a:pt x="494" y="1406"/>
                  </a:lnTo>
                  <a:lnTo>
                    <a:pt x="482" y="1440"/>
                  </a:lnTo>
                  <a:lnTo>
                    <a:pt x="470" y="1476"/>
                  </a:lnTo>
                  <a:lnTo>
                    <a:pt x="459" y="1512"/>
                  </a:lnTo>
                  <a:lnTo>
                    <a:pt x="450" y="1548"/>
                  </a:lnTo>
                  <a:lnTo>
                    <a:pt x="440" y="1586"/>
                  </a:lnTo>
                  <a:lnTo>
                    <a:pt x="432" y="1623"/>
                  </a:lnTo>
                  <a:lnTo>
                    <a:pt x="425" y="1661"/>
                  </a:lnTo>
                  <a:lnTo>
                    <a:pt x="418" y="1698"/>
                  </a:lnTo>
                  <a:lnTo>
                    <a:pt x="414" y="1737"/>
                  </a:lnTo>
                  <a:lnTo>
                    <a:pt x="409" y="1775"/>
                  </a:lnTo>
                  <a:lnTo>
                    <a:pt x="405" y="1814"/>
                  </a:lnTo>
                  <a:lnTo>
                    <a:pt x="403" y="1853"/>
                  </a:lnTo>
                  <a:lnTo>
                    <a:pt x="402" y="1892"/>
                  </a:lnTo>
                  <a:lnTo>
                    <a:pt x="401" y="1932"/>
                  </a:lnTo>
                  <a:lnTo>
                    <a:pt x="402" y="1986"/>
                  </a:lnTo>
                  <a:lnTo>
                    <a:pt x="405" y="2040"/>
                  </a:lnTo>
                  <a:lnTo>
                    <a:pt x="410" y="2093"/>
                  </a:lnTo>
                  <a:lnTo>
                    <a:pt x="416" y="2146"/>
                  </a:lnTo>
                  <a:lnTo>
                    <a:pt x="424" y="2199"/>
                  </a:lnTo>
                  <a:lnTo>
                    <a:pt x="434" y="2251"/>
                  </a:lnTo>
                  <a:lnTo>
                    <a:pt x="446" y="2301"/>
                  </a:lnTo>
                  <a:lnTo>
                    <a:pt x="459" y="2352"/>
                  </a:lnTo>
                  <a:lnTo>
                    <a:pt x="474" y="2402"/>
                  </a:lnTo>
                  <a:lnTo>
                    <a:pt x="490" y="2451"/>
                  </a:lnTo>
                  <a:lnTo>
                    <a:pt x="509" y="2498"/>
                  </a:lnTo>
                  <a:lnTo>
                    <a:pt x="529" y="2546"/>
                  </a:lnTo>
                  <a:lnTo>
                    <a:pt x="549" y="2592"/>
                  </a:lnTo>
                  <a:lnTo>
                    <a:pt x="573" y="2638"/>
                  </a:lnTo>
                  <a:lnTo>
                    <a:pt x="597" y="2682"/>
                  </a:lnTo>
                  <a:lnTo>
                    <a:pt x="623" y="2726"/>
                  </a:lnTo>
                  <a:lnTo>
                    <a:pt x="650" y="2770"/>
                  </a:lnTo>
                  <a:lnTo>
                    <a:pt x="679" y="2814"/>
                  </a:lnTo>
                  <a:lnTo>
                    <a:pt x="711" y="2856"/>
                  </a:lnTo>
                  <a:lnTo>
                    <a:pt x="743" y="2896"/>
                  </a:lnTo>
                  <a:lnTo>
                    <a:pt x="777" y="2937"/>
                  </a:lnTo>
                  <a:lnTo>
                    <a:pt x="812" y="2975"/>
                  </a:lnTo>
                  <a:lnTo>
                    <a:pt x="848" y="3014"/>
                  </a:lnTo>
                  <a:lnTo>
                    <a:pt x="885" y="3050"/>
                  </a:lnTo>
                  <a:lnTo>
                    <a:pt x="924" y="3085"/>
                  </a:lnTo>
                  <a:lnTo>
                    <a:pt x="964" y="3118"/>
                  </a:lnTo>
                  <a:lnTo>
                    <a:pt x="1004" y="3151"/>
                  </a:lnTo>
                  <a:lnTo>
                    <a:pt x="1047" y="3182"/>
                  </a:lnTo>
                  <a:lnTo>
                    <a:pt x="1090" y="3211"/>
                  </a:lnTo>
                  <a:lnTo>
                    <a:pt x="1135" y="3239"/>
                  </a:lnTo>
                  <a:lnTo>
                    <a:pt x="1180" y="3266"/>
                  </a:lnTo>
                  <a:lnTo>
                    <a:pt x="1226" y="3291"/>
                  </a:lnTo>
                  <a:lnTo>
                    <a:pt x="1335" y="3348"/>
                  </a:lnTo>
                  <a:lnTo>
                    <a:pt x="1335" y="3469"/>
                  </a:lnTo>
                  <a:lnTo>
                    <a:pt x="1335" y="3838"/>
                  </a:lnTo>
                  <a:lnTo>
                    <a:pt x="1674" y="3838"/>
                  </a:lnTo>
                  <a:lnTo>
                    <a:pt x="1674" y="2948"/>
                  </a:lnTo>
                  <a:lnTo>
                    <a:pt x="1260" y="2281"/>
                  </a:lnTo>
                  <a:lnTo>
                    <a:pt x="1431" y="2175"/>
                  </a:lnTo>
                  <a:lnTo>
                    <a:pt x="1507" y="2300"/>
                  </a:lnTo>
                  <a:close/>
                  <a:moveTo>
                    <a:pt x="2326" y="2429"/>
                  </a:moveTo>
                  <a:lnTo>
                    <a:pt x="2326" y="2429"/>
                  </a:lnTo>
                  <a:lnTo>
                    <a:pt x="2305" y="2432"/>
                  </a:lnTo>
                  <a:lnTo>
                    <a:pt x="2284" y="2435"/>
                  </a:lnTo>
                  <a:lnTo>
                    <a:pt x="2258" y="2437"/>
                  </a:lnTo>
                  <a:lnTo>
                    <a:pt x="2234" y="2437"/>
                  </a:lnTo>
                  <a:lnTo>
                    <a:pt x="2208" y="2433"/>
                  </a:lnTo>
                  <a:lnTo>
                    <a:pt x="2184" y="2429"/>
                  </a:lnTo>
                  <a:lnTo>
                    <a:pt x="2158" y="2420"/>
                  </a:lnTo>
                  <a:lnTo>
                    <a:pt x="2134" y="2411"/>
                  </a:lnTo>
                  <a:lnTo>
                    <a:pt x="2109" y="2397"/>
                  </a:lnTo>
                  <a:lnTo>
                    <a:pt x="2083" y="2382"/>
                  </a:lnTo>
                  <a:lnTo>
                    <a:pt x="2063" y="2396"/>
                  </a:lnTo>
                  <a:lnTo>
                    <a:pt x="2045" y="2409"/>
                  </a:lnTo>
                  <a:lnTo>
                    <a:pt x="2024" y="2419"/>
                  </a:lnTo>
                  <a:lnTo>
                    <a:pt x="2004" y="2427"/>
                  </a:lnTo>
                  <a:lnTo>
                    <a:pt x="1983" y="2434"/>
                  </a:lnTo>
                  <a:lnTo>
                    <a:pt x="1962" y="2438"/>
                  </a:lnTo>
                  <a:lnTo>
                    <a:pt x="1941" y="2440"/>
                  </a:lnTo>
                  <a:lnTo>
                    <a:pt x="1920" y="2440"/>
                  </a:lnTo>
                  <a:lnTo>
                    <a:pt x="1900" y="2439"/>
                  </a:lnTo>
                  <a:lnTo>
                    <a:pt x="1879" y="2435"/>
                  </a:lnTo>
                  <a:lnTo>
                    <a:pt x="1858" y="2430"/>
                  </a:lnTo>
                  <a:lnTo>
                    <a:pt x="1837" y="2423"/>
                  </a:lnTo>
                  <a:lnTo>
                    <a:pt x="1816" y="2415"/>
                  </a:lnTo>
                  <a:lnTo>
                    <a:pt x="1794" y="2404"/>
                  </a:lnTo>
                  <a:lnTo>
                    <a:pt x="1773" y="2393"/>
                  </a:lnTo>
                  <a:lnTo>
                    <a:pt x="1752" y="2379"/>
                  </a:lnTo>
                  <a:lnTo>
                    <a:pt x="1735" y="2390"/>
                  </a:lnTo>
                  <a:lnTo>
                    <a:pt x="1716" y="2399"/>
                  </a:lnTo>
                  <a:lnTo>
                    <a:pt x="1699" y="2408"/>
                  </a:lnTo>
                  <a:lnTo>
                    <a:pt x="1679" y="2413"/>
                  </a:lnTo>
                  <a:lnTo>
                    <a:pt x="1660" y="2418"/>
                  </a:lnTo>
                  <a:lnTo>
                    <a:pt x="1642" y="2422"/>
                  </a:lnTo>
                  <a:lnTo>
                    <a:pt x="1622" y="2424"/>
                  </a:lnTo>
                  <a:lnTo>
                    <a:pt x="1602" y="2424"/>
                  </a:lnTo>
                  <a:lnTo>
                    <a:pt x="1585" y="2424"/>
                  </a:lnTo>
                  <a:lnTo>
                    <a:pt x="1860" y="2866"/>
                  </a:lnTo>
                  <a:lnTo>
                    <a:pt x="1875" y="2891"/>
                  </a:lnTo>
                  <a:lnTo>
                    <a:pt x="1875" y="2918"/>
                  </a:lnTo>
                  <a:lnTo>
                    <a:pt x="1875" y="3838"/>
                  </a:lnTo>
                  <a:lnTo>
                    <a:pt x="2038" y="3838"/>
                  </a:lnTo>
                  <a:lnTo>
                    <a:pt x="2038" y="2918"/>
                  </a:lnTo>
                  <a:lnTo>
                    <a:pt x="2038" y="2891"/>
                  </a:lnTo>
                  <a:lnTo>
                    <a:pt x="2053" y="2866"/>
                  </a:lnTo>
                  <a:lnTo>
                    <a:pt x="2326" y="2429"/>
                  </a:lnTo>
                  <a:close/>
                  <a:moveTo>
                    <a:pt x="2506" y="5533"/>
                  </a:moveTo>
                  <a:lnTo>
                    <a:pt x="1402" y="5631"/>
                  </a:lnTo>
                  <a:lnTo>
                    <a:pt x="1405" y="5656"/>
                  </a:lnTo>
                  <a:lnTo>
                    <a:pt x="1410" y="5681"/>
                  </a:lnTo>
                  <a:lnTo>
                    <a:pt x="1417" y="5705"/>
                  </a:lnTo>
                  <a:lnTo>
                    <a:pt x="1424" y="5729"/>
                  </a:lnTo>
                  <a:lnTo>
                    <a:pt x="1432" y="5753"/>
                  </a:lnTo>
                  <a:lnTo>
                    <a:pt x="1441" y="5776"/>
                  </a:lnTo>
                  <a:lnTo>
                    <a:pt x="1451" y="5798"/>
                  </a:lnTo>
                  <a:lnTo>
                    <a:pt x="1463" y="5820"/>
                  </a:lnTo>
                  <a:lnTo>
                    <a:pt x="1475" y="5842"/>
                  </a:lnTo>
                  <a:lnTo>
                    <a:pt x="1489" y="5862"/>
                  </a:lnTo>
                  <a:lnTo>
                    <a:pt x="1503" y="5883"/>
                  </a:lnTo>
                  <a:lnTo>
                    <a:pt x="1516" y="5902"/>
                  </a:lnTo>
                  <a:lnTo>
                    <a:pt x="1533" y="5921"/>
                  </a:lnTo>
                  <a:lnTo>
                    <a:pt x="1549" y="5938"/>
                  </a:lnTo>
                  <a:lnTo>
                    <a:pt x="1566" y="5956"/>
                  </a:lnTo>
                  <a:lnTo>
                    <a:pt x="1584" y="5973"/>
                  </a:lnTo>
                  <a:lnTo>
                    <a:pt x="1602" y="5988"/>
                  </a:lnTo>
                  <a:lnTo>
                    <a:pt x="1622" y="6003"/>
                  </a:lnTo>
                  <a:lnTo>
                    <a:pt x="1642" y="6017"/>
                  </a:lnTo>
                  <a:lnTo>
                    <a:pt x="1663" y="6031"/>
                  </a:lnTo>
                  <a:lnTo>
                    <a:pt x="1685" y="6043"/>
                  </a:lnTo>
                  <a:lnTo>
                    <a:pt x="1706" y="6055"/>
                  </a:lnTo>
                  <a:lnTo>
                    <a:pt x="1729" y="6065"/>
                  </a:lnTo>
                  <a:lnTo>
                    <a:pt x="1752" y="6074"/>
                  </a:lnTo>
                  <a:lnTo>
                    <a:pt x="1775" y="6082"/>
                  </a:lnTo>
                  <a:lnTo>
                    <a:pt x="1799" y="6091"/>
                  </a:lnTo>
                  <a:lnTo>
                    <a:pt x="1823" y="6096"/>
                  </a:lnTo>
                  <a:lnTo>
                    <a:pt x="1849" y="6102"/>
                  </a:lnTo>
                  <a:lnTo>
                    <a:pt x="1873" y="6106"/>
                  </a:lnTo>
                  <a:lnTo>
                    <a:pt x="1900" y="6109"/>
                  </a:lnTo>
                  <a:lnTo>
                    <a:pt x="1925" y="6110"/>
                  </a:lnTo>
                  <a:lnTo>
                    <a:pt x="1951" y="6111"/>
                  </a:lnTo>
                  <a:lnTo>
                    <a:pt x="1980" y="6110"/>
                  </a:lnTo>
                  <a:lnTo>
                    <a:pt x="2008" y="6109"/>
                  </a:lnTo>
                  <a:lnTo>
                    <a:pt x="2035" y="6106"/>
                  </a:lnTo>
                  <a:lnTo>
                    <a:pt x="2063" y="6100"/>
                  </a:lnTo>
                  <a:lnTo>
                    <a:pt x="2090" y="6094"/>
                  </a:lnTo>
                  <a:lnTo>
                    <a:pt x="2117" y="6087"/>
                  </a:lnTo>
                  <a:lnTo>
                    <a:pt x="2142" y="6078"/>
                  </a:lnTo>
                  <a:lnTo>
                    <a:pt x="2168" y="6067"/>
                  </a:lnTo>
                  <a:lnTo>
                    <a:pt x="2192" y="6057"/>
                  </a:lnTo>
                  <a:lnTo>
                    <a:pt x="2215" y="6044"/>
                  </a:lnTo>
                  <a:lnTo>
                    <a:pt x="2239" y="6031"/>
                  </a:lnTo>
                  <a:lnTo>
                    <a:pt x="2262" y="6016"/>
                  </a:lnTo>
                  <a:lnTo>
                    <a:pt x="2284" y="6001"/>
                  </a:lnTo>
                  <a:lnTo>
                    <a:pt x="2305" y="5985"/>
                  </a:lnTo>
                  <a:lnTo>
                    <a:pt x="2324" y="5968"/>
                  </a:lnTo>
                  <a:lnTo>
                    <a:pt x="2344" y="5949"/>
                  </a:lnTo>
                  <a:lnTo>
                    <a:pt x="2362" y="5929"/>
                  </a:lnTo>
                  <a:lnTo>
                    <a:pt x="2379" y="5909"/>
                  </a:lnTo>
                  <a:lnTo>
                    <a:pt x="2396" y="5889"/>
                  </a:lnTo>
                  <a:lnTo>
                    <a:pt x="2412" y="5866"/>
                  </a:lnTo>
                  <a:lnTo>
                    <a:pt x="2425" y="5844"/>
                  </a:lnTo>
                  <a:lnTo>
                    <a:pt x="2439" y="5821"/>
                  </a:lnTo>
                  <a:lnTo>
                    <a:pt x="2451" y="5797"/>
                  </a:lnTo>
                  <a:lnTo>
                    <a:pt x="2463" y="5772"/>
                  </a:lnTo>
                  <a:lnTo>
                    <a:pt x="2473" y="5747"/>
                  </a:lnTo>
                  <a:lnTo>
                    <a:pt x="2481" y="5721"/>
                  </a:lnTo>
                  <a:lnTo>
                    <a:pt x="2489" y="5695"/>
                  </a:lnTo>
                  <a:lnTo>
                    <a:pt x="2495" y="5668"/>
                  </a:lnTo>
                  <a:lnTo>
                    <a:pt x="2500" y="5641"/>
                  </a:lnTo>
                  <a:lnTo>
                    <a:pt x="2503" y="5613"/>
                  </a:lnTo>
                  <a:lnTo>
                    <a:pt x="2506" y="5584"/>
                  </a:lnTo>
                  <a:lnTo>
                    <a:pt x="2507" y="5556"/>
                  </a:lnTo>
                  <a:lnTo>
                    <a:pt x="2506" y="5533"/>
                  </a:lnTo>
                  <a:close/>
                  <a:moveTo>
                    <a:pt x="2908" y="4892"/>
                  </a:moveTo>
                  <a:lnTo>
                    <a:pt x="1018" y="5060"/>
                  </a:lnTo>
                  <a:lnTo>
                    <a:pt x="1015" y="5089"/>
                  </a:lnTo>
                  <a:lnTo>
                    <a:pt x="1015" y="5118"/>
                  </a:lnTo>
                  <a:lnTo>
                    <a:pt x="1017" y="5144"/>
                  </a:lnTo>
                  <a:lnTo>
                    <a:pt x="2906" y="4978"/>
                  </a:lnTo>
                  <a:lnTo>
                    <a:pt x="2908" y="4953"/>
                  </a:lnTo>
                  <a:lnTo>
                    <a:pt x="2910" y="4927"/>
                  </a:lnTo>
                  <a:lnTo>
                    <a:pt x="2910" y="4910"/>
                  </a:lnTo>
                  <a:lnTo>
                    <a:pt x="2908" y="4892"/>
                  </a:lnTo>
                  <a:close/>
                  <a:moveTo>
                    <a:pt x="2908" y="4171"/>
                  </a:moveTo>
                  <a:lnTo>
                    <a:pt x="1018" y="4337"/>
                  </a:lnTo>
                  <a:lnTo>
                    <a:pt x="1015" y="4368"/>
                  </a:lnTo>
                  <a:lnTo>
                    <a:pt x="1015" y="4397"/>
                  </a:lnTo>
                  <a:lnTo>
                    <a:pt x="1017" y="4423"/>
                  </a:lnTo>
                  <a:lnTo>
                    <a:pt x="2906" y="4257"/>
                  </a:lnTo>
                  <a:lnTo>
                    <a:pt x="2908" y="4232"/>
                  </a:lnTo>
                  <a:lnTo>
                    <a:pt x="2910" y="4206"/>
                  </a:lnTo>
                  <a:lnTo>
                    <a:pt x="2910" y="4189"/>
                  </a:lnTo>
                  <a:lnTo>
                    <a:pt x="2908" y="4171"/>
                  </a:lnTo>
                  <a:close/>
                </a:path>
              </a:pathLst>
            </a:custGeom>
            <a:solidFill>
              <a:srgbClr val="557199"/>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a:lstStyle>
            <a:p>
              <a:pPr algn="ctr">
                <a:defRPr/>
              </a:pP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2" name="椭圆 11"/>
            <p:cNvSpPr/>
            <p:nvPr/>
          </p:nvSpPr>
          <p:spPr>
            <a:xfrm>
              <a:off x="7206933" y="3410485"/>
              <a:ext cx="872490" cy="872490"/>
            </a:xfrm>
            <a:prstGeom prst="ellipse">
              <a:avLst/>
            </a:prstGeom>
            <a:solidFill>
              <a:srgbClr val="557199"/>
            </a:solidFill>
            <a:ln w="444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3" name="椭圆 12"/>
            <p:cNvSpPr/>
            <p:nvPr/>
          </p:nvSpPr>
          <p:spPr>
            <a:xfrm>
              <a:off x="7952740" y="2235945"/>
              <a:ext cx="872490" cy="872490"/>
            </a:xfrm>
            <a:prstGeom prst="ellipse">
              <a:avLst/>
            </a:prstGeom>
            <a:solidFill>
              <a:srgbClr val="9FACC3"/>
            </a:solidFill>
            <a:ln w="444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4" name="椭圆 13"/>
            <p:cNvSpPr/>
            <p:nvPr/>
          </p:nvSpPr>
          <p:spPr>
            <a:xfrm>
              <a:off x="9928860" y="2235945"/>
              <a:ext cx="872490" cy="872490"/>
            </a:xfrm>
            <a:prstGeom prst="ellipse">
              <a:avLst/>
            </a:prstGeom>
            <a:solidFill>
              <a:srgbClr val="557199"/>
            </a:solidFill>
            <a:ln w="444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8" name="椭圆 17"/>
            <p:cNvSpPr/>
            <p:nvPr/>
          </p:nvSpPr>
          <p:spPr>
            <a:xfrm>
              <a:off x="10707688" y="3410485"/>
              <a:ext cx="872490" cy="872490"/>
            </a:xfrm>
            <a:prstGeom prst="ellipse">
              <a:avLst/>
            </a:prstGeom>
            <a:solidFill>
              <a:srgbClr val="9FACC3"/>
            </a:solidFill>
            <a:ln w="444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48" name="放大镜"/>
            <p:cNvSpPr/>
            <p:nvPr/>
          </p:nvSpPr>
          <p:spPr>
            <a:xfrm>
              <a:off x="10901363" y="3558440"/>
              <a:ext cx="485775" cy="576580"/>
            </a:xfrm>
            <a:custGeom>
              <a:avLst/>
              <a:gdLst>
                <a:gd name="connsiteX0" fmla="*/ 1638300 w 4396363"/>
                <a:gd name="connsiteY0" fmla="*/ 558403 h 5128349"/>
                <a:gd name="connsiteX1" fmla="*/ 558403 w 4396363"/>
                <a:gd name="connsiteY1" fmla="*/ 1638300 h 5128349"/>
                <a:gd name="connsiteX2" fmla="*/ 1638300 w 4396363"/>
                <a:gd name="connsiteY2" fmla="*/ 2718197 h 5128349"/>
                <a:gd name="connsiteX3" fmla="*/ 2718197 w 4396363"/>
                <a:gd name="connsiteY3" fmla="*/ 1638300 h 5128349"/>
                <a:gd name="connsiteX4" fmla="*/ 1638300 w 4396363"/>
                <a:gd name="connsiteY4" fmla="*/ 558403 h 5128349"/>
                <a:gd name="connsiteX5" fmla="*/ 1638300 w 4396363"/>
                <a:gd name="connsiteY5" fmla="*/ 0 h 5128349"/>
                <a:gd name="connsiteX6" fmla="*/ 3276600 w 4396363"/>
                <a:gd name="connsiteY6" fmla="*/ 1638300 h 5128349"/>
                <a:gd name="connsiteX7" fmla="*/ 2902492 w 4396363"/>
                <a:gd name="connsiteY7" fmla="*/ 2680411 h 5128349"/>
                <a:gd name="connsiteX8" fmla="*/ 2816386 w 4396363"/>
                <a:gd name="connsiteY8" fmla="*/ 2775151 h 5128349"/>
                <a:gd name="connsiteX9" fmla="*/ 2928393 w 4396363"/>
                <a:gd name="connsiteY9" fmla="*/ 2923790 h 5128349"/>
                <a:gd name="connsiteX10" fmla="*/ 2942554 w 4396363"/>
                <a:gd name="connsiteY10" fmla="*/ 2913119 h 5128349"/>
                <a:gd name="connsiteX11" fmla="*/ 3136485 w 4396363"/>
                <a:gd name="connsiteY11" fmla="*/ 2942400 h 5128349"/>
                <a:gd name="connsiteX12" fmla="*/ 4367683 w 4396363"/>
                <a:gd name="connsiteY12" fmla="*/ 4576254 h 5128349"/>
                <a:gd name="connsiteX13" fmla="*/ 4342375 w 4396363"/>
                <a:gd name="connsiteY13" fmla="*/ 4770744 h 5128349"/>
                <a:gd name="connsiteX14" fmla="*/ 3903910 w 4396363"/>
                <a:gd name="connsiteY14" fmla="*/ 5101151 h 5128349"/>
                <a:gd name="connsiteX15" fmla="*/ 3709978 w 4396363"/>
                <a:gd name="connsiteY15" fmla="*/ 5071870 h 5128349"/>
                <a:gd name="connsiteX16" fmla="*/ 2478781 w 4396363"/>
                <a:gd name="connsiteY16" fmla="*/ 3438015 h 5128349"/>
                <a:gd name="connsiteX17" fmla="*/ 2504089 w 4396363"/>
                <a:gd name="connsiteY17" fmla="*/ 3243526 h 5128349"/>
                <a:gd name="connsiteX18" fmla="*/ 2518249 w 4396363"/>
                <a:gd name="connsiteY18" fmla="*/ 3232855 h 5128349"/>
                <a:gd name="connsiteX19" fmla="*/ 2406738 w 4396363"/>
                <a:gd name="connsiteY19" fmla="*/ 3084875 h 5128349"/>
                <a:gd name="connsiteX20" fmla="*/ 2276001 w 4396363"/>
                <a:gd name="connsiteY20" fmla="*/ 3147854 h 5128349"/>
                <a:gd name="connsiteX21" fmla="*/ 1638300 w 4396363"/>
                <a:gd name="connsiteY21" fmla="*/ 3276600 h 5128349"/>
                <a:gd name="connsiteX22" fmla="*/ 0 w 4396363"/>
                <a:gd name="connsiteY22" fmla="*/ 1638300 h 5128349"/>
                <a:gd name="connsiteX23" fmla="*/ 1638300 w 4396363"/>
                <a:gd name="connsiteY23" fmla="*/ 0 h 5128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396363" h="5128349">
                  <a:moveTo>
                    <a:pt x="1638300" y="558403"/>
                  </a:moveTo>
                  <a:cubicBezTo>
                    <a:pt x="1041889" y="558403"/>
                    <a:pt x="558403" y="1041889"/>
                    <a:pt x="558403" y="1638300"/>
                  </a:cubicBezTo>
                  <a:cubicBezTo>
                    <a:pt x="558403" y="2234711"/>
                    <a:pt x="1041889" y="2718197"/>
                    <a:pt x="1638300" y="2718197"/>
                  </a:cubicBezTo>
                  <a:cubicBezTo>
                    <a:pt x="2234711" y="2718197"/>
                    <a:pt x="2718197" y="2234711"/>
                    <a:pt x="2718197" y="1638300"/>
                  </a:cubicBezTo>
                  <a:cubicBezTo>
                    <a:pt x="2718197" y="1041889"/>
                    <a:pt x="2234711" y="558403"/>
                    <a:pt x="1638300" y="558403"/>
                  </a:cubicBezTo>
                  <a:close/>
                  <a:moveTo>
                    <a:pt x="1638300" y="0"/>
                  </a:moveTo>
                  <a:cubicBezTo>
                    <a:pt x="2543108" y="0"/>
                    <a:pt x="3276600" y="733492"/>
                    <a:pt x="3276600" y="1638300"/>
                  </a:cubicBezTo>
                  <a:cubicBezTo>
                    <a:pt x="3276600" y="2034154"/>
                    <a:pt x="3136205" y="2397216"/>
                    <a:pt x="2902492" y="2680411"/>
                  </a:cubicBezTo>
                  <a:lnTo>
                    <a:pt x="2816386" y="2775151"/>
                  </a:lnTo>
                  <a:lnTo>
                    <a:pt x="2928393" y="2923790"/>
                  </a:lnTo>
                  <a:lnTo>
                    <a:pt x="2942554" y="2913119"/>
                  </a:lnTo>
                  <a:cubicBezTo>
                    <a:pt x="3003095" y="2867498"/>
                    <a:pt x="3089921" y="2880607"/>
                    <a:pt x="3136485" y="2942400"/>
                  </a:cubicBezTo>
                  <a:lnTo>
                    <a:pt x="4367683" y="4576254"/>
                  </a:lnTo>
                  <a:cubicBezTo>
                    <a:pt x="4414247" y="4638047"/>
                    <a:pt x="4402916" y="4725123"/>
                    <a:pt x="4342375" y="4770744"/>
                  </a:cubicBezTo>
                  <a:lnTo>
                    <a:pt x="3903910" y="5101151"/>
                  </a:lnTo>
                  <a:cubicBezTo>
                    <a:pt x="3843369" y="5146772"/>
                    <a:pt x="3756543" y="5133662"/>
                    <a:pt x="3709978" y="5071870"/>
                  </a:cubicBezTo>
                  <a:lnTo>
                    <a:pt x="2478781" y="3438015"/>
                  </a:lnTo>
                  <a:cubicBezTo>
                    <a:pt x="2432217" y="3376223"/>
                    <a:pt x="2443548" y="3289147"/>
                    <a:pt x="2504089" y="3243526"/>
                  </a:cubicBezTo>
                  <a:lnTo>
                    <a:pt x="2518249" y="3232855"/>
                  </a:lnTo>
                  <a:lnTo>
                    <a:pt x="2406738" y="3084875"/>
                  </a:lnTo>
                  <a:lnTo>
                    <a:pt x="2276001" y="3147854"/>
                  </a:lnTo>
                  <a:cubicBezTo>
                    <a:pt x="2079997" y="3230757"/>
                    <a:pt x="1864502" y="3276600"/>
                    <a:pt x="1638300" y="3276600"/>
                  </a:cubicBezTo>
                  <a:cubicBezTo>
                    <a:pt x="733492" y="3276600"/>
                    <a:pt x="0" y="2543108"/>
                    <a:pt x="0" y="1638300"/>
                  </a:cubicBezTo>
                  <a:cubicBezTo>
                    <a:pt x="0" y="733492"/>
                    <a:pt x="733492" y="0"/>
                    <a:pt x="16383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49" name="电池"/>
            <p:cNvSpPr/>
            <p:nvPr/>
          </p:nvSpPr>
          <p:spPr>
            <a:xfrm>
              <a:off x="7461568" y="3573680"/>
              <a:ext cx="363855" cy="546100"/>
            </a:xfrm>
            <a:custGeom>
              <a:avLst/>
              <a:gdLst>
                <a:gd name="connsiteX0" fmla="*/ 703180 w 3238500"/>
                <a:gd name="connsiteY0" fmla="*/ 4435548 h 5638341"/>
                <a:gd name="connsiteX1" fmla="*/ 2535317 w 3238500"/>
                <a:gd name="connsiteY1" fmla="*/ 4435548 h 5638341"/>
                <a:gd name="connsiteX2" fmla="*/ 2535317 w 3238500"/>
                <a:gd name="connsiteY2" fmla="*/ 4838393 h 5638341"/>
                <a:gd name="connsiteX3" fmla="*/ 703180 w 3238500"/>
                <a:gd name="connsiteY3" fmla="*/ 4838393 h 5638341"/>
                <a:gd name="connsiteX4" fmla="*/ 703181 w 3238500"/>
                <a:gd name="connsiteY4" fmla="*/ 3675025 h 5638341"/>
                <a:gd name="connsiteX5" fmla="*/ 2535318 w 3238500"/>
                <a:gd name="connsiteY5" fmla="*/ 3675025 h 5638341"/>
                <a:gd name="connsiteX6" fmla="*/ 2535318 w 3238500"/>
                <a:gd name="connsiteY6" fmla="*/ 4077870 h 5638341"/>
                <a:gd name="connsiteX7" fmla="*/ 703181 w 3238500"/>
                <a:gd name="connsiteY7" fmla="*/ 4077870 h 5638341"/>
                <a:gd name="connsiteX8" fmla="*/ 703181 w 3238500"/>
                <a:gd name="connsiteY8" fmla="*/ 2914502 h 5638341"/>
                <a:gd name="connsiteX9" fmla="*/ 2535318 w 3238500"/>
                <a:gd name="connsiteY9" fmla="*/ 2914502 h 5638341"/>
                <a:gd name="connsiteX10" fmla="*/ 2535318 w 3238500"/>
                <a:gd name="connsiteY10" fmla="*/ 3317347 h 5638341"/>
                <a:gd name="connsiteX11" fmla="*/ 703181 w 3238500"/>
                <a:gd name="connsiteY11" fmla="*/ 3317347 h 5638341"/>
                <a:gd name="connsiteX12" fmla="*/ 703181 w 3238500"/>
                <a:gd name="connsiteY12" fmla="*/ 2153979 h 5638341"/>
                <a:gd name="connsiteX13" fmla="*/ 2535318 w 3238500"/>
                <a:gd name="connsiteY13" fmla="*/ 2153979 h 5638341"/>
                <a:gd name="connsiteX14" fmla="*/ 2535318 w 3238500"/>
                <a:gd name="connsiteY14" fmla="*/ 2556824 h 5638341"/>
                <a:gd name="connsiteX15" fmla="*/ 703181 w 3238500"/>
                <a:gd name="connsiteY15" fmla="*/ 2556824 h 5638341"/>
                <a:gd name="connsiteX16" fmla="*/ 703181 w 3238500"/>
                <a:gd name="connsiteY16" fmla="*/ 1393456 h 5638341"/>
                <a:gd name="connsiteX17" fmla="*/ 2535318 w 3238500"/>
                <a:gd name="connsiteY17" fmla="*/ 1393456 h 5638341"/>
                <a:gd name="connsiteX18" fmla="*/ 2535318 w 3238500"/>
                <a:gd name="connsiteY18" fmla="*/ 1796301 h 5638341"/>
                <a:gd name="connsiteX19" fmla="*/ 703181 w 3238500"/>
                <a:gd name="connsiteY19" fmla="*/ 1796301 h 5638341"/>
                <a:gd name="connsiteX20" fmla="*/ 545879 w 3238500"/>
                <a:gd name="connsiteY20" fmla="*/ 854765 h 5638341"/>
                <a:gd name="connsiteX21" fmla="*/ 355211 w 3238500"/>
                <a:gd name="connsiteY21" fmla="*/ 1045433 h 5638341"/>
                <a:gd name="connsiteX22" fmla="*/ 355211 w 3238500"/>
                <a:gd name="connsiteY22" fmla="*/ 5115447 h 5638341"/>
                <a:gd name="connsiteX23" fmla="*/ 545879 w 3238500"/>
                <a:gd name="connsiteY23" fmla="*/ 5306115 h 5638341"/>
                <a:gd name="connsiteX24" fmla="*/ 2692622 w 3238500"/>
                <a:gd name="connsiteY24" fmla="*/ 5306115 h 5638341"/>
                <a:gd name="connsiteX25" fmla="*/ 2883290 w 3238500"/>
                <a:gd name="connsiteY25" fmla="*/ 5115447 h 5638341"/>
                <a:gd name="connsiteX26" fmla="*/ 2883290 w 3238500"/>
                <a:gd name="connsiteY26" fmla="*/ 1045433 h 5638341"/>
                <a:gd name="connsiteX27" fmla="*/ 2692622 w 3238500"/>
                <a:gd name="connsiteY27" fmla="*/ 854765 h 5638341"/>
                <a:gd name="connsiteX28" fmla="*/ 1055257 w 3238500"/>
                <a:gd name="connsiteY28" fmla="*/ 0 h 5638341"/>
                <a:gd name="connsiteX29" fmla="*/ 2197532 w 3238500"/>
                <a:gd name="connsiteY29" fmla="*/ 0 h 5638341"/>
                <a:gd name="connsiteX30" fmla="*/ 2331244 w 3238500"/>
                <a:gd name="connsiteY30" fmla="*/ 133712 h 5638341"/>
                <a:gd name="connsiteX31" fmla="*/ 2331244 w 3238500"/>
                <a:gd name="connsiteY31" fmla="*/ 522540 h 5638341"/>
                <a:gd name="connsiteX32" fmla="*/ 2718105 w 3238500"/>
                <a:gd name="connsiteY32" fmla="*/ 522540 h 5638341"/>
                <a:gd name="connsiteX33" fmla="*/ 3238500 w 3238500"/>
                <a:gd name="connsiteY33" fmla="*/ 1042935 h 5638341"/>
                <a:gd name="connsiteX34" fmla="*/ 3238500 w 3238500"/>
                <a:gd name="connsiteY34" fmla="*/ 5117946 h 5638341"/>
                <a:gd name="connsiteX35" fmla="*/ 2718105 w 3238500"/>
                <a:gd name="connsiteY35" fmla="*/ 5638341 h 5638341"/>
                <a:gd name="connsiteX36" fmla="*/ 520395 w 3238500"/>
                <a:gd name="connsiteY36" fmla="*/ 5638341 h 5638341"/>
                <a:gd name="connsiteX37" fmla="*/ 0 w 3238500"/>
                <a:gd name="connsiteY37" fmla="*/ 5117946 h 5638341"/>
                <a:gd name="connsiteX38" fmla="*/ 0 w 3238500"/>
                <a:gd name="connsiteY38" fmla="*/ 1042935 h 5638341"/>
                <a:gd name="connsiteX39" fmla="*/ 520395 w 3238500"/>
                <a:gd name="connsiteY39" fmla="*/ 522540 h 5638341"/>
                <a:gd name="connsiteX40" fmla="*/ 921545 w 3238500"/>
                <a:gd name="connsiteY40" fmla="*/ 522540 h 5638341"/>
                <a:gd name="connsiteX41" fmla="*/ 921545 w 3238500"/>
                <a:gd name="connsiteY41" fmla="*/ 133712 h 5638341"/>
                <a:gd name="connsiteX42" fmla="*/ 1055257 w 3238500"/>
                <a:gd name="connsiteY42" fmla="*/ 0 h 5638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38500" h="5638341">
                  <a:moveTo>
                    <a:pt x="703180" y="4435548"/>
                  </a:moveTo>
                  <a:lnTo>
                    <a:pt x="2535317" y="4435548"/>
                  </a:lnTo>
                  <a:lnTo>
                    <a:pt x="2535317" y="4838393"/>
                  </a:lnTo>
                  <a:lnTo>
                    <a:pt x="703180" y="4838393"/>
                  </a:lnTo>
                  <a:close/>
                  <a:moveTo>
                    <a:pt x="703181" y="3675025"/>
                  </a:moveTo>
                  <a:lnTo>
                    <a:pt x="2535318" y="3675025"/>
                  </a:lnTo>
                  <a:lnTo>
                    <a:pt x="2535318" y="4077870"/>
                  </a:lnTo>
                  <a:lnTo>
                    <a:pt x="703181" y="4077870"/>
                  </a:lnTo>
                  <a:close/>
                  <a:moveTo>
                    <a:pt x="703181" y="2914502"/>
                  </a:moveTo>
                  <a:lnTo>
                    <a:pt x="2535318" y="2914502"/>
                  </a:lnTo>
                  <a:lnTo>
                    <a:pt x="2535318" y="3317347"/>
                  </a:lnTo>
                  <a:lnTo>
                    <a:pt x="703181" y="3317347"/>
                  </a:lnTo>
                  <a:close/>
                  <a:moveTo>
                    <a:pt x="703181" y="2153979"/>
                  </a:moveTo>
                  <a:lnTo>
                    <a:pt x="2535318" y="2153979"/>
                  </a:lnTo>
                  <a:lnTo>
                    <a:pt x="2535318" y="2556824"/>
                  </a:lnTo>
                  <a:lnTo>
                    <a:pt x="703181" y="2556824"/>
                  </a:lnTo>
                  <a:close/>
                  <a:moveTo>
                    <a:pt x="703181" y="1393456"/>
                  </a:moveTo>
                  <a:lnTo>
                    <a:pt x="2535318" y="1393456"/>
                  </a:lnTo>
                  <a:lnTo>
                    <a:pt x="2535318" y="1796301"/>
                  </a:lnTo>
                  <a:lnTo>
                    <a:pt x="703181" y="1796301"/>
                  </a:lnTo>
                  <a:close/>
                  <a:moveTo>
                    <a:pt x="545879" y="854765"/>
                  </a:moveTo>
                  <a:cubicBezTo>
                    <a:pt x="440576" y="854765"/>
                    <a:pt x="355211" y="940130"/>
                    <a:pt x="355211" y="1045433"/>
                  </a:cubicBezTo>
                  <a:lnTo>
                    <a:pt x="355211" y="5115447"/>
                  </a:lnTo>
                  <a:cubicBezTo>
                    <a:pt x="355211" y="5220750"/>
                    <a:pt x="440576" y="5306115"/>
                    <a:pt x="545879" y="5306115"/>
                  </a:cubicBezTo>
                  <a:lnTo>
                    <a:pt x="2692622" y="5306115"/>
                  </a:lnTo>
                  <a:cubicBezTo>
                    <a:pt x="2797925" y="5306115"/>
                    <a:pt x="2883290" y="5220750"/>
                    <a:pt x="2883290" y="5115447"/>
                  </a:cubicBezTo>
                  <a:lnTo>
                    <a:pt x="2883290" y="1045433"/>
                  </a:lnTo>
                  <a:cubicBezTo>
                    <a:pt x="2883290" y="940130"/>
                    <a:pt x="2797925" y="854765"/>
                    <a:pt x="2692622" y="854765"/>
                  </a:cubicBezTo>
                  <a:close/>
                  <a:moveTo>
                    <a:pt x="1055257" y="0"/>
                  </a:moveTo>
                  <a:lnTo>
                    <a:pt x="2197532" y="0"/>
                  </a:lnTo>
                  <a:cubicBezTo>
                    <a:pt x="2271379" y="0"/>
                    <a:pt x="2331244" y="59865"/>
                    <a:pt x="2331244" y="133712"/>
                  </a:cubicBezTo>
                  <a:lnTo>
                    <a:pt x="2331244" y="522540"/>
                  </a:lnTo>
                  <a:lnTo>
                    <a:pt x="2718105" y="522540"/>
                  </a:lnTo>
                  <a:cubicBezTo>
                    <a:pt x="3005511" y="522540"/>
                    <a:pt x="3238500" y="755529"/>
                    <a:pt x="3238500" y="1042935"/>
                  </a:cubicBezTo>
                  <a:lnTo>
                    <a:pt x="3238500" y="5117946"/>
                  </a:lnTo>
                  <a:cubicBezTo>
                    <a:pt x="3238500" y="5405352"/>
                    <a:pt x="3005511" y="5638341"/>
                    <a:pt x="2718105" y="5638341"/>
                  </a:cubicBezTo>
                  <a:lnTo>
                    <a:pt x="520395" y="5638341"/>
                  </a:lnTo>
                  <a:cubicBezTo>
                    <a:pt x="232989" y="5638341"/>
                    <a:pt x="0" y="5405352"/>
                    <a:pt x="0" y="5117946"/>
                  </a:cubicBezTo>
                  <a:lnTo>
                    <a:pt x="0" y="1042935"/>
                  </a:lnTo>
                  <a:cubicBezTo>
                    <a:pt x="0" y="755529"/>
                    <a:pt x="232989" y="522540"/>
                    <a:pt x="520395" y="522540"/>
                  </a:cubicBezTo>
                  <a:lnTo>
                    <a:pt x="921545" y="522540"/>
                  </a:lnTo>
                  <a:lnTo>
                    <a:pt x="921545" y="133712"/>
                  </a:lnTo>
                  <a:cubicBezTo>
                    <a:pt x="921545" y="59865"/>
                    <a:pt x="981410" y="0"/>
                    <a:pt x="105525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50" name="雨伞"/>
            <p:cNvSpPr/>
            <p:nvPr/>
          </p:nvSpPr>
          <p:spPr>
            <a:xfrm>
              <a:off x="10112375" y="2399140"/>
              <a:ext cx="546735" cy="546735"/>
            </a:xfrm>
            <a:custGeom>
              <a:avLst/>
              <a:gdLst>
                <a:gd name="connsiteX0" fmla="*/ 10295531 w 10295617"/>
                <a:gd name="connsiteY0" fmla="*/ 6044312 h 10760938"/>
                <a:gd name="connsiteX1" fmla="*/ 10295617 w 10295617"/>
                <a:gd name="connsiteY1" fmla="*/ 6046023 h 10760938"/>
                <a:gd name="connsiteX2" fmla="*/ 10295311 w 10295617"/>
                <a:gd name="connsiteY2" fmla="*/ 6046023 h 10760938"/>
                <a:gd name="connsiteX3" fmla="*/ 86 w 10295617"/>
                <a:gd name="connsiteY3" fmla="*/ 6044312 h 10760938"/>
                <a:gd name="connsiteX4" fmla="*/ 306 w 10295617"/>
                <a:gd name="connsiteY4" fmla="*/ 6046023 h 10760938"/>
                <a:gd name="connsiteX5" fmla="*/ 0 w 10295617"/>
                <a:gd name="connsiteY5" fmla="*/ 6046023 h 10760938"/>
                <a:gd name="connsiteX6" fmla="*/ 5147809 w 10295617"/>
                <a:gd name="connsiteY6" fmla="*/ 0 h 10760938"/>
                <a:gd name="connsiteX7" fmla="*/ 5325006 w 10295617"/>
                <a:gd name="connsiteY7" fmla="*/ 177197 h 10760938"/>
                <a:gd name="connsiteX8" fmla="*/ 5325006 w 10295617"/>
                <a:gd name="connsiteY8" fmla="*/ 837837 h 10760938"/>
                <a:gd name="connsiteX9" fmla="*/ 5396256 w 10295617"/>
                <a:gd name="connsiteY9" fmla="*/ 839547 h 10760938"/>
                <a:gd name="connsiteX10" fmla="*/ 10269039 w 10295617"/>
                <a:gd name="connsiteY10" fmla="*/ 5513084 h 10760938"/>
                <a:gd name="connsiteX11" fmla="*/ 10295425 w 10295617"/>
                <a:gd name="connsiteY11" fmla="*/ 6042158 h 10760938"/>
                <a:gd name="connsiteX12" fmla="*/ 10260748 w 10295617"/>
                <a:gd name="connsiteY12" fmla="*/ 5773580 h 10760938"/>
                <a:gd name="connsiteX13" fmla="*/ 8579250 w 10295617"/>
                <a:gd name="connsiteY13" fmla="*/ 4703575 h 10760938"/>
                <a:gd name="connsiteX14" fmla="*/ 6897754 w 10295617"/>
                <a:gd name="connsiteY14" fmla="*/ 5773580 h 10760938"/>
                <a:gd name="connsiteX15" fmla="*/ 6863530 w 10295617"/>
                <a:gd name="connsiteY15" fmla="*/ 6038646 h 10760938"/>
                <a:gd name="connsiteX16" fmla="*/ 6829306 w 10295617"/>
                <a:gd name="connsiteY16" fmla="*/ 5773580 h 10760938"/>
                <a:gd name="connsiteX17" fmla="*/ 5451635 w 10295617"/>
                <a:gd name="connsiteY17" fmla="*/ 4724506 h 10760938"/>
                <a:gd name="connsiteX18" fmla="*/ 5325006 w 10295617"/>
                <a:gd name="connsiteY18" fmla="*/ 4711318 h 10760938"/>
                <a:gd name="connsiteX19" fmla="*/ 5325006 w 10295617"/>
                <a:gd name="connsiteY19" fmla="*/ 9805674 h 10760938"/>
                <a:gd name="connsiteX20" fmla="*/ 5325006 w 10295617"/>
                <a:gd name="connsiteY20" fmla="*/ 9821152 h 10760938"/>
                <a:gd name="connsiteX21" fmla="*/ 5323964 w 10295617"/>
                <a:gd name="connsiteY21" fmla="*/ 9821152 h 10760938"/>
                <a:gd name="connsiteX22" fmla="*/ 5316404 w 10295617"/>
                <a:gd name="connsiteY22" fmla="*/ 9933477 h 10760938"/>
                <a:gd name="connsiteX23" fmla="*/ 4838721 w 10295617"/>
                <a:gd name="connsiteY23" fmla="*/ 10637788 h 10760938"/>
                <a:gd name="connsiteX24" fmla="*/ 3875045 w 10295617"/>
                <a:gd name="connsiteY24" fmla="*/ 10623063 h 10760938"/>
                <a:gd name="connsiteX25" fmla="*/ 3414410 w 10295617"/>
                <a:gd name="connsiteY25" fmla="*/ 9776480 h 10760938"/>
                <a:gd name="connsiteX26" fmla="*/ 3769699 w 10295617"/>
                <a:gd name="connsiteY26" fmla="*/ 9787246 h 10760938"/>
                <a:gd name="connsiteX27" fmla="*/ 4058978 w 10295617"/>
                <a:gd name="connsiteY27" fmla="*/ 10318901 h 10760938"/>
                <a:gd name="connsiteX28" fmla="*/ 4664167 w 10295617"/>
                <a:gd name="connsiteY28" fmla="*/ 10328148 h 10760938"/>
                <a:gd name="connsiteX29" fmla="*/ 4969554 w 10295617"/>
                <a:gd name="connsiteY29" fmla="*/ 9805580 h 10760938"/>
                <a:gd name="connsiteX30" fmla="*/ 4970612 w 10295617"/>
                <a:gd name="connsiteY30" fmla="*/ 9805580 h 10760938"/>
                <a:gd name="connsiteX31" fmla="*/ 4970612 w 10295617"/>
                <a:gd name="connsiteY31" fmla="*/ 4711318 h 10760938"/>
                <a:gd name="connsiteX32" fmla="*/ 4843983 w 10295617"/>
                <a:gd name="connsiteY32" fmla="*/ 4724506 h 10760938"/>
                <a:gd name="connsiteX33" fmla="*/ 3466313 w 10295617"/>
                <a:gd name="connsiteY33" fmla="*/ 5773580 h 10760938"/>
                <a:gd name="connsiteX34" fmla="*/ 3432089 w 10295617"/>
                <a:gd name="connsiteY34" fmla="*/ 6038646 h 10760938"/>
                <a:gd name="connsiteX35" fmla="*/ 3397865 w 10295617"/>
                <a:gd name="connsiteY35" fmla="*/ 5773580 h 10760938"/>
                <a:gd name="connsiteX36" fmla="*/ 1716367 w 10295617"/>
                <a:gd name="connsiteY36" fmla="*/ 4703575 h 10760938"/>
                <a:gd name="connsiteX37" fmla="*/ 34871 w 10295617"/>
                <a:gd name="connsiteY37" fmla="*/ 5773580 h 10760938"/>
                <a:gd name="connsiteX38" fmla="*/ 194 w 10295617"/>
                <a:gd name="connsiteY38" fmla="*/ 6042158 h 10760938"/>
                <a:gd name="connsiteX39" fmla="*/ 26578 w 10295617"/>
                <a:gd name="connsiteY39" fmla="*/ 5513084 h 10760938"/>
                <a:gd name="connsiteX40" fmla="*/ 4899361 w 10295617"/>
                <a:gd name="connsiteY40" fmla="*/ 839547 h 10760938"/>
                <a:gd name="connsiteX41" fmla="*/ 4970612 w 10295617"/>
                <a:gd name="connsiteY41" fmla="*/ 837837 h 10760938"/>
                <a:gd name="connsiteX42" fmla="*/ 4970612 w 10295617"/>
                <a:gd name="connsiteY42" fmla="*/ 177197 h 10760938"/>
                <a:gd name="connsiteX43" fmla="*/ 5147809 w 10295617"/>
                <a:gd name="connsiteY43" fmla="*/ 0 h 107609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0295617" h="10760938">
                  <a:moveTo>
                    <a:pt x="10295531" y="6044312"/>
                  </a:moveTo>
                  <a:lnTo>
                    <a:pt x="10295617" y="6046023"/>
                  </a:lnTo>
                  <a:lnTo>
                    <a:pt x="10295311" y="6046023"/>
                  </a:lnTo>
                  <a:close/>
                  <a:moveTo>
                    <a:pt x="86" y="6044312"/>
                  </a:moveTo>
                  <a:lnTo>
                    <a:pt x="306" y="6046023"/>
                  </a:lnTo>
                  <a:lnTo>
                    <a:pt x="0" y="6046023"/>
                  </a:lnTo>
                  <a:close/>
                  <a:moveTo>
                    <a:pt x="5147809" y="0"/>
                  </a:moveTo>
                  <a:cubicBezTo>
                    <a:pt x="5245672" y="0"/>
                    <a:pt x="5325006" y="79334"/>
                    <a:pt x="5325006" y="177197"/>
                  </a:cubicBezTo>
                  <a:lnTo>
                    <a:pt x="5325006" y="837837"/>
                  </a:lnTo>
                  <a:lnTo>
                    <a:pt x="5396256" y="839547"/>
                  </a:lnTo>
                  <a:cubicBezTo>
                    <a:pt x="7948306" y="962340"/>
                    <a:pt x="10013658" y="2966815"/>
                    <a:pt x="10269039" y="5513084"/>
                  </a:cubicBezTo>
                  <a:lnTo>
                    <a:pt x="10295425" y="6042158"/>
                  </a:lnTo>
                  <a:lnTo>
                    <a:pt x="10260748" y="5773580"/>
                  </a:lnTo>
                  <a:cubicBezTo>
                    <a:pt x="10100703" y="5162929"/>
                    <a:pt x="9408684" y="4703575"/>
                    <a:pt x="8579250" y="4703575"/>
                  </a:cubicBezTo>
                  <a:cubicBezTo>
                    <a:pt x="7749818" y="4703575"/>
                    <a:pt x="7057798" y="5162929"/>
                    <a:pt x="6897754" y="5773580"/>
                  </a:cubicBezTo>
                  <a:lnTo>
                    <a:pt x="6863530" y="6038646"/>
                  </a:lnTo>
                  <a:lnTo>
                    <a:pt x="6829306" y="5773580"/>
                  </a:lnTo>
                  <a:cubicBezTo>
                    <a:pt x="6689267" y="5239260"/>
                    <a:pt x="6141936" y="4820778"/>
                    <a:pt x="5451635" y="4724506"/>
                  </a:cubicBezTo>
                  <a:lnTo>
                    <a:pt x="5325006" y="4711318"/>
                  </a:lnTo>
                  <a:lnTo>
                    <a:pt x="5325006" y="9805674"/>
                  </a:lnTo>
                  <a:lnTo>
                    <a:pt x="5325006" y="9821152"/>
                  </a:lnTo>
                  <a:lnTo>
                    <a:pt x="5323964" y="9821152"/>
                  </a:lnTo>
                  <a:lnTo>
                    <a:pt x="5316404" y="9933477"/>
                  </a:lnTo>
                  <a:cubicBezTo>
                    <a:pt x="5276666" y="10227644"/>
                    <a:pt x="5101532" y="10489633"/>
                    <a:pt x="4838721" y="10637788"/>
                  </a:cubicBezTo>
                  <a:cubicBezTo>
                    <a:pt x="4538366" y="10807108"/>
                    <a:pt x="4170086" y="10801480"/>
                    <a:pt x="3875045" y="10623063"/>
                  </a:cubicBezTo>
                  <a:cubicBezTo>
                    <a:pt x="3580003" y="10444646"/>
                    <a:pt x="3403967" y="10121115"/>
                    <a:pt x="3414410" y="9776480"/>
                  </a:cubicBezTo>
                  <a:lnTo>
                    <a:pt x="3769699" y="9787246"/>
                  </a:lnTo>
                  <a:cubicBezTo>
                    <a:pt x="3763141" y="10003677"/>
                    <a:pt x="3873692" y="10206855"/>
                    <a:pt x="4058978" y="10318901"/>
                  </a:cubicBezTo>
                  <a:cubicBezTo>
                    <a:pt x="4244264" y="10430947"/>
                    <a:pt x="4475544" y="10434481"/>
                    <a:pt x="4664167" y="10328148"/>
                  </a:cubicBezTo>
                  <a:cubicBezTo>
                    <a:pt x="4852790" y="10221815"/>
                    <a:pt x="4969497" y="10022110"/>
                    <a:pt x="4969554" y="9805580"/>
                  </a:cubicBezTo>
                  <a:lnTo>
                    <a:pt x="4970612" y="9805580"/>
                  </a:lnTo>
                  <a:lnTo>
                    <a:pt x="4970612" y="4711318"/>
                  </a:lnTo>
                  <a:lnTo>
                    <a:pt x="4843983" y="4724506"/>
                  </a:lnTo>
                  <a:cubicBezTo>
                    <a:pt x="4153684" y="4820778"/>
                    <a:pt x="3606351" y="5239260"/>
                    <a:pt x="3466313" y="5773580"/>
                  </a:cubicBezTo>
                  <a:lnTo>
                    <a:pt x="3432089" y="6038646"/>
                  </a:lnTo>
                  <a:lnTo>
                    <a:pt x="3397865" y="5773580"/>
                  </a:lnTo>
                  <a:cubicBezTo>
                    <a:pt x="3237820" y="5162929"/>
                    <a:pt x="2545801" y="4703575"/>
                    <a:pt x="1716367" y="4703575"/>
                  </a:cubicBezTo>
                  <a:cubicBezTo>
                    <a:pt x="886935" y="4703575"/>
                    <a:pt x="194916" y="5162929"/>
                    <a:pt x="34871" y="5773580"/>
                  </a:cubicBezTo>
                  <a:lnTo>
                    <a:pt x="194" y="6042158"/>
                  </a:lnTo>
                  <a:lnTo>
                    <a:pt x="26578" y="5513084"/>
                  </a:lnTo>
                  <a:cubicBezTo>
                    <a:pt x="281959" y="2966815"/>
                    <a:pt x="2347313" y="962340"/>
                    <a:pt x="4899361" y="839547"/>
                  </a:cubicBezTo>
                  <a:lnTo>
                    <a:pt x="4970612" y="837837"/>
                  </a:lnTo>
                  <a:lnTo>
                    <a:pt x="4970612" y="177197"/>
                  </a:lnTo>
                  <a:cubicBezTo>
                    <a:pt x="4970612" y="79334"/>
                    <a:pt x="5049946" y="0"/>
                    <a:pt x="514780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bIns="900000"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51" name="领带"/>
            <p:cNvSpPr/>
            <p:nvPr/>
          </p:nvSpPr>
          <p:spPr bwMode="auto">
            <a:xfrm>
              <a:off x="8211820" y="2388980"/>
              <a:ext cx="355600" cy="621665"/>
            </a:xfrm>
            <a:custGeom>
              <a:avLst/>
              <a:gdLst>
                <a:gd name="T0" fmla="*/ 815953 w 3389"/>
                <a:gd name="T1" fmla="*/ 142499 h 6457"/>
                <a:gd name="T2" fmla="*/ 812410 w 3389"/>
                <a:gd name="T3" fmla="*/ 151940 h 6457"/>
                <a:gd name="T4" fmla="*/ 800897 w 3389"/>
                <a:gd name="T5" fmla="*/ 179082 h 6457"/>
                <a:gd name="T6" fmla="*/ 783185 w 3389"/>
                <a:gd name="T7" fmla="*/ 218911 h 6457"/>
                <a:gd name="T8" fmla="*/ 759568 w 3389"/>
                <a:gd name="T9" fmla="*/ 268476 h 6457"/>
                <a:gd name="T10" fmla="*/ 737723 w 3389"/>
                <a:gd name="T11" fmla="*/ 310075 h 6457"/>
                <a:gd name="T12" fmla="*/ 721191 w 3389"/>
                <a:gd name="T13" fmla="*/ 338693 h 6457"/>
                <a:gd name="T14" fmla="*/ 703479 w 3389"/>
                <a:gd name="T15" fmla="*/ 367901 h 6457"/>
                <a:gd name="T16" fmla="*/ 684881 w 3389"/>
                <a:gd name="T17" fmla="*/ 396814 h 6457"/>
                <a:gd name="T18" fmla="*/ 665102 w 3389"/>
                <a:gd name="T19" fmla="*/ 425136 h 6457"/>
                <a:gd name="T20" fmla="*/ 643847 w 3389"/>
                <a:gd name="T21" fmla="*/ 452574 h 6457"/>
                <a:gd name="T22" fmla="*/ 621706 w 3389"/>
                <a:gd name="T23" fmla="*/ 478536 h 6457"/>
                <a:gd name="T24" fmla="*/ 1000457 w 3389"/>
                <a:gd name="T25" fmla="*/ 1407582 h 6457"/>
                <a:gd name="T26" fmla="*/ 0 w 3389"/>
                <a:gd name="T27" fmla="*/ 1407582 h 6457"/>
                <a:gd name="T28" fmla="*/ 388493 w 3389"/>
                <a:gd name="T29" fmla="*/ 499484 h 6457"/>
                <a:gd name="T30" fmla="*/ 365171 w 3389"/>
                <a:gd name="T31" fmla="*/ 473521 h 6457"/>
                <a:gd name="T32" fmla="*/ 343031 w 3389"/>
                <a:gd name="T33" fmla="*/ 445788 h 6457"/>
                <a:gd name="T34" fmla="*/ 321481 w 3389"/>
                <a:gd name="T35" fmla="*/ 416580 h 6457"/>
                <a:gd name="T36" fmla="*/ 301406 w 3389"/>
                <a:gd name="T37" fmla="*/ 386488 h 6457"/>
                <a:gd name="T38" fmla="*/ 282218 w 3389"/>
                <a:gd name="T39" fmla="*/ 355805 h 6457"/>
                <a:gd name="T40" fmla="*/ 264506 w 3389"/>
                <a:gd name="T41" fmla="*/ 325122 h 6457"/>
                <a:gd name="T42" fmla="*/ 247974 w 3389"/>
                <a:gd name="T43" fmla="*/ 294734 h 6457"/>
                <a:gd name="T44" fmla="*/ 219339 w 3389"/>
                <a:gd name="T45" fmla="*/ 238383 h 6457"/>
                <a:gd name="T46" fmla="*/ 197198 w 3389"/>
                <a:gd name="T47" fmla="*/ 189998 h 6457"/>
                <a:gd name="T48" fmla="*/ 181552 w 3389"/>
                <a:gd name="T49" fmla="*/ 153710 h 6457"/>
                <a:gd name="T50" fmla="*/ 172106 w 3389"/>
                <a:gd name="T51" fmla="*/ 130993 h 6457"/>
                <a:gd name="T52" fmla="*/ 175648 w 3389"/>
                <a:gd name="T53" fmla="*/ 127452 h 6457"/>
                <a:gd name="T54" fmla="*/ 192770 w 3389"/>
                <a:gd name="T55" fmla="*/ 112996 h 6457"/>
                <a:gd name="T56" fmla="*/ 211664 w 3389"/>
                <a:gd name="T57" fmla="*/ 97950 h 6457"/>
                <a:gd name="T58" fmla="*/ 236461 w 3389"/>
                <a:gd name="T59" fmla="*/ 80838 h 6457"/>
                <a:gd name="T60" fmla="*/ 266277 w 3389"/>
                <a:gd name="T61" fmla="*/ 62841 h 6457"/>
                <a:gd name="T62" fmla="*/ 301111 w 3389"/>
                <a:gd name="T63" fmla="*/ 44549 h 6457"/>
                <a:gd name="T64" fmla="*/ 320595 w 3389"/>
                <a:gd name="T65" fmla="*/ 36289 h 6457"/>
                <a:gd name="T66" fmla="*/ 340669 w 3389"/>
                <a:gd name="T67" fmla="*/ 28028 h 6457"/>
                <a:gd name="T68" fmla="*/ 362219 w 3389"/>
                <a:gd name="T69" fmla="*/ 20947 h 6457"/>
                <a:gd name="T70" fmla="*/ 384655 w 3389"/>
                <a:gd name="T71" fmla="*/ 14456 h 6457"/>
                <a:gd name="T72" fmla="*/ 408271 w 3389"/>
                <a:gd name="T73" fmla="*/ 8851 h 6457"/>
                <a:gd name="T74" fmla="*/ 432478 w 3389"/>
                <a:gd name="T75" fmla="*/ 4425 h 6457"/>
                <a:gd name="T76" fmla="*/ 457866 w 3389"/>
                <a:gd name="T77" fmla="*/ 1475 h 6457"/>
                <a:gd name="T78" fmla="*/ 483845 w 3389"/>
                <a:gd name="T79" fmla="*/ 0 h 6457"/>
                <a:gd name="T80" fmla="*/ 510708 w 3389"/>
                <a:gd name="T81" fmla="*/ 295 h 6457"/>
                <a:gd name="T82" fmla="*/ 538753 w 3389"/>
                <a:gd name="T83" fmla="*/ 2360 h 6457"/>
                <a:gd name="T84" fmla="*/ 567388 w 3389"/>
                <a:gd name="T85" fmla="*/ 6491 h 6457"/>
                <a:gd name="T86" fmla="*/ 596318 w 3389"/>
                <a:gd name="T87" fmla="*/ 12686 h 6457"/>
                <a:gd name="T88" fmla="*/ 626430 w 3389"/>
                <a:gd name="T89" fmla="*/ 20947 h 6457"/>
                <a:gd name="T90" fmla="*/ 656836 w 3389"/>
                <a:gd name="T91" fmla="*/ 31863 h 6457"/>
                <a:gd name="T92" fmla="*/ 687833 w 3389"/>
                <a:gd name="T93" fmla="*/ 45434 h 6457"/>
                <a:gd name="T94" fmla="*/ 719420 w 3389"/>
                <a:gd name="T95" fmla="*/ 61661 h 6457"/>
                <a:gd name="T96" fmla="*/ 751597 w 3389"/>
                <a:gd name="T97" fmla="*/ 80838 h 6457"/>
                <a:gd name="T98" fmla="*/ 784070 w 3389"/>
                <a:gd name="T99" fmla="*/ 103260 h 6457"/>
                <a:gd name="T100" fmla="*/ 817133 w 3389"/>
                <a:gd name="T101" fmla="*/ 128928 h 6457"/>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389" h="6457">
                  <a:moveTo>
                    <a:pt x="2768" y="437"/>
                  </a:moveTo>
                  <a:lnTo>
                    <a:pt x="2764" y="483"/>
                  </a:lnTo>
                  <a:lnTo>
                    <a:pt x="2752" y="515"/>
                  </a:lnTo>
                  <a:lnTo>
                    <a:pt x="2735" y="555"/>
                  </a:lnTo>
                  <a:lnTo>
                    <a:pt x="2713" y="607"/>
                  </a:lnTo>
                  <a:lnTo>
                    <a:pt x="2687" y="669"/>
                  </a:lnTo>
                  <a:lnTo>
                    <a:pt x="2653" y="742"/>
                  </a:lnTo>
                  <a:lnTo>
                    <a:pt x="2615" y="823"/>
                  </a:lnTo>
                  <a:lnTo>
                    <a:pt x="2573" y="910"/>
                  </a:lnTo>
                  <a:lnTo>
                    <a:pt x="2524" y="1003"/>
                  </a:lnTo>
                  <a:lnTo>
                    <a:pt x="2499" y="1051"/>
                  </a:lnTo>
                  <a:lnTo>
                    <a:pt x="2471" y="1100"/>
                  </a:lnTo>
                  <a:lnTo>
                    <a:pt x="2443" y="1148"/>
                  </a:lnTo>
                  <a:lnTo>
                    <a:pt x="2414" y="1198"/>
                  </a:lnTo>
                  <a:lnTo>
                    <a:pt x="2383" y="1247"/>
                  </a:lnTo>
                  <a:lnTo>
                    <a:pt x="2352" y="1296"/>
                  </a:lnTo>
                  <a:lnTo>
                    <a:pt x="2320" y="1345"/>
                  </a:lnTo>
                  <a:lnTo>
                    <a:pt x="2286" y="1393"/>
                  </a:lnTo>
                  <a:lnTo>
                    <a:pt x="2253" y="1441"/>
                  </a:lnTo>
                  <a:lnTo>
                    <a:pt x="2217" y="1488"/>
                  </a:lnTo>
                  <a:lnTo>
                    <a:pt x="2181" y="1534"/>
                  </a:lnTo>
                  <a:lnTo>
                    <a:pt x="2144" y="1578"/>
                  </a:lnTo>
                  <a:lnTo>
                    <a:pt x="2106" y="1622"/>
                  </a:lnTo>
                  <a:lnTo>
                    <a:pt x="2067" y="1662"/>
                  </a:lnTo>
                  <a:lnTo>
                    <a:pt x="3389" y="4771"/>
                  </a:lnTo>
                  <a:lnTo>
                    <a:pt x="1695" y="6457"/>
                  </a:lnTo>
                  <a:lnTo>
                    <a:pt x="0" y="4771"/>
                  </a:lnTo>
                  <a:lnTo>
                    <a:pt x="1316" y="1693"/>
                  </a:lnTo>
                  <a:lnTo>
                    <a:pt x="1276" y="1650"/>
                  </a:lnTo>
                  <a:lnTo>
                    <a:pt x="1237" y="1605"/>
                  </a:lnTo>
                  <a:lnTo>
                    <a:pt x="1199" y="1558"/>
                  </a:lnTo>
                  <a:lnTo>
                    <a:pt x="1162" y="1511"/>
                  </a:lnTo>
                  <a:lnTo>
                    <a:pt x="1125" y="1463"/>
                  </a:lnTo>
                  <a:lnTo>
                    <a:pt x="1089" y="1412"/>
                  </a:lnTo>
                  <a:lnTo>
                    <a:pt x="1055" y="1361"/>
                  </a:lnTo>
                  <a:lnTo>
                    <a:pt x="1021" y="1310"/>
                  </a:lnTo>
                  <a:lnTo>
                    <a:pt x="988" y="1258"/>
                  </a:lnTo>
                  <a:lnTo>
                    <a:pt x="956" y="1206"/>
                  </a:lnTo>
                  <a:lnTo>
                    <a:pt x="925" y="1154"/>
                  </a:lnTo>
                  <a:lnTo>
                    <a:pt x="896" y="1102"/>
                  </a:lnTo>
                  <a:lnTo>
                    <a:pt x="868" y="1050"/>
                  </a:lnTo>
                  <a:lnTo>
                    <a:pt x="840" y="999"/>
                  </a:lnTo>
                  <a:lnTo>
                    <a:pt x="789" y="901"/>
                  </a:lnTo>
                  <a:lnTo>
                    <a:pt x="743" y="808"/>
                  </a:lnTo>
                  <a:lnTo>
                    <a:pt x="702" y="722"/>
                  </a:lnTo>
                  <a:lnTo>
                    <a:pt x="668" y="644"/>
                  </a:lnTo>
                  <a:lnTo>
                    <a:pt x="638" y="577"/>
                  </a:lnTo>
                  <a:lnTo>
                    <a:pt x="615" y="521"/>
                  </a:lnTo>
                  <a:lnTo>
                    <a:pt x="597" y="480"/>
                  </a:lnTo>
                  <a:lnTo>
                    <a:pt x="583" y="444"/>
                  </a:lnTo>
                  <a:lnTo>
                    <a:pt x="595" y="432"/>
                  </a:lnTo>
                  <a:lnTo>
                    <a:pt x="628" y="403"/>
                  </a:lnTo>
                  <a:lnTo>
                    <a:pt x="653" y="383"/>
                  </a:lnTo>
                  <a:lnTo>
                    <a:pt x="683" y="358"/>
                  </a:lnTo>
                  <a:lnTo>
                    <a:pt x="717" y="332"/>
                  </a:lnTo>
                  <a:lnTo>
                    <a:pt x="757" y="304"/>
                  </a:lnTo>
                  <a:lnTo>
                    <a:pt x="801" y="274"/>
                  </a:lnTo>
                  <a:lnTo>
                    <a:pt x="849" y="243"/>
                  </a:lnTo>
                  <a:lnTo>
                    <a:pt x="902" y="213"/>
                  </a:lnTo>
                  <a:lnTo>
                    <a:pt x="959" y="181"/>
                  </a:lnTo>
                  <a:lnTo>
                    <a:pt x="1020" y="151"/>
                  </a:lnTo>
                  <a:lnTo>
                    <a:pt x="1052" y="136"/>
                  </a:lnTo>
                  <a:lnTo>
                    <a:pt x="1086" y="123"/>
                  </a:lnTo>
                  <a:lnTo>
                    <a:pt x="1119" y="109"/>
                  </a:lnTo>
                  <a:lnTo>
                    <a:pt x="1154" y="95"/>
                  </a:lnTo>
                  <a:lnTo>
                    <a:pt x="1190" y="82"/>
                  </a:lnTo>
                  <a:lnTo>
                    <a:pt x="1227" y="71"/>
                  </a:lnTo>
                  <a:lnTo>
                    <a:pt x="1265" y="59"/>
                  </a:lnTo>
                  <a:lnTo>
                    <a:pt x="1303" y="49"/>
                  </a:lnTo>
                  <a:lnTo>
                    <a:pt x="1342" y="38"/>
                  </a:lnTo>
                  <a:lnTo>
                    <a:pt x="1383" y="30"/>
                  </a:lnTo>
                  <a:lnTo>
                    <a:pt x="1423" y="22"/>
                  </a:lnTo>
                  <a:lnTo>
                    <a:pt x="1465" y="15"/>
                  </a:lnTo>
                  <a:lnTo>
                    <a:pt x="1507" y="9"/>
                  </a:lnTo>
                  <a:lnTo>
                    <a:pt x="1551" y="5"/>
                  </a:lnTo>
                  <a:lnTo>
                    <a:pt x="1595" y="2"/>
                  </a:lnTo>
                  <a:lnTo>
                    <a:pt x="1639" y="0"/>
                  </a:lnTo>
                  <a:lnTo>
                    <a:pt x="1685" y="0"/>
                  </a:lnTo>
                  <a:lnTo>
                    <a:pt x="1730" y="1"/>
                  </a:lnTo>
                  <a:lnTo>
                    <a:pt x="1778" y="4"/>
                  </a:lnTo>
                  <a:lnTo>
                    <a:pt x="1825" y="8"/>
                  </a:lnTo>
                  <a:lnTo>
                    <a:pt x="1873" y="14"/>
                  </a:lnTo>
                  <a:lnTo>
                    <a:pt x="1922" y="22"/>
                  </a:lnTo>
                  <a:lnTo>
                    <a:pt x="1971" y="31"/>
                  </a:lnTo>
                  <a:lnTo>
                    <a:pt x="2020" y="43"/>
                  </a:lnTo>
                  <a:lnTo>
                    <a:pt x="2071" y="56"/>
                  </a:lnTo>
                  <a:lnTo>
                    <a:pt x="2122" y="71"/>
                  </a:lnTo>
                  <a:lnTo>
                    <a:pt x="2173" y="88"/>
                  </a:lnTo>
                  <a:lnTo>
                    <a:pt x="2225" y="108"/>
                  </a:lnTo>
                  <a:lnTo>
                    <a:pt x="2278" y="130"/>
                  </a:lnTo>
                  <a:lnTo>
                    <a:pt x="2330" y="154"/>
                  </a:lnTo>
                  <a:lnTo>
                    <a:pt x="2383" y="180"/>
                  </a:lnTo>
                  <a:lnTo>
                    <a:pt x="2437" y="209"/>
                  </a:lnTo>
                  <a:lnTo>
                    <a:pt x="2492" y="240"/>
                  </a:lnTo>
                  <a:lnTo>
                    <a:pt x="2546" y="274"/>
                  </a:lnTo>
                  <a:lnTo>
                    <a:pt x="2601" y="311"/>
                  </a:lnTo>
                  <a:lnTo>
                    <a:pt x="2656" y="350"/>
                  </a:lnTo>
                  <a:lnTo>
                    <a:pt x="2712" y="392"/>
                  </a:lnTo>
                  <a:lnTo>
                    <a:pt x="2768" y="437"/>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itchFamily="2" charset="-122"/>
                  <a:cs typeface="+mn-cs"/>
                </a:defRPr>
              </a:lvl9pPr>
            </a:lstStyle>
            <a:p>
              <a:pPr algn="ctr">
                <a:defRPr/>
              </a:pPr>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grpSp>
      <p:sp>
        <p:nvSpPr>
          <p:cNvPr id="53" name="矩形 52"/>
          <p:cNvSpPr/>
          <p:nvPr/>
        </p:nvSpPr>
        <p:spPr>
          <a:xfrm>
            <a:off x="790093" y="2074156"/>
            <a:ext cx="77811" cy="880327"/>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790093" y="3078151"/>
            <a:ext cx="77811" cy="880327"/>
          </a:xfrm>
          <a:prstGeom prst="rect">
            <a:avLst/>
          </a:pr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790093" y="4113142"/>
            <a:ext cx="77811" cy="880327"/>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790093" y="5132638"/>
            <a:ext cx="77811" cy="880327"/>
          </a:xfrm>
          <a:prstGeom prst="rect">
            <a:avLst/>
          </a:pr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Box 6"/>
          <p:cNvSpPr txBox="1"/>
          <p:nvPr/>
        </p:nvSpPr>
        <p:spPr>
          <a:xfrm>
            <a:off x="265096" y="1030999"/>
            <a:ext cx="333051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智能体处理任务步骤</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5" name="矩形 4"/>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6"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0"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25"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1"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78" name="任意多边形: 形状 3"/>
          <p:cNvSpPr/>
          <p:nvPr/>
        </p:nvSpPr>
        <p:spPr>
          <a:xfrm>
            <a:off x="4469582" y="1979843"/>
            <a:ext cx="1626418" cy="1603323"/>
          </a:xfrm>
          <a:custGeom>
            <a:avLst/>
            <a:gdLst>
              <a:gd name="connsiteX0" fmla="*/ 1626418 w 1626418"/>
              <a:gd name="connsiteY0" fmla="*/ 0 h 1603323"/>
              <a:gd name="connsiteX1" fmla="*/ 1535379 w 1626418"/>
              <a:gd name="connsiteY1" fmla="*/ 1603323 h 1603323"/>
              <a:gd name="connsiteX2" fmla="*/ 0 w 1626418"/>
              <a:gd name="connsiteY2" fmla="*/ 1183307 h 1603323"/>
              <a:gd name="connsiteX3" fmla="*/ 1626418 w 1626418"/>
              <a:gd name="connsiteY3" fmla="*/ 0 h 1603323"/>
            </a:gdLst>
            <a:ahLst/>
            <a:cxnLst>
              <a:cxn ang="0">
                <a:pos x="connsiteX0" y="connsiteY0"/>
              </a:cxn>
              <a:cxn ang="0">
                <a:pos x="connsiteX1" y="connsiteY1"/>
              </a:cxn>
              <a:cxn ang="0">
                <a:pos x="connsiteX2" y="connsiteY2"/>
              </a:cxn>
              <a:cxn ang="0">
                <a:pos x="connsiteX3" y="connsiteY3"/>
              </a:cxn>
            </a:cxnLst>
            <a:rect l="l" t="t" r="r" b="b"/>
            <a:pathLst>
              <a:path w="1626418" h="1603323">
                <a:moveTo>
                  <a:pt x="1626418" y="0"/>
                </a:moveTo>
                <a:lnTo>
                  <a:pt x="1535379" y="1603323"/>
                </a:lnTo>
                <a:lnTo>
                  <a:pt x="0" y="1183307"/>
                </a:lnTo>
                <a:lnTo>
                  <a:pt x="1626418" y="0"/>
                </a:lnTo>
                <a:close/>
              </a:path>
            </a:pathLst>
          </a:custGeom>
          <a:solidFill>
            <a:srgbClr val="9FACC3"/>
          </a:solidFill>
          <a:ln w="30163" cap="rnd" cmpd="sng">
            <a:noFill/>
            <a:prstDash val="solid"/>
            <a:miter/>
            <a:headEnd type="none" w="med" len="med"/>
            <a:tailEnd type="none" w="med" len="med"/>
          </a:ln>
        </p:spPr>
        <p:txBody>
          <a:bodyPr wrap="square">
            <a:noAutofi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79" name="任意多边形: 形状 4"/>
          <p:cNvSpPr/>
          <p:nvPr/>
        </p:nvSpPr>
        <p:spPr>
          <a:xfrm>
            <a:off x="6112835" y="1979843"/>
            <a:ext cx="1626418" cy="1603323"/>
          </a:xfrm>
          <a:custGeom>
            <a:avLst/>
            <a:gdLst>
              <a:gd name="connsiteX0" fmla="*/ 0 w 1626418"/>
              <a:gd name="connsiteY0" fmla="*/ 0 h 1603323"/>
              <a:gd name="connsiteX1" fmla="*/ 1626418 w 1626418"/>
              <a:gd name="connsiteY1" fmla="*/ 1183307 h 1603323"/>
              <a:gd name="connsiteX2" fmla="*/ 91038 w 1626418"/>
              <a:gd name="connsiteY2" fmla="*/ 1603323 h 1603323"/>
              <a:gd name="connsiteX3" fmla="*/ 0 w 1626418"/>
              <a:gd name="connsiteY3" fmla="*/ 0 h 1603323"/>
            </a:gdLst>
            <a:ahLst/>
            <a:cxnLst>
              <a:cxn ang="0">
                <a:pos x="connsiteX0" y="connsiteY0"/>
              </a:cxn>
              <a:cxn ang="0">
                <a:pos x="connsiteX1" y="connsiteY1"/>
              </a:cxn>
              <a:cxn ang="0">
                <a:pos x="connsiteX2" y="connsiteY2"/>
              </a:cxn>
              <a:cxn ang="0">
                <a:pos x="connsiteX3" y="connsiteY3"/>
              </a:cxn>
            </a:cxnLst>
            <a:rect l="l" t="t" r="r" b="b"/>
            <a:pathLst>
              <a:path w="1626418" h="1603323">
                <a:moveTo>
                  <a:pt x="0" y="0"/>
                </a:moveTo>
                <a:lnTo>
                  <a:pt x="1626418" y="1183307"/>
                </a:lnTo>
                <a:lnTo>
                  <a:pt x="91038" y="1603323"/>
                </a:lnTo>
                <a:lnTo>
                  <a:pt x="0" y="0"/>
                </a:lnTo>
                <a:close/>
              </a:path>
            </a:pathLst>
          </a:custGeom>
          <a:solidFill>
            <a:srgbClr val="9FACC3"/>
          </a:solidFill>
          <a:ln w="30163" cap="rnd" cmpd="sng">
            <a:noFill/>
            <a:prstDash val="solid"/>
            <a:miter/>
            <a:headEnd type="none" w="med" len="med"/>
            <a:tailEnd type="none" w="med" len="med"/>
          </a:ln>
        </p:spPr>
        <p:txBody>
          <a:bodyPr wrap="square">
            <a:noAutofi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80" name="任意多边形: 形状 5"/>
          <p:cNvSpPr/>
          <p:nvPr/>
        </p:nvSpPr>
        <p:spPr>
          <a:xfrm>
            <a:off x="4453420" y="3170210"/>
            <a:ext cx="1490074" cy="1948263"/>
          </a:xfrm>
          <a:custGeom>
            <a:avLst/>
            <a:gdLst>
              <a:gd name="connsiteX0" fmla="*/ 6458 w 1490074"/>
              <a:gd name="connsiteY0" fmla="*/ 0 h 1948263"/>
              <a:gd name="connsiteX1" fmla="*/ 1490074 w 1490074"/>
              <a:gd name="connsiteY1" fmla="*/ 611867 h 1948263"/>
              <a:gd name="connsiteX2" fmla="*/ 677765 w 1490074"/>
              <a:gd name="connsiteY2" fmla="*/ 1948263 h 1948263"/>
              <a:gd name="connsiteX3" fmla="*/ 630625 w 1490074"/>
              <a:gd name="connsiteY3" fmla="*/ 1948263 h 1948263"/>
              <a:gd name="connsiteX4" fmla="*/ 0 w 1490074"/>
              <a:gd name="connsiteY4" fmla="*/ 4698 h 1948263"/>
              <a:gd name="connsiteX5" fmla="*/ 6458 w 1490074"/>
              <a:gd name="connsiteY5" fmla="*/ 0 h 1948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0074" h="1948263">
                <a:moveTo>
                  <a:pt x="6458" y="0"/>
                </a:moveTo>
                <a:lnTo>
                  <a:pt x="1490074" y="611867"/>
                </a:lnTo>
                <a:lnTo>
                  <a:pt x="677765" y="1948263"/>
                </a:lnTo>
                <a:lnTo>
                  <a:pt x="630625" y="1948263"/>
                </a:lnTo>
                <a:lnTo>
                  <a:pt x="0" y="4698"/>
                </a:lnTo>
                <a:lnTo>
                  <a:pt x="6458" y="0"/>
                </a:lnTo>
                <a:close/>
              </a:path>
            </a:pathLst>
          </a:custGeom>
          <a:solidFill>
            <a:srgbClr val="557199"/>
          </a:solidFill>
          <a:ln w="30163" cap="rnd" cmpd="sng">
            <a:noFill/>
            <a:prstDash val="solid"/>
            <a:miter/>
            <a:headEnd type="none" w="med" len="med"/>
            <a:tailEnd type="none" w="med" len="med"/>
          </a:ln>
        </p:spPr>
        <p:txBody>
          <a:bodyPr wrap="square">
            <a:noAutofi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81" name="任意多边形: 形状 6"/>
          <p:cNvSpPr/>
          <p:nvPr/>
        </p:nvSpPr>
        <p:spPr>
          <a:xfrm>
            <a:off x="6265340" y="3170210"/>
            <a:ext cx="1490074" cy="1948263"/>
          </a:xfrm>
          <a:custGeom>
            <a:avLst/>
            <a:gdLst>
              <a:gd name="connsiteX0" fmla="*/ 1483616 w 1490074"/>
              <a:gd name="connsiteY0" fmla="*/ 0 h 1948263"/>
              <a:gd name="connsiteX1" fmla="*/ 1490074 w 1490074"/>
              <a:gd name="connsiteY1" fmla="*/ 4698 h 1948263"/>
              <a:gd name="connsiteX2" fmla="*/ 859449 w 1490074"/>
              <a:gd name="connsiteY2" fmla="*/ 1948263 h 1948263"/>
              <a:gd name="connsiteX3" fmla="*/ 812310 w 1490074"/>
              <a:gd name="connsiteY3" fmla="*/ 1948263 h 1948263"/>
              <a:gd name="connsiteX4" fmla="*/ 0 w 1490074"/>
              <a:gd name="connsiteY4" fmla="*/ 611867 h 1948263"/>
              <a:gd name="connsiteX5" fmla="*/ 1483616 w 1490074"/>
              <a:gd name="connsiteY5" fmla="*/ 0 h 1948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90074" h="1948263">
                <a:moveTo>
                  <a:pt x="1483616" y="0"/>
                </a:moveTo>
                <a:lnTo>
                  <a:pt x="1490074" y="4698"/>
                </a:lnTo>
                <a:lnTo>
                  <a:pt x="859449" y="1948263"/>
                </a:lnTo>
                <a:lnTo>
                  <a:pt x="812310" y="1948263"/>
                </a:lnTo>
                <a:lnTo>
                  <a:pt x="0" y="611867"/>
                </a:lnTo>
                <a:lnTo>
                  <a:pt x="1483616" y="0"/>
                </a:lnTo>
                <a:close/>
              </a:path>
            </a:pathLst>
          </a:custGeom>
          <a:solidFill>
            <a:srgbClr val="557199"/>
          </a:solidFill>
          <a:ln w="30163" cap="rnd" cmpd="sng">
            <a:noFill/>
            <a:prstDash val="solid"/>
            <a:miter/>
            <a:headEnd type="none" w="med" len="med"/>
            <a:tailEnd type="none" w="med" len="med"/>
          </a:ln>
        </p:spPr>
        <p:txBody>
          <a:bodyPr wrap="square">
            <a:noAutofi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82" name="任意多边形: 形状 7"/>
          <p:cNvSpPr/>
          <p:nvPr/>
        </p:nvSpPr>
        <p:spPr>
          <a:xfrm>
            <a:off x="5155891" y="3905010"/>
            <a:ext cx="1897055" cy="1213462"/>
          </a:xfrm>
          <a:custGeom>
            <a:avLst/>
            <a:gdLst>
              <a:gd name="connsiteX0" fmla="*/ 948527 w 1897055"/>
              <a:gd name="connsiteY0" fmla="*/ 0 h 1213462"/>
              <a:gd name="connsiteX1" fmla="*/ 1897055 w 1897055"/>
              <a:gd name="connsiteY1" fmla="*/ 1213462 h 1213462"/>
              <a:gd name="connsiteX2" fmla="*/ 0 w 1897055"/>
              <a:gd name="connsiteY2" fmla="*/ 1213462 h 1213462"/>
              <a:gd name="connsiteX3" fmla="*/ 948527 w 1897055"/>
              <a:gd name="connsiteY3" fmla="*/ 0 h 1213462"/>
            </a:gdLst>
            <a:ahLst/>
            <a:cxnLst>
              <a:cxn ang="0">
                <a:pos x="connsiteX0" y="connsiteY0"/>
              </a:cxn>
              <a:cxn ang="0">
                <a:pos x="connsiteX1" y="connsiteY1"/>
              </a:cxn>
              <a:cxn ang="0">
                <a:pos x="connsiteX2" y="connsiteY2"/>
              </a:cxn>
              <a:cxn ang="0">
                <a:pos x="connsiteX3" y="connsiteY3"/>
              </a:cxn>
            </a:cxnLst>
            <a:rect l="l" t="t" r="r" b="b"/>
            <a:pathLst>
              <a:path w="1897055" h="1213462">
                <a:moveTo>
                  <a:pt x="948527" y="0"/>
                </a:moveTo>
                <a:lnTo>
                  <a:pt x="1897055" y="1213462"/>
                </a:lnTo>
                <a:lnTo>
                  <a:pt x="0" y="1213462"/>
                </a:lnTo>
                <a:lnTo>
                  <a:pt x="948527" y="0"/>
                </a:lnTo>
                <a:close/>
              </a:path>
            </a:pathLst>
          </a:custGeom>
          <a:solidFill>
            <a:srgbClr val="9FACC3"/>
          </a:solidFill>
          <a:ln w="30163" cap="rnd" cmpd="sng">
            <a:noFill/>
            <a:prstDash val="solid"/>
            <a:miter/>
            <a:headEnd type="none" w="med" len="med"/>
            <a:tailEnd type="none" w="med" len="med"/>
          </a:ln>
        </p:spPr>
        <p:txBody>
          <a:bodyPr wrap="square">
            <a:noAutofit/>
          </a:bodyPr>
          <a:lstStyle/>
          <a:p>
            <a:endParaRPr lang="zh-CN" altLang="en-US">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
        <p:nvSpPr>
          <p:cNvPr id="184" name="文本框 183"/>
          <p:cNvSpPr txBox="1"/>
          <p:nvPr/>
        </p:nvSpPr>
        <p:spPr>
          <a:xfrm flipH="1">
            <a:off x="415612" y="1832657"/>
            <a:ext cx="3631337" cy="1353127"/>
          </a:xfrm>
          <a:prstGeom prst="rect">
            <a:avLst/>
          </a:prstGeom>
          <a:noFill/>
          <a:ln w="9525">
            <a:noFill/>
            <a:miter/>
          </a:ln>
          <a:effectLst>
            <a:outerShdw sx="999" sy="999" algn="ctr" rotWithShape="0">
              <a:srgbClr val="000000"/>
            </a:outerShdw>
          </a:effectLst>
        </p:spPr>
        <p:txBody>
          <a:bodyPr wrap="square" anchor="t">
            <a:spAutoFit/>
          </a:bodyPr>
          <a:lstStyle/>
          <a:p>
            <a:r>
              <a:rPr lang="zh-CN" altLang="zh-CN" sz="2000" dirty="0">
                <a:effectLst/>
                <a:latin typeface="宋体" pitchFamily="2" charset="-122"/>
                <a:ea typeface="宋体" pitchFamily="2" charset="-122"/>
                <a:cs typeface="Times New Roman" panose="02020503050405090304" pitchFamily="18" charset="0"/>
              </a:rPr>
              <a:t>知识图谱与推理结合</a:t>
            </a:r>
            <a:endParaRPr lang="en-US" altLang="zh-CN" sz="2000" dirty="0">
              <a:effectLst/>
              <a:latin typeface="宋体" pitchFamily="2" charset="-122"/>
              <a:ea typeface="宋体" pitchFamily="2" charset="-122"/>
              <a:cs typeface="Times New Roman" panose="02020503050405090304" pitchFamily="18" charset="0"/>
            </a:endParaRPr>
          </a:p>
          <a:p>
            <a:pPr algn="just">
              <a:lnSpc>
                <a:spcPct val="120000"/>
              </a:lnSpc>
            </a:pPr>
            <a:r>
              <a:rPr lang="zh-CN" altLang="en-US" dirty="0">
                <a:solidFill>
                  <a:srgbClr val="595959"/>
                </a:solidFill>
                <a:latin typeface="楷体" panose="02010609060101010101" pitchFamily="49" charset="-122"/>
                <a:ea typeface="楷体" panose="02010609060101010101" pitchFamily="49" charset="-122"/>
              </a:rPr>
              <a:t>强化推理可以引入更强的上下文记忆，增强模型对跨段落和章节信息的处理能力</a:t>
            </a:r>
            <a:endParaRPr lang="en-US" altLang="zh-CN" dirty="0">
              <a:solidFill>
                <a:srgbClr val="595959"/>
              </a:solidFill>
              <a:latin typeface="楷体" panose="02010609060101010101" pitchFamily="49" charset="-122"/>
              <a:ea typeface="楷体" panose="02010609060101010101" pitchFamily="49" charset="-122"/>
            </a:endParaRPr>
          </a:p>
        </p:txBody>
      </p:sp>
      <p:sp>
        <p:nvSpPr>
          <p:cNvPr id="193" name="letter_100718"/>
          <p:cNvSpPr>
            <a:spLocks noChangeAspect="1"/>
          </p:cNvSpPr>
          <p:nvPr/>
        </p:nvSpPr>
        <p:spPr bwMode="auto">
          <a:xfrm>
            <a:off x="5249792" y="2571751"/>
            <a:ext cx="609685" cy="537769"/>
          </a:xfrm>
          <a:custGeom>
            <a:avLst/>
            <a:gdLst>
              <a:gd name="connsiteX0" fmla="*/ 210948 w 608415"/>
              <a:gd name="connsiteY0" fmla="*/ 351029 h 536649"/>
              <a:gd name="connsiteX1" fmla="*/ 67141 w 608415"/>
              <a:gd name="connsiteY1" fmla="*/ 495537 h 536649"/>
              <a:gd name="connsiteX2" fmla="*/ 541274 w 608415"/>
              <a:gd name="connsiteY2" fmla="*/ 495537 h 536649"/>
              <a:gd name="connsiteX3" fmla="*/ 397467 w 608415"/>
              <a:gd name="connsiteY3" fmla="*/ 351029 h 536649"/>
              <a:gd name="connsiteX4" fmla="*/ 313426 w 608415"/>
              <a:gd name="connsiteY4" fmla="*/ 392909 h 536649"/>
              <a:gd name="connsiteX5" fmla="*/ 304208 w 608415"/>
              <a:gd name="connsiteY5" fmla="*/ 395056 h 536649"/>
              <a:gd name="connsiteX6" fmla="*/ 294989 w 608415"/>
              <a:gd name="connsiteY6" fmla="*/ 392909 h 536649"/>
              <a:gd name="connsiteX7" fmla="*/ 567239 w 608415"/>
              <a:gd name="connsiteY7" fmla="*/ 266196 h 536649"/>
              <a:gd name="connsiteX8" fmla="*/ 436184 w 608415"/>
              <a:gd name="connsiteY8" fmla="*/ 331700 h 536649"/>
              <a:gd name="connsiteX9" fmla="*/ 567239 w 608415"/>
              <a:gd name="connsiteY9" fmla="*/ 463322 h 536649"/>
              <a:gd name="connsiteX10" fmla="*/ 41176 w 608415"/>
              <a:gd name="connsiteY10" fmla="*/ 266196 h 536649"/>
              <a:gd name="connsiteX11" fmla="*/ 41176 w 608415"/>
              <a:gd name="connsiteY11" fmla="*/ 463322 h 536649"/>
              <a:gd name="connsiteX12" fmla="*/ 172231 w 608415"/>
              <a:gd name="connsiteY12" fmla="*/ 331700 h 536649"/>
              <a:gd name="connsiteX13" fmla="*/ 233361 w 608415"/>
              <a:gd name="connsiteY13" fmla="*/ 247754 h 536649"/>
              <a:gd name="connsiteX14" fmla="*/ 375055 w 608415"/>
              <a:gd name="connsiteY14" fmla="*/ 247754 h 536649"/>
              <a:gd name="connsiteX15" fmla="*/ 395802 w 608415"/>
              <a:gd name="connsiteY15" fmla="*/ 268324 h 536649"/>
              <a:gd name="connsiteX16" fmla="*/ 375055 w 608415"/>
              <a:gd name="connsiteY16" fmla="*/ 288894 h 536649"/>
              <a:gd name="connsiteX17" fmla="*/ 233361 w 608415"/>
              <a:gd name="connsiteY17" fmla="*/ 288894 h 536649"/>
              <a:gd name="connsiteX18" fmla="*/ 212614 w 608415"/>
              <a:gd name="connsiteY18" fmla="*/ 268324 h 536649"/>
              <a:gd name="connsiteX19" fmla="*/ 233361 w 608415"/>
              <a:gd name="connsiteY19" fmla="*/ 247754 h 536649"/>
              <a:gd name="connsiteX20" fmla="*/ 509471 w 608415"/>
              <a:gd name="connsiteY20" fmla="*/ 199925 h 536649"/>
              <a:gd name="connsiteX21" fmla="*/ 509471 w 608415"/>
              <a:gd name="connsiteY21" fmla="*/ 249015 h 536649"/>
              <a:gd name="connsiteX22" fmla="*/ 548649 w 608415"/>
              <a:gd name="connsiteY22" fmla="*/ 229379 h 536649"/>
              <a:gd name="connsiteX23" fmla="*/ 98944 w 608415"/>
              <a:gd name="connsiteY23" fmla="*/ 199925 h 536649"/>
              <a:gd name="connsiteX24" fmla="*/ 59766 w 608415"/>
              <a:gd name="connsiteY24" fmla="*/ 229379 h 536649"/>
              <a:gd name="connsiteX25" fmla="*/ 98944 w 608415"/>
              <a:gd name="connsiteY25" fmla="*/ 249015 h 536649"/>
              <a:gd name="connsiteX26" fmla="*/ 233361 w 608415"/>
              <a:gd name="connsiteY26" fmla="*/ 176906 h 536649"/>
              <a:gd name="connsiteX27" fmla="*/ 375055 w 608415"/>
              <a:gd name="connsiteY27" fmla="*/ 176906 h 536649"/>
              <a:gd name="connsiteX28" fmla="*/ 395802 w 608415"/>
              <a:gd name="connsiteY28" fmla="*/ 197470 h 536649"/>
              <a:gd name="connsiteX29" fmla="*/ 375055 w 608415"/>
              <a:gd name="connsiteY29" fmla="*/ 218187 h 536649"/>
              <a:gd name="connsiteX30" fmla="*/ 233361 w 608415"/>
              <a:gd name="connsiteY30" fmla="*/ 218187 h 536649"/>
              <a:gd name="connsiteX31" fmla="*/ 212614 w 608415"/>
              <a:gd name="connsiteY31" fmla="*/ 197470 h 536649"/>
              <a:gd name="connsiteX32" fmla="*/ 233361 w 608415"/>
              <a:gd name="connsiteY32" fmla="*/ 176906 h 536649"/>
              <a:gd name="connsiteX33" fmla="*/ 140888 w 608415"/>
              <a:gd name="connsiteY33" fmla="*/ 116013 h 536649"/>
              <a:gd name="connsiteX34" fmla="*/ 140888 w 608415"/>
              <a:gd name="connsiteY34" fmla="*/ 270031 h 536649"/>
              <a:gd name="connsiteX35" fmla="*/ 304208 w 608415"/>
              <a:gd name="connsiteY35" fmla="*/ 351489 h 536649"/>
              <a:gd name="connsiteX36" fmla="*/ 467527 w 608415"/>
              <a:gd name="connsiteY36" fmla="*/ 270031 h 536649"/>
              <a:gd name="connsiteX37" fmla="*/ 467527 w 608415"/>
              <a:gd name="connsiteY37" fmla="*/ 116013 h 536649"/>
              <a:gd name="connsiteX38" fmla="*/ 304208 w 608415"/>
              <a:gd name="connsiteY38" fmla="*/ 46367 h 536649"/>
              <a:gd name="connsiteX39" fmla="*/ 266105 w 608415"/>
              <a:gd name="connsiteY39" fmla="*/ 74900 h 536649"/>
              <a:gd name="connsiteX40" fmla="*/ 342310 w 608415"/>
              <a:gd name="connsiteY40" fmla="*/ 74900 h 536649"/>
              <a:gd name="connsiteX41" fmla="*/ 304208 w 608415"/>
              <a:gd name="connsiteY41" fmla="*/ 0 h 536649"/>
              <a:gd name="connsiteX42" fmla="*/ 316652 w 608415"/>
              <a:gd name="connsiteY42" fmla="*/ 4027 h 536649"/>
              <a:gd name="connsiteX43" fmla="*/ 410987 w 608415"/>
              <a:gd name="connsiteY43" fmla="*/ 74900 h 536649"/>
              <a:gd name="connsiteX44" fmla="*/ 488422 w 608415"/>
              <a:gd name="connsiteY44" fmla="*/ 74900 h 536649"/>
              <a:gd name="connsiteX45" fmla="*/ 509471 w 608415"/>
              <a:gd name="connsiteY45" fmla="*/ 95456 h 536649"/>
              <a:gd name="connsiteX46" fmla="*/ 509471 w 608415"/>
              <a:gd name="connsiteY46" fmla="*/ 148535 h 536649"/>
              <a:gd name="connsiteX47" fmla="*/ 600118 w 608415"/>
              <a:gd name="connsiteY47" fmla="*/ 216493 h 536649"/>
              <a:gd name="connsiteX48" fmla="*/ 608415 w 608415"/>
              <a:gd name="connsiteY48" fmla="*/ 232907 h 536649"/>
              <a:gd name="connsiteX49" fmla="*/ 608415 w 608415"/>
              <a:gd name="connsiteY49" fmla="*/ 516093 h 536649"/>
              <a:gd name="connsiteX50" fmla="*/ 587827 w 608415"/>
              <a:gd name="connsiteY50" fmla="*/ 536649 h 536649"/>
              <a:gd name="connsiteX51" fmla="*/ 20588 w 608415"/>
              <a:gd name="connsiteY51" fmla="*/ 536649 h 536649"/>
              <a:gd name="connsiteX52" fmla="*/ 0 w 608415"/>
              <a:gd name="connsiteY52" fmla="*/ 516093 h 536649"/>
              <a:gd name="connsiteX53" fmla="*/ 0 w 608415"/>
              <a:gd name="connsiteY53" fmla="*/ 232907 h 536649"/>
              <a:gd name="connsiteX54" fmla="*/ 8297 w 608415"/>
              <a:gd name="connsiteY54" fmla="*/ 216493 h 536649"/>
              <a:gd name="connsiteX55" fmla="*/ 98944 w 608415"/>
              <a:gd name="connsiteY55" fmla="*/ 148535 h 536649"/>
              <a:gd name="connsiteX56" fmla="*/ 98944 w 608415"/>
              <a:gd name="connsiteY56" fmla="*/ 95456 h 536649"/>
              <a:gd name="connsiteX57" fmla="*/ 119993 w 608415"/>
              <a:gd name="connsiteY57" fmla="*/ 74900 h 536649"/>
              <a:gd name="connsiteX58" fmla="*/ 197428 w 608415"/>
              <a:gd name="connsiteY58" fmla="*/ 74900 h 536649"/>
              <a:gd name="connsiteX59" fmla="*/ 291763 w 608415"/>
              <a:gd name="connsiteY59" fmla="*/ 4027 h 536649"/>
              <a:gd name="connsiteX60" fmla="*/ 304208 w 608415"/>
              <a:gd name="connsiteY60" fmla="*/ 0 h 53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8415" h="536649">
                <a:moveTo>
                  <a:pt x="210948" y="351029"/>
                </a:moveTo>
                <a:lnTo>
                  <a:pt x="67141" y="495537"/>
                </a:lnTo>
                <a:lnTo>
                  <a:pt x="541274" y="495537"/>
                </a:lnTo>
                <a:lnTo>
                  <a:pt x="397467" y="351029"/>
                </a:lnTo>
                <a:lnTo>
                  <a:pt x="313426" y="392909"/>
                </a:lnTo>
                <a:cubicBezTo>
                  <a:pt x="310507" y="394443"/>
                  <a:pt x="307434" y="395056"/>
                  <a:pt x="304208" y="395056"/>
                </a:cubicBezTo>
                <a:cubicBezTo>
                  <a:pt x="300981" y="395056"/>
                  <a:pt x="297908" y="394443"/>
                  <a:pt x="294989" y="392909"/>
                </a:cubicBezTo>
                <a:close/>
                <a:moveTo>
                  <a:pt x="567239" y="266196"/>
                </a:moveTo>
                <a:lnTo>
                  <a:pt x="436184" y="331700"/>
                </a:lnTo>
                <a:lnTo>
                  <a:pt x="567239" y="463322"/>
                </a:lnTo>
                <a:close/>
                <a:moveTo>
                  <a:pt x="41176" y="266196"/>
                </a:moveTo>
                <a:lnTo>
                  <a:pt x="41176" y="463322"/>
                </a:lnTo>
                <a:lnTo>
                  <a:pt x="172231" y="331700"/>
                </a:lnTo>
                <a:close/>
                <a:moveTo>
                  <a:pt x="233361" y="247754"/>
                </a:moveTo>
                <a:lnTo>
                  <a:pt x="375055" y="247754"/>
                </a:lnTo>
                <a:cubicBezTo>
                  <a:pt x="386581" y="247754"/>
                  <a:pt x="395802" y="256965"/>
                  <a:pt x="395802" y="268324"/>
                </a:cubicBezTo>
                <a:cubicBezTo>
                  <a:pt x="395802" y="279684"/>
                  <a:pt x="386581" y="288894"/>
                  <a:pt x="375055" y="288894"/>
                </a:cubicBezTo>
                <a:lnTo>
                  <a:pt x="233361" y="288894"/>
                </a:lnTo>
                <a:cubicBezTo>
                  <a:pt x="221835" y="288894"/>
                  <a:pt x="212614" y="279684"/>
                  <a:pt x="212614" y="268324"/>
                </a:cubicBezTo>
                <a:cubicBezTo>
                  <a:pt x="212614" y="256965"/>
                  <a:pt x="221835" y="247754"/>
                  <a:pt x="233361" y="247754"/>
                </a:cubicBezTo>
                <a:close/>
                <a:moveTo>
                  <a:pt x="509471" y="199925"/>
                </a:moveTo>
                <a:lnTo>
                  <a:pt x="509471" y="249015"/>
                </a:lnTo>
                <a:lnTo>
                  <a:pt x="548649" y="229379"/>
                </a:lnTo>
                <a:close/>
                <a:moveTo>
                  <a:pt x="98944" y="199925"/>
                </a:moveTo>
                <a:lnTo>
                  <a:pt x="59766" y="229379"/>
                </a:lnTo>
                <a:lnTo>
                  <a:pt x="98944" y="249015"/>
                </a:lnTo>
                <a:close/>
                <a:moveTo>
                  <a:pt x="233361" y="176906"/>
                </a:moveTo>
                <a:lnTo>
                  <a:pt x="375055" y="176906"/>
                </a:lnTo>
                <a:cubicBezTo>
                  <a:pt x="386581" y="176906"/>
                  <a:pt x="395802" y="186114"/>
                  <a:pt x="395802" y="197470"/>
                </a:cubicBezTo>
                <a:cubicBezTo>
                  <a:pt x="395802" y="208979"/>
                  <a:pt x="386581" y="218187"/>
                  <a:pt x="375055" y="218187"/>
                </a:cubicBezTo>
                <a:lnTo>
                  <a:pt x="233361" y="218187"/>
                </a:lnTo>
                <a:cubicBezTo>
                  <a:pt x="221835" y="218187"/>
                  <a:pt x="212614" y="208979"/>
                  <a:pt x="212614" y="197470"/>
                </a:cubicBezTo>
                <a:cubicBezTo>
                  <a:pt x="212614" y="186114"/>
                  <a:pt x="221835" y="176906"/>
                  <a:pt x="233361" y="176906"/>
                </a:cubicBezTo>
                <a:close/>
                <a:moveTo>
                  <a:pt x="140888" y="116013"/>
                </a:moveTo>
                <a:lnTo>
                  <a:pt x="140888" y="270031"/>
                </a:lnTo>
                <a:lnTo>
                  <a:pt x="304208" y="351489"/>
                </a:lnTo>
                <a:lnTo>
                  <a:pt x="467527" y="270031"/>
                </a:lnTo>
                <a:lnTo>
                  <a:pt x="467527" y="116013"/>
                </a:lnTo>
                <a:close/>
                <a:moveTo>
                  <a:pt x="304208" y="46367"/>
                </a:moveTo>
                <a:lnTo>
                  <a:pt x="266105" y="74900"/>
                </a:lnTo>
                <a:lnTo>
                  <a:pt x="342310" y="74900"/>
                </a:lnTo>
                <a:close/>
                <a:moveTo>
                  <a:pt x="304208" y="0"/>
                </a:moveTo>
                <a:cubicBezTo>
                  <a:pt x="308586" y="0"/>
                  <a:pt x="312965" y="1343"/>
                  <a:pt x="316652" y="4027"/>
                </a:cubicBezTo>
                <a:lnTo>
                  <a:pt x="410987" y="74900"/>
                </a:lnTo>
                <a:lnTo>
                  <a:pt x="488422" y="74900"/>
                </a:lnTo>
                <a:cubicBezTo>
                  <a:pt x="500099" y="74900"/>
                  <a:pt x="509471" y="84104"/>
                  <a:pt x="509471" y="95456"/>
                </a:cubicBezTo>
                <a:lnTo>
                  <a:pt x="509471" y="148535"/>
                </a:lnTo>
                <a:lnTo>
                  <a:pt x="600118" y="216493"/>
                </a:lnTo>
                <a:cubicBezTo>
                  <a:pt x="605342" y="220328"/>
                  <a:pt x="608415" y="226464"/>
                  <a:pt x="608415" y="232907"/>
                </a:cubicBezTo>
                <a:lnTo>
                  <a:pt x="608415" y="516093"/>
                </a:lnTo>
                <a:cubicBezTo>
                  <a:pt x="608415" y="527445"/>
                  <a:pt x="599197" y="536649"/>
                  <a:pt x="587827" y="536649"/>
                </a:cubicBezTo>
                <a:lnTo>
                  <a:pt x="20588" y="536649"/>
                </a:lnTo>
                <a:cubicBezTo>
                  <a:pt x="9218" y="536649"/>
                  <a:pt x="0" y="527445"/>
                  <a:pt x="0" y="516093"/>
                </a:cubicBezTo>
                <a:lnTo>
                  <a:pt x="0" y="232907"/>
                </a:lnTo>
                <a:cubicBezTo>
                  <a:pt x="0" y="226464"/>
                  <a:pt x="3073" y="220328"/>
                  <a:pt x="8297" y="216493"/>
                </a:cubicBezTo>
                <a:lnTo>
                  <a:pt x="98944" y="148535"/>
                </a:lnTo>
                <a:lnTo>
                  <a:pt x="98944" y="95456"/>
                </a:lnTo>
                <a:cubicBezTo>
                  <a:pt x="98944" y="84104"/>
                  <a:pt x="108316" y="74900"/>
                  <a:pt x="119993" y="74900"/>
                </a:cubicBezTo>
                <a:lnTo>
                  <a:pt x="197428" y="74900"/>
                </a:lnTo>
                <a:lnTo>
                  <a:pt x="291763" y="4027"/>
                </a:lnTo>
                <a:cubicBezTo>
                  <a:pt x="295450" y="1343"/>
                  <a:pt x="299829" y="0"/>
                  <a:pt x="304208" y="0"/>
                </a:cubicBezTo>
                <a:close/>
              </a:path>
            </a:pathLst>
          </a:custGeom>
          <a:solidFill>
            <a:schemeClr val="bg1"/>
          </a:solidFill>
          <a:ln>
            <a:noFill/>
          </a:ln>
        </p:spPr>
      </p:sp>
      <p:sp>
        <p:nvSpPr>
          <p:cNvPr id="194" name="reading-quran_84646"/>
          <p:cNvSpPr>
            <a:spLocks noChangeAspect="1"/>
          </p:cNvSpPr>
          <p:nvPr/>
        </p:nvSpPr>
        <p:spPr bwMode="auto">
          <a:xfrm>
            <a:off x="6334844" y="2685587"/>
            <a:ext cx="609685" cy="423933"/>
          </a:xfrm>
          <a:custGeom>
            <a:avLst/>
            <a:gdLst>
              <a:gd name="connsiteX0" fmla="*/ 464065 w 606147"/>
              <a:gd name="connsiteY0" fmla="*/ 141335 h 421473"/>
              <a:gd name="connsiteX1" fmla="*/ 472087 w 606147"/>
              <a:gd name="connsiteY1" fmla="*/ 144818 h 421473"/>
              <a:gd name="connsiteX2" fmla="*/ 468599 w 606147"/>
              <a:gd name="connsiteY2" fmla="*/ 152829 h 421473"/>
              <a:gd name="connsiteX3" fmla="*/ 377101 w 606147"/>
              <a:gd name="connsiteY3" fmla="*/ 188471 h 421473"/>
              <a:gd name="connsiteX4" fmla="*/ 374892 w 606147"/>
              <a:gd name="connsiteY4" fmla="*/ 188819 h 421473"/>
              <a:gd name="connsiteX5" fmla="*/ 369079 w 606147"/>
              <a:gd name="connsiteY5" fmla="*/ 184872 h 421473"/>
              <a:gd name="connsiteX6" fmla="*/ 372567 w 606147"/>
              <a:gd name="connsiteY6" fmla="*/ 176861 h 421473"/>
              <a:gd name="connsiteX7" fmla="*/ 142118 w 606147"/>
              <a:gd name="connsiteY7" fmla="*/ 141335 h 421473"/>
              <a:gd name="connsiteX8" fmla="*/ 233616 w 606147"/>
              <a:gd name="connsiteY8" fmla="*/ 176861 h 421473"/>
              <a:gd name="connsiteX9" fmla="*/ 237104 w 606147"/>
              <a:gd name="connsiteY9" fmla="*/ 184872 h 421473"/>
              <a:gd name="connsiteX10" fmla="*/ 231291 w 606147"/>
              <a:gd name="connsiteY10" fmla="*/ 188819 h 421473"/>
              <a:gd name="connsiteX11" fmla="*/ 229082 w 606147"/>
              <a:gd name="connsiteY11" fmla="*/ 188471 h 421473"/>
              <a:gd name="connsiteX12" fmla="*/ 137584 w 606147"/>
              <a:gd name="connsiteY12" fmla="*/ 152829 h 421473"/>
              <a:gd name="connsiteX13" fmla="*/ 134096 w 606147"/>
              <a:gd name="connsiteY13" fmla="*/ 144818 h 421473"/>
              <a:gd name="connsiteX14" fmla="*/ 142118 w 606147"/>
              <a:gd name="connsiteY14" fmla="*/ 141335 h 421473"/>
              <a:gd name="connsiteX15" fmla="*/ 447764 w 606147"/>
              <a:gd name="connsiteY15" fmla="*/ 104218 h 421473"/>
              <a:gd name="connsiteX16" fmla="*/ 455786 w 606147"/>
              <a:gd name="connsiteY16" fmla="*/ 107701 h 421473"/>
              <a:gd name="connsiteX17" fmla="*/ 452298 w 606147"/>
              <a:gd name="connsiteY17" fmla="*/ 115712 h 421473"/>
              <a:gd name="connsiteX18" fmla="*/ 360800 w 606147"/>
              <a:gd name="connsiteY18" fmla="*/ 151354 h 421473"/>
              <a:gd name="connsiteX19" fmla="*/ 358591 w 606147"/>
              <a:gd name="connsiteY19" fmla="*/ 151702 h 421473"/>
              <a:gd name="connsiteX20" fmla="*/ 352778 w 606147"/>
              <a:gd name="connsiteY20" fmla="*/ 147755 h 421473"/>
              <a:gd name="connsiteX21" fmla="*/ 356266 w 606147"/>
              <a:gd name="connsiteY21" fmla="*/ 139744 h 421473"/>
              <a:gd name="connsiteX22" fmla="*/ 158371 w 606147"/>
              <a:gd name="connsiteY22" fmla="*/ 104218 h 421473"/>
              <a:gd name="connsiteX23" fmla="*/ 249848 w 606147"/>
              <a:gd name="connsiteY23" fmla="*/ 139744 h 421473"/>
              <a:gd name="connsiteX24" fmla="*/ 253335 w 606147"/>
              <a:gd name="connsiteY24" fmla="*/ 147755 h 421473"/>
              <a:gd name="connsiteX25" fmla="*/ 247639 w 606147"/>
              <a:gd name="connsiteY25" fmla="*/ 151702 h 421473"/>
              <a:gd name="connsiteX26" fmla="*/ 245314 w 606147"/>
              <a:gd name="connsiteY26" fmla="*/ 151354 h 421473"/>
              <a:gd name="connsiteX27" fmla="*/ 153954 w 606147"/>
              <a:gd name="connsiteY27" fmla="*/ 115712 h 421473"/>
              <a:gd name="connsiteX28" fmla="*/ 150351 w 606147"/>
              <a:gd name="connsiteY28" fmla="*/ 107701 h 421473"/>
              <a:gd name="connsiteX29" fmla="*/ 158371 w 606147"/>
              <a:gd name="connsiteY29" fmla="*/ 104218 h 421473"/>
              <a:gd name="connsiteX30" fmla="*/ 432659 w 606147"/>
              <a:gd name="connsiteY30" fmla="*/ 70089 h 421473"/>
              <a:gd name="connsiteX31" fmla="*/ 440685 w 606147"/>
              <a:gd name="connsiteY31" fmla="*/ 73688 h 421473"/>
              <a:gd name="connsiteX32" fmla="*/ 437195 w 606147"/>
              <a:gd name="connsiteY32" fmla="*/ 81699 h 421473"/>
              <a:gd name="connsiteX33" fmla="*/ 345658 w 606147"/>
              <a:gd name="connsiteY33" fmla="*/ 117225 h 421473"/>
              <a:gd name="connsiteX34" fmla="*/ 343448 w 606147"/>
              <a:gd name="connsiteY34" fmla="*/ 117689 h 421473"/>
              <a:gd name="connsiteX35" fmla="*/ 337632 w 606147"/>
              <a:gd name="connsiteY35" fmla="*/ 113742 h 421473"/>
              <a:gd name="connsiteX36" fmla="*/ 341238 w 606147"/>
              <a:gd name="connsiteY36" fmla="*/ 105731 h 421473"/>
              <a:gd name="connsiteX37" fmla="*/ 173520 w 606147"/>
              <a:gd name="connsiteY37" fmla="*/ 70089 h 421473"/>
              <a:gd name="connsiteX38" fmla="*/ 265018 w 606147"/>
              <a:gd name="connsiteY38" fmla="*/ 105731 h 421473"/>
              <a:gd name="connsiteX39" fmla="*/ 268506 w 606147"/>
              <a:gd name="connsiteY39" fmla="*/ 113742 h 421473"/>
              <a:gd name="connsiteX40" fmla="*/ 262693 w 606147"/>
              <a:gd name="connsiteY40" fmla="*/ 117689 h 421473"/>
              <a:gd name="connsiteX41" fmla="*/ 260484 w 606147"/>
              <a:gd name="connsiteY41" fmla="*/ 117225 h 421473"/>
              <a:gd name="connsiteX42" fmla="*/ 168986 w 606147"/>
              <a:gd name="connsiteY42" fmla="*/ 81699 h 421473"/>
              <a:gd name="connsiteX43" fmla="*/ 165498 w 606147"/>
              <a:gd name="connsiteY43" fmla="*/ 73688 h 421473"/>
              <a:gd name="connsiteX44" fmla="*/ 173520 w 606147"/>
              <a:gd name="connsiteY44" fmla="*/ 70089 h 421473"/>
              <a:gd name="connsiteX45" fmla="*/ 157201 w 606147"/>
              <a:gd name="connsiteY45" fmla="*/ 25487 h 421473"/>
              <a:gd name="connsiteX46" fmla="*/ 71396 w 606147"/>
              <a:gd name="connsiteY46" fmla="*/ 165957 h 421473"/>
              <a:gd name="connsiteX47" fmla="*/ 296836 w 606147"/>
              <a:gd name="connsiteY47" fmla="*/ 255231 h 421473"/>
              <a:gd name="connsiteX48" fmla="*/ 296836 w 606147"/>
              <a:gd name="connsiteY48" fmla="*/ 156089 h 421473"/>
              <a:gd name="connsiteX49" fmla="*/ 303114 w 606147"/>
              <a:gd name="connsiteY49" fmla="*/ 149936 h 421473"/>
              <a:gd name="connsiteX50" fmla="*/ 309276 w 606147"/>
              <a:gd name="connsiteY50" fmla="*/ 156089 h 421473"/>
              <a:gd name="connsiteX51" fmla="*/ 309276 w 606147"/>
              <a:gd name="connsiteY51" fmla="*/ 255231 h 421473"/>
              <a:gd name="connsiteX52" fmla="*/ 534716 w 606147"/>
              <a:gd name="connsiteY52" fmla="*/ 165957 h 421473"/>
              <a:gd name="connsiteX53" fmla="*/ 448912 w 606147"/>
              <a:gd name="connsiteY53" fmla="*/ 25487 h 421473"/>
              <a:gd name="connsiteX54" fmla="*/ 307184 w 606147"/>
              <a:gd name="connsiteY54" fmla="*/ 80630 h 421473"/>
              <a:gd name="connsiteX55" fmla="*/ 298929 w 606147"/>
              <a:gd name="connsiteY55" fmla="*/ 80630 h 421473"/>
              <a:gd name="connsiteX56" fmla="*/ 156619 w 606147"/>
              <a:gd name="connsiteY56" fmla="*/ 759 h 421473"/>
              <a:gd name="connsiteX57" fmla="*/ 303114 w 606147"/>
              <a:gd name="connsiteY57" fmla="*/ 57760 h 421473"/>
              <a:gd name="connsiteX58" fmla="*/ 449609 w 606147"/>
              <a:gd name="connsiteY58" fmla="*/ 759 h 421473"/>
              <a:gd name="connsiteX59" fmla="*/ 463445 w 606147"/>
              <a:gd name="connsiteY59" fmla="*/ 5519 h 421473"/>
              <a:gd name="connsiteX60" fmla="*/ 465422 w 606147"/>
              <a:gd name="connsiteY60" fmla="*/ 8654 h 421473"/>
              <a:gd name="connsiteX61" fmla="*/ 479257 w 606147"/>
              <a:gd name="connsiteY61" fmla="*/ 3313 h 421473"/>
              <a:gd name="connsiteX62" fmla="*/ 488791 w 606147"/>
              <a:gd name="connsiteY62" fmla="*/ 6448 h 421473"/>
              <a:gd name="connsiteX63" fmla="*/ 605057 w 606147"/>
              <a:gd name="connsiteY63" fmla="*/ 196837 h 421473"/>
              <a:gd name="connsiteX64" fmla="*/ 605755 w 606147"/>
              <a:gd name="connsiteY64" fmla="*/ 203338 h 421473"/>
              <a:gd name="connsiteX65" fmla="*/ 601220 w 606147"/>
              <a:gd name="connsiteY65" fmla="*/ 208098 h 421473"/>
              <a:gd name="connsiteX66" fmla="*/ 435425 w 606147"/>
              <a:gd name="connsiteY66" fmla="*/ 273689 h 421473"/>
              <a:gd name="connsiteX67" fmla="*/ 457050 w 606147"/>
              <a:gd name="connsiteY67" fmla="*/ 412534 h 421473"/>
              <a:gd name="connsiteX68" fmla="*/ 455306 w 606147"/>
              <a:gd name="connsiteY68" fmla="*/ 418687 h 421473"/>
              <a:gd name="connsiteX69" fmla="*/ 449377 w 606147"/>
              <a:gd name="connsiteY69" fmla="*/ 421473 h 421473"/>
              <a:gd name="connsiteX70" fmla="*/ 430077 w 606147"/>
              <a:gd name="connsiteY70" fmla="*/ 421473 h 421473"/>
              <a:gd name="connsiteX71" fmla="*/ 425659 w 606147"/>
              <a:gd name="connsiteY71" fmla="*/ 420080 h 421473"/>
              <a:gd name="connsiteX72" fmla="*/ 303114 w 606147"/>
              <a:gd name="connsiteY72" fmla="*/ 336030 h 421473"/>
              <a:gd name="connsiteX73" fmla="*/ 180570 w 606147"/>
              <a:gd name="connsiteY73" fmla="*/ 420080 h 421473"/>
              <a:gd name="connsiteX74" fmla="*/ 176152 w 606147"/>
              <a:gd name="connsiteY74" fmla="*/ 421473 h 421473"/>
              <a:gd name="connsiteX75" fmla="*/ 156736 w 606147"/>
              <a:gd name="connsiteY75" fmla="*/ 421473 h 421473"/>
              <a:gd name="connsiteX76" fmla="*/ 150922 w 606147"/>
              <a:gd name="connsiteY76" fmla="*/ 418687 h 421473"/>
              <a:gd name="connsiteX77" fmla="*/ 149062 w 606147"/>
              <a:gd name="connsiteY77" fmla="*/ 412534 h 421473"/>
              <a:gd name="connsiteX78" fmla="*/ 170687 w 606147"/>
              <a:gd name="connsiteY78" fmla="*/ 273689 h 421473"/>
              <a:gd name="connsiteX79" fmla="*/ 4892 w 606147"/>
              <a:gd name="connsiteY79" fmla="*/ 208098 h 421473"/>
              <a:gd name="connsiteX80" fmla="*/ 357 w 606147"/>
              <a:gd name="connsiteY80" fmla="*/ 203338 h 421473"/>
              <a:gd name="connsiteX81" fmla="*/ 1171 w 606147"/>
              <a:gd name="connsiteY81" fmla="*/ 196837 h 421473"/>
              <a:gd name="connsiteX82" fmla="*/ 117437 w 606147"/>
              <a:gd name="connsiteY82" fmla="*/ 6448 h 421473"/>
              <a:gd name="connsiteX83" fmla="*/ 126855 w 606147"/>
              <a:gd name="connsiteY83" fmla="*/ 3313 h 421473"/>
              <a:gd name="connsiteX84" fmla="*/ 140691 w 606147"/>
              <a:gd name="connsiteY84" fmla="*/ 8654 h 421473"/>
              <a:gd name="connsiteX85" fmla="*/ 142667 w 606147"/>
              <a:gd name="connsiteY85" fmla="*/ 5519 h 421473"/>
              <a:gd name="connsiteX86" fmla="*/ 156619 w 606147"/>
              <a:gd name="connsiteY86" fmla="*/ 759 h 4214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606147" h="421473">
                <a:moveTo>
                  <a:pt x="464065" y="141335"/>
                </a:moveTo>
                <a:cubicBezTo>
                  <a:pt x="467321" y="140058"/>
                  <a:pt x="470925" y="141683"/>
                  <a:pt x="472087" y="144818"/>
                </a:cubicBezTo>
                <a:cubicBezTo>
                  <a:pt x="473366" y="147953"/>
                  <a:pt x="471739" y="151552"/>
                  <a:pt x="468599" y="152829"/>
                </a:cubicBezTo>
                <a:lnTo>
                  <a:pt x="377101" y="188471"/>
                </a:lnTo>
                <a:cubicBezTo>
                  <a:pt x="376404" y="188703"/>
                  <a:pt x="375590" y="188819"/>
                  <a:pt x="374892" y="188819"/>
                </a:cubicBezTo>
                <a:cubicBezTo>
                  <a:pt x="372451" y="188819"/>
                  <a:pt x="370009" y="187426"/>
                  <a:pt x="369079" y="184872"/>
                </a:cubicBezTo>
                <a:cubicBezTo>
                  <a:pt x="367800" y="181737"/>
                  <a:pt x="369428" y="178138"/>
                  <a:pt x="372567" y="176861"/>
                </a:cubicBezTo>
                <a:close/>
                <a:moveTo>
                  <a:pt x="142118" y="141335"/>
                </a:moveTo>
                <a:lnTo>
                  <a:pt x="233616" y="176861"/>
                </a:lnTo>
                <a:cubicBezTo>
                  <a:pt x="236756" y="178138"/>
                  <a:pt x="238383" y="181737"/>
                  <a:pt x="237104" y="184872"/>
                </a:cubicBezTo>
                <a:cubicBezTo>
                  <a:pt x="236174" y="187426"/>
                  <a:pt x="233849" y="188819"/>
                  <a:pt x="231291" y="188819"/>
                </a:cubicBezTo>
                <a:cubicBezTo>
                  <a:pt x="230594" y="188819"/>
                  <a:pt x="229780" y="188703"/>
                  <a:pt x="229082" y="188471"/>
                </a:cubicBezTo>
                <a:lnTo>
                  <a:pt x="137584" y="152829"/>
                </a:lnTo>
                <a:cubicBezTo>
                  <a:pt x="134445" y="151552"/>
                  <a:pt x="132817" y="148069"/>
                  <a:pt x="134096" y="144818"/>
                </a:cubicBezTo>
                <a:cubicBezTo>
                  <a:pt x="135375" y="141683"/>
                  <a:pt x="138979" y="140058"/>
                  <a:pt x="142118" y="141335"/>
                </a:cubicBezTo>
                <a:close/>
                <a:moveTo>
                  <a:pt x="447764" y="104218"/>
                </a:moveTo>
                <a:cubicBezTo>
                  <a:pt x="450903" y="102941"/>
                  <a:pt x="454507" y="104450"/>
                  <a:pt x="455786" y="107701"/>
                </a:cubicBezTo>
                <a:cubicBezTo>
                  <a:pt x="457065" y="110836"/>
                  <a:pt x="455438" y="114435"/>
                  <a:pt x="452298" y="115712"/>
                </a:cubicBezTo>
                <a:lnTo>
                  <a:pt x="360800" y="151354"/>
                </a:lnTo>
                <a:cubicBezTo>
                  <a:pt x="360103" y="151586"/>
                  <a:pt x="359289" y="151702"/>
                  <a:pt x="358591" y="151702"/>
                </a:cubicBezTo>
                <a:cubicBezTo>
                  <a:pt x="356033" y="151702"/>
                  <a:pt x="353708" y="150193"/>
                  <a:pt x="352778" y="147755"/>
                </a:cubicBezTo>
                <a:cubicBezTo>
                  <a:pt x="351499" y="144620"/>
                  <a:pt x="353127" y="141021"/>
                  <a:pt x="356266" y="139744"/>
                </a:cubicBezTo>
                <a:close/>
                <a:moveTo>
                  <a:pt x="158371" y="104218"/>
                </a:moveTo>
                <a:lnTo>
                  <a:pt x="249848" y="139744"/>
                </a:lnTo>
                <a:cubicBezTo>
                  <a:pt x="252986" y="141021"/>
                  <a:pt x="254613" y="144620"/>
                  <a:pt x="253335" y="147755"/>
                </a:cubicBezTo>
                <a:cubicBezTo>
                  <a:pt x="252405" y="150193"/>
                  <a:pt x="250080" y="151702"/>
                  <a:pt x="247639" y="151702"/>
                </a:cubicBezTo>
                <a:cubicBezTo>
                  <a:pt x="246826" y="151702"/>
                  <a:pt x="246128" y="151586"/>
                  <a:pt x="245314" y="151354"/>
                </a:cubicBezTo>
                <a:lnTo>
                  <a:pt x="153954" y="115712"/>
                </a:lnTo>
                <a:cubicBezTo>
                  <a:pt x="150699" y="114435"/>
                  <a:pt x="149188" y="110836"/>
                  <a:pt x="150351" y="107701"/>
                </a:cubicBezTo>
                <a:cubicBezTo>
                  <a:pt x="151629" y="104450"/>
                  <a:pt x="155232" y="102941"/>
                  <a:pt x="158371" y="104218"/>
                </a:cubicBezTo>
                <a:close/>
                <a:moveTo>
                  <a:pt x="432659" y="70089"/>
                </a:moveTo>
                <a:cubicBezTo>
                  <a:pt x="435916" y="68928"/>
                  <a:pt x="439522" y="70437"/>
                  <a:pt x="440685" y="73688"/>
                </a:cubicBezTo>
                <a:cubicBezTo>
                  <a:pt x="441964" y="76823"/>
                  <a:pt x="440452" y="80422"/>
                  <a:pt x="437195" y="81699"/>
                </a:cubicBezTo>
                <a:lnTo>
                  <a:pt x="345658" y="117225"/>
                </a:lnTo>
                <a:cubicBezTo>
                  <a:pt x="344960" y="117573"/>
                  <a:pt x="344146" y="117689"/>
                  <a:pt x="343448" y="117689"/>
                </a:cubicBezTo>
                <a:cubicBezTo>
                  <a:pt x="341005" y="117689"/>
                  <a:pt x="338679" y="116180"/>
                  <a:pt x="337632" y="113742"/>
                </a:cubicBezTo>
                <a:cubicBezTo>
                  <a:pt x="336469" y="110607"/>
                  <a:pt x="337981" y="107008"/>
                  <a:pt x="341238" y="105731"/>
                </a:cubicBezTo>
                <a:close/>
                <a:moveTo>
                  <a:pt x="173520" y="70089"/>
                </a:moveTo>
                <a:lnTo>
                  <a:pt x="265018" y="105731"/>
                </a:lnTo>
                <a:cubicBezTo>
                  <a:pt x="268158" y="107008"/>
                  <a:pt x="269785" y="110607"/>
                  <a:pt x="268506" y="113742"/>
                </a:cubicBezTo>
                <a:cubicBezTo>
                  <a:pt x="267576" y="116180"/>
                  <a:pt x="265251" y="117689"/>
                  <a:pt x="262693" y="117689"/>
                </a:cubicBezTo>
                <a:cubicBezTo>
                  <a:pt x="261996" y="117689"/>
                  <a:pt x="261182" y="117573"/>
                  <a:pt x="260484" y="117225"/>
                </a:cubicBezTo>
                <a:lnTo>
                  <a:pt x="168986" y="81699"/>
                </a:lnTo>
                <a:cubicBezTo>
                  <a:pt x="165847" y="80422"/>
                  <a:pt x="164219" y="76823"/>
                  <a:pt x="165498" y="73688"/>
                </a:cubicBezTo>
                <a:cubicBezTo>
                  <a:pt x="166777" y="70437"/>
                  <a:pt x="170381" y="68928"/>
                  <a:pt x="173520" y="70089"/>
                </a:cubicBezTo>
                <a:close/>
                <a:moveTo>
                  <a:pt x="157201" y="25487"/>
                </a:moveTo>
                <a:lnTo>
                  <a:pt x="71396" y="165957"/>
                </a:lnTo>
                <a:lnTo>
                  <a:pt x="296836" y="255231"/>
                </a:lnTo>
                <a:lnTo>
                  <a:pt x="296836" y="156089"/>
                </a:lnTo>
                <a:cubicBezTo>
                  <a:pt x="296836" y="152723"/>
                  <a:pt x="299626" y="149936"/>
                  <a:pt x="303114" y="149936"/>
                </a:cubicBezTo>
                <a:cubicBezTo>
                  <a:pt x="306486" y="149936"/>
                  <a:pt x="309276" y="152723"/>
                  <a:pt x="309276" y="156089"/>
                </a:cubicBezTo>
                <a:lnTo>
                  <a:pt x="309276" y="255231"/>
                </a:lnTo>
                <a:lnTo>
                  <a:pt x="534716" y="165957"/>
                </a:lnTo>
                <a:lnTo>
                  <a:pt x="448912" y="25487"/>
                </a:lnTo>
                <a:lnTo>
                  <a:pt x="307184" y="80630"/>
                </a:lnTo>
                <a:cubicBezTo>
                  <a:pt x="304510" y="81675"/>
                  <a:pt x="301603" y="81675"/>
                  <a:pt x="298929" y="80630"/>
                </a:cubicBezTo>
                <a:close/>
                <a:moveTo>
                  <a:pt x="156619" y="759"/>
                </a:moveTo>
                <a:lnTo>
                  <a:pt x="303114" y="57760"/>
                </a:lnTo>
                <a:lnTo>
                  <a:pt x="449609" y="759"/>
                </a:lnTo>
                <a:cubicBezTo>
                  <a:pt x="454725" y="-1214"/>
                  <a:pt x="460538" y="759"/>
                  <a:pt x="463445" y="5519"/>
                </a:cubicBezTo>
                <a:lnTo>
                  <a:pt x="465422" y="8654"/>
                </a:lnTo>
                <a:lnTo>
                  <a:pt x="479257" y="3313"/>
                </a:lnTo>
                <a:cubicBezTo>
                  <a:pt x="482862" y="1920"/>
                  <a:pt x="486815" y="3197"/>
                  <a:pt x="488791" y="6448"/>
                </a:cubicBezTo>
                <a:lnTo>
                  <a:pt x="605057" y="196837"/>
                </a:lnTo>
                <a:cubicBezTo>
                  <a:pt x="606220" y="198811"/>
                  <a:pt x="606452" y="201133"/>
                  <a:pt x="605755" y="203338"/>
                </a:cubicBezTo>
                <a:cubicBezTo>
                  <a:pt x="605057" y="205544"/>
                  <a:pt x="603429" y="207285"/>
                  <a:pt x="601220" y="208098"/>
                </a:cubicBezTo>
                <a:lnTo>
                  <a:pt x="435425" y="273689"/>
                </a:lnTo>
                <a:lnTo>
                  <a:pt x="457050" y="412534"/>
                </a:lnTo>
                <a:cubicBezTo>
                  <a:pt x="457399" y="414740"/>
                  <a:pt x="456702" y="417062"/>
                  <a:pt x="455306" y="418687"/>
                </a:cubicBezTo>
                <a:cubicBezTo>
                  <a:pt x="453795" y="420428"/>
                  <a:pt x="451586" y="421473"/>
                  <a:pt x="449377" y="421473"/>
                </a:cubicBezTo>
                <a:lnTo>
                  <a:pt x="430077" y="421473"/>
                </a:lnTo>
                <a:cubicBezTo>
                  <a:pt x="428449" y="421473"/>
                  <a:pt x="426938" y="421009"/>
                  <a:pt x="425659" y="420080"/>
                </a:cubicBezTo>
                <a:lnTo>
                  <a:pt x="303114" y="336030"/>
                </a:lnTo>
                <a:lnTo>
                  <a:pt x="180570" y="420080"/>
                </a:lnTo>
                <a:cubicBezTo>
                  <a:pt x="179175" y="421009"/>
                  <a:pt x="177663" y="421473"/>
                  <a:pt x="176152" y="421473"/>
                </a:cubicBezTo>
                <a:lnTo>
                  <a:pt x="156736" y="421473"/>
                </a:lnTo>
                <a:cubicBezTo>
                  <a:pt x="154526" y="421473"/>
                  <a:pt x="152317" y="420428"/>
                  <a:pt x="150922" y="418687"/>
                </a:cubicBezTo>
                <a:cubicBezTo>
                  <a:pt x="149411" y="417062"/>
                  <a:pt x="148713" y="414740"/>
                  <a:pt x="149062" y="412534"/>
                </a:cubicBezTo>
                <a:lnTo>
                  <a:pt x="170687" y="273689"/>
                </a:lnTo>
                <a:lnTo>
                  <a:pt x="4892" y="208098"/>
                </a:lnTo>
                <a:cubicBezTo>
                  <a:pt x="2799" y="207285"/>
                  <a:pt x="1171" y="205544"/>
                  <a:pt x="357" y="203338"/>
                </a:cubicBezTo>
                <a:cubicBezTo>
                  <a:pt x="-340" y="201133"/>
                  <a:pt x="9" y="198811"/>
                  <a:pt x="1171" y="196837"/>
                </a:cubicBezTo>
                <a:lnTo>
                  <a:pt x="117437" y="6448"/>
                </a:lnTo>
                <a:cubicBezTo>
                  <a:pt x="119414" y="3197"/>
                  <a:pt x="123367" y="1920"/>
                  <a:pt x="126855" y="3313"/>
                </a:cubicBezTo>
                <a:lnTo>
                  <a:pt x="140691" y="8654"/>
                </a:lnTo>
                <a:lnTo>
                  <a:pt x="142667" y="5519"/>
                </a:lnTo>
                <a:cubicBezTo>
                  <a:pt x="145574" y="759"/>
                  <a:pt x="151387" y="-1214"/>
                  <a:pt x="156619" y="759"/>
                </a:cubicBezTo>
                <a:close/>
              </a:path>
            </a:pathLst>
          </a:custGeom>
          <a:solidFill>
            <a:schemeClr val="bg1"/>
          </a:solidFill>
          <a:ln>
            <a:noFill/>
          </a:ln>
        </p:spPr>
      </p:sp>
      <p:sp>
        <p:nvSpPr>
          <p:cNvPr id="195" name="map_320107"/>
          <p:cNvSpPr>
            <a:spLocks noChangeAspect="1"/>
          </p:cNvSpPr>
          <p:nvPr/>
        </p:nvSpPr>
        <p:spPr bwMode="auto">
          <a:xfrm>
            <a:off x="6705534" y="3643948"/>
            <a:ext cx="609685" cy="608765"/>
          </a:xfrm>
          <a:custGeom>
            <a:avLst/>
            <a:gdLst>
              <a:gd name="connsiteX0" fmla="*/ 129243 w 607561"/>
              <a:gd name="connsiteY0" fmla="*/ 432873 h 606645"/>
              <a:gd name="connsiteX1" fmla="*/ 148582 w 607561"/>
              <a:gd name="connsiteY1" fmla="*/ 433539 h 606645"/>
              <a:gd name="connsiteX2" fmla="*/ 161134 w 607561"/>
              <a:gd name="connsiteY2" fmla="*/ 467045 h 606645"/>
              <a:gd name="connsiteX3" fmla="*/ 151876 w 607561"/>
              <a:gd name="connsiteY3" fmla="*/ 505618 h 606645"/>
              <a:gd name="connsiteX4" fmla="*/ 126505 w 607561"/>
              <a:gd name="connsiteY4" fmla="*/ 530858 h 606645"/>
              <a:gd name="connsiteX5" fmla="*/ 101224 w 607561"/>
              <a:gd name="connsiteY5" fmla="*/ 505618 h 606645"/>
              <a:gd name="connsiteX6" fmla="*/ 115111 w 607561"/>
              <a:gd name="connsiteY6" fmla="*/ 446071 h 606645"/>
              <a:gd name="connsiteX7" fmla="*/ 129243 w 607561"/>
              <a:gd name="connsiteY7" fmla="*/ 432873 h 606645"/>
              <a:gd name="connsiteX8" fmla="*/ 230233 w 607561"/>
              <a:gd name="connsiteY8" fmla="*/ 359160 h 606645"/>
              <a:gd name="connsiteX9" fmla="*/ 260234 w 607561"/>
              <a:gd name="connsiteY9" fmla="*/ 378534 h 606645"/>
              <a:gd name="connsiteX10" fmla="*/ 240738 w 607561"/>
              <a:gd name="connsiteY10" fmla="*/ 408573 h 606645"/>
              <a:gd name="connsiteX11" fmla="*/ 201033 w 607561"/>
              <a:gd name="connsiteY11" fmla="*/ 423326 h 606645"/>
              <a:gd name="connsiteX12" fmla="*/ 188392 w 607561"/>
              <a:gd name="connsiteY12" fmla="*/ 426703 h 606645"/>
              <a:gd name="connsiteX13" fmla="*/ 166492 w 607561"/>
              <a:gd name="connsiteY13" fmla="*/ 414083 h 606645"/>
              <a:gd name="connsiteX14" fmla="*/ 175661 w 607561"/>
              <a:gd name="connsiteY14" fmla="*/ 379601 h 606645"/>
              <a:gd name="connsiteX15" fmla="*/ 230233 w 607561"/>
              <a:gd name="connsiteY15" fmla="*/ 359160 h 606645"/>
              <a:gd name="connsiteX16" fmla="*/ 466517 w 607561"/>
              <a:gd name="connsiteY16" fmla="*/ 300854 h 606645"/>
              <a:gd name="connsiteX17" fmla="*/ 485587 w 607561"/>
              <a:gd name="connsiteY17" fmla="*/ 304187 h 606645"/>
              <a:gd name="connsiteX18" fmla="*/ 493425 w 607561"/>
              <a:gd name="connsiteY18" fmla="*/ 339114 h 606645"/>
              <a:gd name="connsiteX19" fmla="*/ 446133 w 607561"/>
              <a:gd name="connsiteY19" fmla="*/ 380884 h 606645"/>
              <a:gd name="connsiteX20" fmla="*/ 434376 w 607561"/>
              <a:gd name="connsiteY20" fmla="*/ 383728 h 606645"/>
              <a:gd name="connsiteX21" fmla="*/ 411933 w 607561"/>
              <a:gd name="connsiteY21" fmla="*/ 370219 h 606645"/>
              <a:gd name="connsiteX22" fmla="*/ 422620 w 607561"/>
              <a:gd name="connsiteY22" fmla="*/ 336092 h 606645"/>
              <a:gd name="connsiteX23" fmla="*/ 450586 w 607561"/>
              <a:gd name="connsiteY23" fmla="*/ 311919 h 606645"/>
              <a:gd name="connsiteX24" fmla="*/ 466517 w 607561"/>
              <a:gd name="connsiteY24" fmla="*/ 300854 h 606645"/>
              <a:gd name="connsiteX25" fmla="*/ 50624 w 607561"/>
              <a:gd name="connsiteY25" fmla="*/ 202164 h 606645"/>
              <a:gd name="connsiteX26" fmla="*/ 151905 w 607561"/>
              <a:gd name="connsiteY26" fmla="*/ 202164 h 606645"/>
              <a:gd name="connsiteX27" fmla="*/ 177181 w 607561"/>
              <a:gd name="connsiteY27" fmla="*/ 227494 h 606645"/>
              <a:gd name="connsiteX28" fmla="*/ 151905 w 607561"/>
              <a:gd name="connsiteY28" fmla="*/ 252735 h 606645"/>
              <a:gd name="connsiteX29" fmla="*/ 74209 w 607561"/>
              <a:gd name="connsiteY29" fmla="*/ 252735 h 606645"/>
              <a:gd name="connsiteX30" fmla="*/ 52493 w 607561"/>
              <a:gd name="connsiteY30" fmla="*/ 556074 h 606645"/>
              <a:gd name="connsiteX31" fmla="*/ 555070 w 607561"/>
              <a:gd name="connsiteY31" fmla="*/ 556074 h 606645"/>
              <a:gd name="connsiteX32" fmla="*/ 533354 w 607561"/>
              <a:gd name="connsiteY32" fmla="*/ 252735 h 606645"/>
              <a:gd name="connsiteX33" fmla="*/ 455658 w 607561"/>
              <a:gd name="connsiteY33" fmla="*/ 252735 h 606645"/>
              <a:gd name="connsiteX34" fmla="*/ 430382 w 607561"/>
              <a:gd name="connsiteY34" fmla="*/ 227494 h 606645"/>
              <a:gd name="connsiteX35" fmla="*/ 455658 w 607561"/>
              <a:gd name="connsiteY35" fmla="*/ 202164 h 606645"/>
              <a:gd name="connsiteX36" fmla="*/ 556939 w 607561"/>
              <a:gd name="connsiteY36" fmla="*/ 202164 h 606645"/>
              <a:gd name="connsiteX37" fmla="*/ 582125 w 607561"/>
              <a:gd name="connsiteY37" fmla="*/ 225717 h 606645"/>
              <a:gd name="connsiteX38" fmla="*/ 607490 w 607561"/>
              <a:gd name="connsiteY38" fmla="*/ 579627 h 606645"/>
              <a:gd name="connsiteX39" fmla="*/ 600726 w 607561"/>
              <a:gd name="connsiteY39" fmla="*/ 598646 h 606645"/>
              <a:gd name="connsiteX40" fmla="*/ 582214 w 607561"/>
              <a:gd name="connsiteY40" fmla="*/ 606645 h 606645"/>
              <a:gd name="connsiteX41" fmla="*/ 25260 w 607561"/>
              <a:gd name="connsiteY41" fmla="*/ 606645 h 606645"/>
              <a:gd name="connsiteX42" fmla="*/ 6748 w 607561"/>
              <a:gd name="connsiteY42" fmla="*/ 598646 h 606645"/>
              <a:gd name="connsiteX43" fmla="*/ 73 w 607561"/>
              <a:gd name="connsiteY43" fmla="*/ 579627 h 606645"/>
              <a:gd name="connsiteX44" fmla="*/ 25349 w 607561"/>
              <a:gd name="connsiteY44" fmla="*/ 225717 h 606645"/>
              <a:gd name="connsiteX45" fmla="*/ 50624 w 607561"/>
              <a:gd name="connsiteY45" fmla="*/ 202164 h 606645"/>
              <a:gd name="connsiteX46" fmla="*/ 303736 w 607561"/>
              <a:gd name="connsiteY46" fmla="*/ 101117 h 606645"/>
              <a:gd name="connsiteX47" fmla="*/ 278455 w 607561"/>
              <a:gd name="connsiteY47" fmla="*/ 126357 h 606645"/>
              <a:gd name="connsiteX48" fmla="*/ 303736 w 607561"/>
              <a:gd name="connsiteY48" fmla="*/ 151596 h 606645"/>
              <a:gd name="connsiteX49" fmla="*/ 329106 w 607561"/>
              <a:gd name="connsiteY49" fmla="*/ 126357 h 606645"/>
              <a:gd name="connsiteX50" fmla="*/ 303736 w 607561"/>
              <a:gd name="connsiteY50" fmla="*/ 101117 h 606645"/>
              <a:gd name="connsiteX51" fmla="*/ 275662 w 607561"/>
              <a:gd name="connsiteY51" fmla="*/ 3114 h 606645"/>
              <a:gd name="connsiteX52" fmla="*/ 332845 w 607561"/>
              <a:gd name="connsiteY52" fmla="*/ 3270 h 606645"/>
              <a:gd name="connsiteX53" fmla="*/ 424534 w 607561"/>
              <a:gd name="connsiteY53" fmla="*/ 88320 h 606645"/>
              <a:gd name="connsiteX54" fmla="*/ 416611 w 607561"/>
              <a:gd name="connsiteY54" fmla="*/ 182968 h 606645"/>
              <a:gd name="connsiteX55" fmla="*/ 416611 w 607561"/>
              <a:gd name="connsiteY55" fmla="*/ 183057 h 606645"/>
              <a:gd name="connsiteX56" fmla="*/ 413763 w 607561"/>
              <a:gd name="connsiteY56" fmla="*/ 188478 h 606645"/>
              <a:gd name="connsiteX57" fmla="*/ 393556 w 607561"/>
              <a:gd name="connsiteY57" fmla="*/ 231759 h 606645"/>
              <a:gd name="connsiteX58" fmla="*/ 341925 w 607561"/>
              <a:gd name="connsiteY58" fmla="*/ 353957 h 606645"/>
              <a:gd name="connsiteX59" fmla="*/ 359105 w 607561"/>
              <a:gd name="connsiteY59" fmla="*/ 352890 h 606645"/>
              <a:gd name="connsiteX60" fmla="*/ 386790 w 607561"/>
              <a:gd name="connsiteY60" fmla="*/ 375553 h 606645"/>
              <a:gd name="connsiteX61" fmla="*/ 364090 w 607561"/>
              <a:gd name="connsiteY61" fmla="*/ 403192 h 606645"/>
              <a:gd name="connsiteX62" fmla="*/ 326169 w 607561"/>
              <a:gd name="connsiteY62" fmla="*/ 404969 h 606645"/>
              <a:gd name="connsiteX63" fmla="*/ 310234 w 607561"/>
              <a:gd name="connsiteY63" fmla="*/ 404703 h 606645"/>
              <a:gd name="connsiteX64" fmla="*/ 307030 w 607561"/>
              <a:gd name="connsiteY64" fmla="*/ 403992 h 606645"/>
              <a:gd name="connsiteX65" fmla="*/ 303736 w 607561"/>
              <a:gd name="connsiteY65" fmla="*/ 404436 h 606645"/>
              <a:gd name="connsiteX66" fmla="*/ 280413 w 607561"/>
              <a:gd name="connsiteY66" fmla="*/ 388972 h 606645"/>
              <a:gd name="connsiteX67" fmla="*/ 214718 w 607561"/>
              <a:gd name="connsiteY67" fmla="*/ 233803 h 606645"/>
              <a:gd name="connsiteX68" fmla="*/ 194155 w 607561"/>
              <a:gd name="connsiteY68" fmla="*/ 189189 h 606645"/>
              <a:gd name="connsiteX69" fmla="*/ 190772 w 607561"/>
              <a:gd name="connsiteY69" fmla="*/ 182701 h 606645"/>
              <a:gd name="connsiteX70" fmla="*/ 177152 w 607561"/>
              <a:gd name="connsiteY70" fmla="*/ 126357 h 606645"/>
              <a:gd name="connsiteX71" fmla="*/ 224688 w 607561"/>
              <a:gd name="connsiteY71" fmla="*/ 27620 h 606645"/>
              <a:gd name="connsiteX72" fmla="*/ 275662 w 607561"/>
              <a:gd name="connsiteY72" fmla="*/ 3114 h 606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07561" h="606645">
                <a:moveTo>
                  <a:pt x="129243" y="432873"/>
                </a:moveTo>
                <a:cubicBezTo>
                  <a:pt x="135318" y="430606"/>
                  <a:pt x="142262" y="430651"/>
                  <a:pt x="148582" y="433539"/>
                </a:cubicBezTo>
                <a:cubicBezTo>
                  <a:pt x="161312" y="439316"/>
                  <a:pt x="166920" y="454336"/>
                  <a:pt x="161134" y="467045"/>
                </a:cubicBezTo>
                <a:cubicBezTo>
                  <a:pt x="151965" y="487220"/>
                  <a:pt x="151876" y="504818"/>
                  <a:pt x="151876" y="505618"/>
                </a:cubicBezTo>
                <a:cubicBezTo>
                  <a:pt x="151876" y="519571"/>
                  <a:pt x="140481" y="530858"/>
                  <a:pt x="126505" y="530858"/>
                </a:cubicBezTo>
                <a:cubicBezTo>
                  <a:pt x="112529" y="530858"/>
                  <a:pt x="101224" y="519571"/>
                  <a:pt x="101224" y="505618"/>
                </a:cubicBezTo>
                <a:cubicBezTo>
                  <a:pt x="101224" y="500729"/>
                  <a:pt x="101847" y="475044"/>
                  <a:pt x="115111" y="446071"/>
                </a:cubicBezTo>
                <a:cubicBezTo>
                  <a:pt x="117960" y="439716"/>
                  <a:pt x="123167" y="435139"/>
                  <a:pt x="129243" y="432873"/>
                </a:cubicBezTo>
                <a:close/>
                <a:moveTo>
                  <a:pt x="230233" y="359160"/>
                </a:moveTo>
                <a:cubicBezTo>
                  <a:pt x="243854" y="356138"/>
                  <a:pt x="257296" y="364937"/>
                  <a:pt x="260234" y="378534"/>
                </a:cubicBezTo>
                <a:cubicBezTo>
                  <a:pt x="263172" y="392221"/>
                  <a:pt x="254448" y="405640"/>
                  <a:pt x="240738" y="408573"/>
                </a:cubicBezTo>
                <a:cubicBezTo>
                  <a:pt x="225782" y="411773"/>
                  <a:pt x="212428" y="416661"/>
                  <a:pt x="201033" y="423326"/>
                </a:cubicBezTo>
                <a:cubicBezTo>
                  <a:pt x="197027" y="425637"/>
                  <a:pt x="192665" y="426703"/>
                  <a:pt x="188392" y="426703"/>
                </a:cubicBezTo>
                <a:cubicBezTo>
                  <a:pt x="179667" y="426703"/>
                  <a:pt x="171121" y="422171"/>
                  <a:pt x="166492" y="414083"/>
                </a:cubicBezTo>
                <a:cubicBezTo>
                  <a:pt x="159370" y="401997"/>
                  <a:pt x="163554" y="386533"/>
                  <a:pt x="175661" y="379601"/>
                </a:cubicBezTo>
                <a:cubicBezTo>
                  <a:pt x="191686" y="370269"/>
                  <a:pt x="210025" y="363426"/>
                  <a:pt x="230233" y="359160"/>
                </a:cubicBezTo>
                <a:close/>
                <a:moveTo>
                  <a:pt x="466517" y="300854"/>
                </a:moveTo>
                <a:cubicBezTo>
                  <a:pt x="472851" y="299454"/>
                  <a:pt x="479709" y="300454"/>
                  <a:pt x="485587" y="304187"/>
                </a:cubicBezTo>
                <a:cubicBezTo>
                  <a:pt x="497433" y="311741"/>
                  <a:pt x="500906" y="327383"/>
                  <a:pt x="493425" y="339114"/>
                </a:cubicBezTo>
                <a:cubicBezTo>
                  <a:pt x="482559" y="356089"/>
                  <a:pt x="466617" y="370131"/>
                  <a:pt x="446133" y="380884"/>
                </a:cubicBezTo>
                <a:cubicBezTo>
                  <a:pt x="442392" y="382840"/>
                  <a:pt x="438384" y="383728"/>
                  <a:pt x="434376" y="383728"/>
                </a:cubicBezTo>
                <a:cubicBezTo>
                  <a:pt x="425292" y="383728"/>
                  <a:pt x="416475" y="378840"/>
                  <a:pt x="411933" y="370219"/>
                </a:cubicBezTo>
                <a:cubicBezTo>
                  <a:pt x="405431" y="357866"/>
                  <a:pt x="410240" y="342580"/>
                  <a:pt x="422620" y="336092"/>
                </a:cubicBezTo>
                <a:cubicBezTo>
                  <a:pt x="435178" y="329516"/>
                  <a:pt x="444618" y="321339"/>
                  <a:pt x="450586" y="311919"/>
                </a:cubicBezTo>
                <a:cubicBezTo>
                  <a:pt x="454371" y="306053"/>
                  <a:pt x="460182" y="302254"/>
                  <a:pt x="466517" y="300854"/>
                </a:cubicBezTo>
                <a:close/>
                <a:moveTo>
                  <a:pt x="50624" y="202164"/>
                </a:moveTo>
                <a:lnTo>
                  <a:pt x="151905" y="202164"/>
                </a:lnTo>
                <a:cubicBezTo>
                  <a:pt x="165878" y="202164"/>
                  <a:pt x="177181" y="213541"/>
                  <a:pt x="177181" y="227494"/>
                </a:cubicBezTo>
                <a:cubicBezTo>
                  <a:pt x="177181" y="241448"/>
                  <a:pt x="165878" y="252735"/>
                  <a:pt x="151905" y="252735"/>
                </a:cubicBezTo>
                <a:lnTo>
                  <a:pt x="74209" y="252735"/>
                </a:lnTo>
                <a:lnTo>
                  <a:pt x="52493" y="556074"/>
                </a:lnTo>
                <a:lnTo>
                  <a:pt x="555070" y="556074"/>
                </a:lnTo>
                <a:lnTo>
                  <a:pt x="533354" y="252735"/>
                </a:lnTo>
                <a:lnTo>
                  <a:pt x="455658" y="252735"/>
                </a:lnTo>
                <a:cubicBezTo>
                  <a:pt x="441685" y="252735"/>
                  <a:pt x="430382" y="241448"/>
                  <a:pt x="430382" y="227494"/>
                </a:cubicBezTo>
                <a:cubicBezTo>
                  <a:pt x="430382" y="213541"/>
                  <a:pt x="441685" y="202164"/>
                  <a:pt x="455658" y="202164"/>
                </a:cubicBezTo>
                <a:lnTo>
                  <a:pt x="556939" y="202164"/>
                </a:lnTo>
                <a:cubicBezTo>
                  <a:pt x="570200" y="202164"/>
                  <a:pt x="581235" y="212474"/>
                  <a:pt x="582125" y="225717"/>
                </a:cubicBezTo>
                <a:lnTo>
                  <a:pt x="607490" y="579627"/>
                </a:lnTo>
                <a:cubicBezTo>
                  <a:pt x="608024" y="586648"/>
                  <a:pt x="605532" y="593491"/>
                  <a:pt x="600726" y="598646"/>
                </a:cubicBezTo>
                <a:cubicBezTo>
                  <a:pt x="596009" y="603801"/>
                  <a:pt x="589245" y="606645"/>
                  <a:pt x="582214" y="606645"/>
                </a:cubicBezTo>
                <a:lnTo>
                  <a:pt x="25260" y="606645"/>
                </a:lnTo>
                <a:cubicBezTo>
                  <a:pt x="18318" y="606645"/>
                  <a:pt x="11554" y="603801"/>
                  <a:pt x="6748" y="598646"/>
                </a:cubicBezTo>
                <a:cubicBezTo>
                  <a:pt x="1942" y="593491"/>
                  <a:pt x="-461" y="586648"/>
                  <a:pt x="73" y="579627"/>
                </a:cubicBezTo>
                <a:lnTo>
                  <a:pt x="25349" y="225717"/>
                </a:lnTo>
                <a:cubicBezTo>
                  <a:pt x="26328" y="212474"/>
                  <a:pt x="37364" y="202164"/>
                  <a:pt x="50624" y="202164"/>
                </a:cubicBezTo>
                <a:close/>
                <a:moveTo>
                  <a:pt x="303736" y="101117"/>
                </a:moveTo>
                <a:cubicBezTo>
                  <a:pt x="289760" y="101117"/>
                  <a:pt x="278455" y="112404"/>
                  <a:pt x="278455" y="126357"/>
                </a:cubicBezTo>
                <a:cubicBezTo>
                  <a:pt x="278455" y="140310"/>
                  <a:pt x="289760" y="151596"/>
                  <a:pt x="303736" y="151596"/>
                </a:cubicBezTo>
                <a:cubicBezTo>
                  <a:pt x="317712" y="151596"/>
                  <a:pt x="329106" y="140310"/>
                  <a:pt x="329106" y="126357"/>
                </a:cubicBezTo>
                <a:cubicBezTo>
                  <a:pt x="329106" y="112404"/>
                  <a:pt x="317712" y="101117"/>
                  <a:pt x="303736" y="101117"/>
                </a:cubicBezTo>
                <a:close/>
                <a:moveTo>
                  <a:pt x="275662" y="3114"/>
                </a:moveTo>
                <a:cubicBezTo>
                  <a:pt x="294100" y="-1041"/>
                  <a:pt x="313573" y="-1085"/>
                  <a:pt x="332845" y="3270"/>
                </a:cubicBezTo>
                <a:cubicBezTo>
                  <a:pt x="375752" y="12868"/>
                  <a:pt x="411715" y="46284"/>
                  <a:pt x="424534" y="88320"/>
                </a:cubicBezTo>
                <a:cubicBezTo>
                  <a:pt x="434504" y="120758"/>
                  <a:pt x="431744" y="153552"/>
                  <a:pt x="416611" y="182968"/>
                </a:cubicBezTo>
                <a:lnTo>
                  <a:pt x="416611" y="183057"/>
                </a:lnTo>
                <a:lnTo>
                  <a:pt x="413763" y="188478"/>
                </a:lnTo>
                <a:cubicBezTo>
                  <a:pt x="406107" y="203231"/>
                  <a:pt x="398897" y="217272"/>
                  <a:pt x="393556" y="231759"/>
                </a:cubicBezTo>
                <a:lnTo>
                  <a:pt x="341925" y="353957"/>
                </a:lnTo>
                <a:cubicBezTo>
                  <a:pt x="347800" y="353690"/>
                  <a:pt x="353675" y="353424"/>
                  <a:pt x="359105" y="352890"/>
                </a:cubicBezTo>
                <a:cubicBezTo>
                  <a:pt x="372903" y="351469"/>
                  <a:pt x="385455" y="361689"/>
                  <a:pt x="386790" y="375553"/>
                </a:cubicBezTo>
                <a:cubicBezTo>
                  <a:pt x="388214" y="389417"/>
                  <a:pt x="378066" y="401859"/>
                  <a:pt x="364090" y="403192"/>
                </a:cubicBezTo>
                <a:cubicBezTo>
                  <a:pt x="352251" y="404436"/>
                  <a:pt x="339432" y="404969"/>
                  <a:pt x="326169" y="404969"/>
                </a:cubicBezTo>
                <a:cubicBezTo>
                  <a:pt x="321006" y="404969"/>
                  <a:pt x="315754" y="404880"/>
                  <a:pt x="310234" y="404703"/>
                </a:cubicBezTo>
                <a:cubicBezTo>
                  <a:pt x="309077" y="404703"/>
                  <a:pt x="308098" y="404169"/>
                  <a:pt x="307030" y="403992"/>
                </a:cubicBezTo>
                <a:cubicBezTo>
                  <a:pt x="305873" y="404081"/>
                  <a:pt x="304893" y="404436"/>
                  <a:pt x="303736" y="404436"/>
                </a:cubicBezTo>
                <a:cubicBezTo>
                  <a:pt x="293588" y="404436"/>
                  <a:pt x="284419" y="398393"/>
                  <a:pt x="280413" y="388972"/>
                </a:cubicBezTo>
                <a:lnTo>
                  <a:pt x="214718" y="233803"/>
                </a:lnTo>
                <a:cubicBezTo>
                  <a:pt x="208932" y="218072"/>
                  <a:pt x="201721" y="204031"/>
                  <a:pt x="194155" y="189189"/>
                </a:cubicBezTo>
                <a:lnTo>
                  <a:pt x="190772" y="182701"/>
                </a:lnTo>
                <a:cubicBezTo>
                  <a:pt x="181781" y="165016"/>
                  <a:pt x="177152" y="145997"/>
                  <a:pt x="177152" y="126357"/>
                </a:cubicBezTo>
                <a:cubicBezTo>
                  <a:pt x="177152" y="87787"/>
                  <a:pt x="194511" y="51794"/>
                  <a:pt x="224688" y="27620"/>
                </a:cubicBezTo>
                <a:cubicBezTo>
                  <a:pt x="239821" y="15534"/>
                  <a:pt x="257224" y="7269"/>
                  <a:pt x="275662" y="3114"/>
                </a:cubicBezTo>
                <a:close/>
              </a:path>
            </a:pathLst>
          </a:custGeom>
          <a:solidFill>
            <a:schemeClr val="bg1"/>
          </a:solidFill>
          <a:ln>
            <a:noFill/>
          </a:ln>
        </p:spPr>
      </p:sp>
      <p:sp>
        <p:nvSpPr>
          <p:cNvPr id="196" name="wrench-and-bolt-tool-and-screwdriver-outline_28386"/>
          <p:cNvSpPr>
            <a:spLocks noChangeAspect="1"/>
          </p:cNvSpPr>
          <p:nvPr/>
        </p:nvSpPr>
        <p:spPr bwMode="auto">
          <a:xfrm>
            <a:off x="5791156" y="4353747"/>
            <a:ext cx="609685" cy="596210"/>
          </a:xfrm>
          <a:custGeom>
            <a:avLst/>
            <a:gdLst>
              <a:gd name="connsiteX0" fmla="*/ 480240 w 608551"/>
              <a:gd name="connsiteY0" fmla="*/ 438791 h 595102"/>
              <a:gd name="connsiteX1" fmla="*/ 509306 w 608551"/>
              <a:gd name="connsiteY1" fmla="*/ 467959 h 595102"/>
              <a:gd name="connsiteX2" fmla="*/ 498618 w 608551"/>
              <a:gd name="connsiteY2" fmla="*/ 507675 h 595102"/>
              <a:gd name="connsiteX3" fmla="*/ 458865 w 608551"/>
              <a:gd name="connsiteY3" fmla="*/ 518352 h 595102"/>
              <a:gd name="connsiteX4" fmla="*/ 429799 w 608551"/>
              <a:gd name="connsiteY4" fmla="*/ 489184 h 595102"/>
              <a:gd name="connsiteX5" fmla="*/ 440357 w 608551"/>
              <a:gd name="connsiteY5" fmla="*/ 449468 h 595102"/>
              <a:gd name="connsiteX6" fmla="*/ 480631 w 608551"/>
              <a:gd name="connsiteY6" fmla="*/ 419389 h 595102"/>
              <a:gd name="connsiteX7" fmla="*/ 430320 w 608551"/>
              <a:gd name="connsiteY7" fmla="*/ 432801 h 595102"/>
              <a:gd name="connsiteX8" fmla="*/ 423803 w 608551"/>
              <a:gd name="connsiteY8" fmla="*/ 439442 h 595102"/>
              <a:gd name="connsiteX9" fmla="*/ 410248 w 608551"/>
              <a:gd name="connsiteY9" fmla="*/ 489575 h 595102"/>
              <a:gd name="connsiteX10" fmla="*/ 412725 w 608551"/>
              <a:gd name="connsiteY10" fmla="*/ 498560 h 595102"/>
              <a:gd name="connsiteX11" fmla="*/ 449480 w 608551"/>
              <a:gd name="connsiteY11" fmla="*/ 535280 h 595102"/>
              <a:gd name="connsiteX12" fmla="*/ 456128 w 608551"/>
              <a:gd name="connsiteY12" fmla="*/ 538015 h 595102"/>
              <a:gd name="connsiteX13" fmla="*/ 458474 w 608551"/>
              <a:gd name="connsiteY13" fmla="*/ 537755 h 595102"/>
              <a:gd name="connsiteX14" fmla="*/ 508785 w 608551"/>
              <a:gd name="connsiteY14" fmla="*/ 524342 h 595102"/>
              <a:gd name="connsiteX15" fmla="*/ 515302 w 608551"/>
              <a:gd name="connsiteY15" fmla="*/ 517701 h 595102"/>
              <a:gd name="connsiteX16" fmla="*/ 528727 w 608551"/>
              <a:gd name="connsiteY16" fmla="*/ 467568 h 595102"/>
              <a:gd name="connsiteX17" fmla="*/ 526381 w 608551"/>
              <a:gd name="connsiteY17" fmla="*/ 458583 h 595102"/>
              <a:gd name="connsiteX18" fmla="*/ 489625 w 608551"/>
              <a:gd name="connsiteY18" fmla="*/ 421863 h 595102"/>
              <a:gd name="connsiteX19" fmla="*/ 480631 w 608551"/>
              <a:gd name="connsiteY19" fmla="*/ 419389 h 595102"/>
              <a:gd name="connsiteX20" fmla="*/ 262289 w 608551"/>
              <a:gd name="connsiteY20" fmla="*/ 382032 h 595102"/>
              <a:gd name="connsiteX21" fmla="*/ 131665 w 608551"/>
              <a:gd name="connsiteY21" fmla="*/ 512451 h 595102"/>
              <a:gd name="connsiteX22" fmla="*/ 131665 w 608551"/>
              <a:gd name="connsiteY22" fmla="*/ 525597 h 595102"/>
              <a:gd name="connsiteX23" fmla="*/ 138313 w 608551"/>
              <a:gd name="connsiteY23" fmla="*/ 528331 h 595102"/>
              <a:gd name="connsiteX24" fmla="*/ 144832 w 608551"/>
              <a:gd name="connsiteY24" fmla="*/ 525597 h 595102"/>
              <a:gd name="connsiteX25" fmla="*/ 275456 w 608551"/>
              <a:gd name="connsiteY25" fmla="*/ 395178 h 595102"/>
              <a:gd name="connsiteX26" fmla="*/ 275456 w 608551"/>
              <a:gd name="connsiteY26" fmla="*/ 382032 h 595102"/>
              <a:gd name="connsiteX27" fmla="*/ 262289 w 608551"/>
              <a:gd name="connsiteY27" fmla="*/ 382032 h 595102"/>
              <a:gd name="connsiteX28" fmla="*/ 239085 w 608551"/>
              <a:gd name="connsiteY28" fmla="*/ 358864 h 595102"/>
              <a:gd name="connsiteX29" fmla="*/ 108460 w 608551"/>
              <a:gd name="connsiteY29" fmla="*/ 489283 h 595102"/>
              <a:gd name="connsiteX30" fmla="*/ 108460 w 608551"/>
              <a:gd name="connsiteY30" fmla="*/ 502559 h 595102"/>
              <a:gd name="connsiteX31" fmla="*/ 115109 w 608551"/>
              <a:gd name="connsiteY31" fmla="*/ 505293 h 595102"/>
              <a:gd name="connsiteX32" fmla="*/ 121757 w 608551"/>
              <a:gd name="connsiteY32" fmla="*/ 502559 h 595102"/>
              <a:gd name="connsiteX33" fmla="*/ 252382 w 608551"/>
              <a:gd name="connsiteY33" fmla="*/ 372140 h 595102"/>
              <a:gd name="connsiteX34" fmla="*/ 252382 w 608551"/>
              <a:gd name="connsiteY34" fmla="*/ 358864 h 595102"/>
              <a:gd name="connsiteX35" fmla="*/ 239085 w 608551"/>
              <a:gd name="connsiteY35" fmla="*/ 358864 h 595102"/>
              <a:gd name="connsiteX36" fmla="*/ 212751 w 608551"/>
              <a:gd name="connsiteY36" fmla="*/ 332572 h 595102"/>
              <a:gd name="connsiteX37" fmla="*/ 82127 w 608551"/>
              <a:gd name="connsiteY37" fmla="*/ 462991 h 595102"/>
              <a:gd name="connsiteX38" fmla="*/ 82127 w 608551"/>
              <a:gd name="connsiteY38" fmla="*/ 476137 h 595102"/>
              <a:gd name="connsiteX39" fmla="*/ 88645 w 608551"/>
              <a:gd name="connsiteY39" fmla="*/ 478870 h 595102"/>
              <a:gd name="connsiteX40" fmla="*/ 95293 w 608551"/>
              <a:gd name="connsiteY40" fmla="*/ 476137 h 595102"/>
              <a:gd name="connsiteX41" fmla="*/ 225918 w 608551"/>
              <a:gd name="connsiteY41" fmla="*/ 345718 h 595102"/>
              <a:gd name="connsiteX42" fmla="*/ 225918 w 608551"/>
              <a:gd name="connsiteY42" fmla="*/ 332572 h 595102"/>
              <a:gd name="connsiteX43" fmla="*/ 212751 w 608551"/>
              <a:gd name="connsiteY43" fmla="*/ 332572 h 595102"/>
              <a:gd name="connsiteX44" fmla="*/ 560431 w 608551"/>
              <a:gd name="connsiteY44" fmla="*/ 1969 h 595102"/>
              <a:gd name="connsiteX45" fmla="*/ 572816 w 608551"/>
              <a:gd name="connsiteY45" fmla="*/ 2750 h 595102"/>
              <a:gd name="connsiteX46" fmla="*/ 605798 w 608551"/>
              <a:gd name="connsiteY46" fmla="*/ 35681 h 595102"/>
              <a:gd name="connsiteX47" fmla="*/ 606580 w 608551"/>
              <a:gd name="connsiteY47" fmla="*/ 48046 h 595102"/>
              <a:gd name="connsiteX48" fmla="*/ 565255 w 608551"/>
              <a:gd name="connsiteY48" fmla="*/ 101020 h 595102"/>
              <a:gd name="connsiteX49" fmla="*/ 559519 w 608551"/>
              <a:gd name="connsiteY49" fmla="*/ 108309 h 595102"/>
              <a:gd name="connsiteX50" fmla="*/ 529796 w 608551"/>
              <a:gd name="connsiteY50" fmla="*/ 120544 h 595102"/>
              <a:gd name="connsiteX51" fmla="*/ 507504 w 608551"/>
              <a:gd name="connsiteY51" fmla="*/ 114036 h 595102"/>
              <a:gd name="connsiteX52" fmla="*/ 344158 w 608551"/>
              <a:gd name="connsiteY52" fmla="*/ 277125 h 595102"/>
              <a:gd name="connsiteX53" fmla="*/ 387178 w 608551"/>
              <a:gd name="connsiteY53" fmla="*/ 319947 h 595102"/>
              <a:gd name="connsiteX54" fmla="*/ 389524 w 608551"/>
              <a:gd name="connsiteY54" fmla="*/ 325153 h 595102"/>
              <a:gd name="connsiteX55" fmla="*/ 432544 w 608551"/>
              <a:gd name="connsiteY55" fmla="*/ 367975 h 595102"/>
              <a:gd name="connsiteX56" fmla="*/ 469568 w 608551"/>
              <a:gd name="connsiteY56" fmla="*/ 361988 h 595102"/>
              <a:gd name="connsiteX57" fmla="*/ 552218 w 608551"/>
              <a:gd name="connsiteY57" fmla="*/ 396090 h 595102"/>
              <a:gd name="connsiteX58" fmla="*/ 586374 w 608551"/>
              <a:gd name="connsiteY58" fmla="*/ 478610 h 595102"/>
              <a:gd name="connsiteX59" fmla="*/ 552218 w 608551"/>
              <a:gd name="connsiteY59" fmla="*/ 561000 h 595102"/>
              <a:gd name="connsiteX60" fmla="*/ 469568 w 608551"/>
              <a:gd name="connsiteY60" fmla="*/ 595102 h 595102"/>
              <a:gd name="connsiteX61" fmla="*/ 386917 w 608551"/>
              <a:gd name="connsiteY61" fmla="*/ 561000 h 595102"/>
              <a:gd name="connsiteX62" fmla="*/ 358889 w 608551"/>
              <a:gd name="connsiteY62" fmla="*/ 441645 h 595102"/>
              <a:gd name="connsiteX63" fmla="*/ 318737 w 608551"/>
              <a:gd name="connsiteY63" fmla="*/ 401556 h 595102"/>
              <a:gd name="connsiteX64" fmla="*/ 169601 w 608551"/>
              <a:gd name="connsiteY64" fmla="*/ 550327 h 595102"/>
              <a:gd name="connsiteX65" fmla="*/ 113414 w 608551"/>
              <a:gd name="connsiteY65" fmla="*/ 573626 h 595102"/>
              <a:gd name="connsiteX66" fmla="*/ 57358 w 608551"/>
              <a:gd name="connsiteY66" fmla="*/ 550327 h 595102"/>
              <a:gd name="connsiteX67" fmla="*/ 34022 w 608551"/>
              <a:gd name="connsiteY67" fmla="*/ 494229 h 595102"/>
              <a:gd name="connsiteX68" fmla="*/ 57358 w 608551"/>
              <a:gd name="connsiteY68" fmla="*/ 438261 h 595102"/>
              <a:gd name="connsiteX69" fmla="*/ 206363 w 608551"/>
              <a:gd name="connsiteY69" fmla="*/ 289360 h 595102"/>
              <a:gd name="connsiteX70" fmla="*/ 153696 w 608551"/>
              <a:gd name="connsiteY70" fmla="*/ 236776 h 595102"/>
              <a:gd name="connsiteX71" fmla="*/ 116543 w 608551"/>
              <a:gd name="connsiteY71" fmla="*/ 242893 h 595102"/>
              <a:gd name="connsiteX72" fmla="*/ 34283 w 608551"/>
              <a:gd name="connsiteY72" fmla="*/ 208922 h 595102"/>
              <a:gd name="connsiteX73" fmla="*/ 8732 w 608551"/>
              <a:gd name="connsiteY73" fmla="*/ 82277 h 595102"/>
              <a:gd name="connsiteX74" fmla="*/ 15511 w 608551"/>
              <a:gd name="connsiteY74" fmla="*/ 76680 h 595102"/>
              <a:gd name="connsiteX75" fmla="*/ 23984 w 608551"/>
              <a:gd name="connsiteY75" fmla="*/ 79154 h 595102"/>
              <a:gd name="connsiteX76" fmla="*/ 77825 w 608551"/>
              <a:gd name="connsiteY76" fmla="*/ 133039 h 595102"/>
              <a:gd name="connsiteX77" fmla="*/ 121105 w 608551"/>
              <a:gd name="connsiteY77" fmla="*/ 130696 h 595102"/>
              <a:gd name="connsiteX78" fmla="*/ 123452 w 608551"/>
              <a:gd name="connsiteY78" fmla="*/ 87484 h 595102"/>
              <a:gd name="connsiteX79" fmla="*/ 69612 w 608551"/>
              <a:gd name="connsiteY79" fmla="*/ 33728 h 595102"/>
              <a:gd name="connsiteX80" fmla="*/ 67004 w 608551"/>
              <a:gd name="connsiteY80" fmla="*/ 25268 h 595102"/>
              <a:gd name="connsiteX81" fmla="*/ 72610 w 608551"/>
              <a:gd name="connsiteY81" fmla="*/ 18500 h 595102"/>
              <a:gd name="connsiteX82" fmla="*/ 116934 w 608551"/>
              <a:gd name="connsiteY82" fmla="*/ 9779 h 595102"/>
              <a:gd name="connsiteX83" fmla="*/ 199454 w 608551"/>
              <a:gd name="connsiteY83" fmla="*/ 44011 h 595102"/>
              <a:gd name="connsiteX84" fmla="*/ 227482 w 608551"/>
              <a:gd name="connsiteY84" fmla="*/ 163236 h 595102"/>
              <a:gd name="connsiteX85" fmla="*/ 282887 w 608551"/>
              <a:gd name="connsiteY85" fmla="*/ 218683 h 595102"/>
              <a:gd name="connsiteX86" fmla="*/ 287971 w 608551"/>
              <a:gd name="connsiteY86" fmla="*/ 221026 h 595102"/>
              <a:gd name="connsiteX87" fmla="*/ 330991 w 608551"/>
              <a:gd name="connsiteY87" fmla="*/ 263979 h 595102"/>
              <a:gd name="connsiteX88" fmla="*/ 494337 w 608551"/>
              <a:gd name="connsiteY88" fmla="*/ 100890 h 595102"/>
              <a:gd name="connsiteX89" fmla="*/ 487819 w 608551"/>
              <a:gd name="connsiteY89" fmla="*/ 78503 h 595102"/>
              <a:gd name="connsiteX90" fmla="*/ 500073 w 608551"/>
              <a:gd name="connsiteY90" fmla="*/ 48827 h 595102"/>
              <a:gd name="connsiteX91" fmla="*/ 507243 w 608551"/>
              <a:gd name="connsiteY91" fmla="*/ 43230 h 595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608551" h="595102">
                <a:moveTo>
                  <a:pt x="480240" y="438791"/>
                </a:moveTo>
                <a:lnTo>
                  <a:pt x="509306" y="467959"/>
                </a:lnTo>
                <a:lnTo>
                  <a:pt x="498618" y="507675"/>
                </a:lnTo>
                <a:lnTo>
                  <a:pt x="458865" y="518352"/>
                </a:lnTo>
                <a:lnTo>
                  <a:pt x="429799" y="489184"/>
                </a:lnTo>
                <a:lnTo>
                  <a:pt x="440357" y="449468"/>
                </a:lnTo>
                <a:close/>
                <a:moveTo>
                  <a:pt x="480631" y="419389"/>
                </a:moveTo>
                <a:lnTo>
                  <a:pt x="430320" y="432801"/>
                </a:lnTo>
                <a:cubicBezTo>
                  <a:pt x="427192" y="433712"/>
                  <a:pt x="424585" y="436186"/>
                  <a:pt x="423803" y="439442"/>
                </a:cubicBezTo>
                <a:lnTo>
                  <a:pt x="410248" y="489575"/>
                </a:lnTo>
                <a:cubicBezTo>
                  <a:pt x="409466" y="492830"/>
                  <a:pt x="410378" y="496216"/>
                  <a:pt x="412725" y="498560"/>
                </a:cubicBezTo>
                <a:lnTo>
                  <a:pt x="449480" y="535280"/>
                </a:lnTo>
                <a:cubicBezTo>
                  <a:pt x="451305" y="537103"/>
                  <a:pt x="453651" y="538015"/>
                  <a:pt x="456128" y="538015"/>
                </a:cubicBezTo>
                <a:cubicBezTo>
                  <a:pt x="456910" y="538015"/>
                  <a:pt x="457692" y="538015"/>
                  <a:pt x="458474" y="537755"/>
                </a:cubicBezTo>
                <a:lnTo>
                  <a:pt x="508785" y="524342"/>
                </a:lnTo>
                <a:cubicBezTo>
                  <a:pt x="511913" y="523431"/>
                  <a:pt x="514520" y="520957"/>
                  <a:pt x="515302" y="517701"/>
                </a:cubicBezTo>
                <a:lnTo>
                  <a:pt x="528727" y="467568"/>
                </a:lnTo>
                <a:cubicBezTo>
                  <a:pt x="529639" y="464313"/>
                  <a:pt x="528727" y="460927"/>
                  <a:pt x="526381" y="458583"/>
                </a:cubicBezTo>
                <a:lnTo>
                  <a:pt x="489625" y="421863"/>
                </a:lnTo>
                <a:cubicBezTo>
                  <a:pt x="487279" y="419519"/>
                  <a:pt x="483890" y="418477"/>
                  <a:pt x="480631" y="419389"/>
                </a:cubicBezTo>
                <a:close/>
                <a:moveTo>
                  <a:pt x="262289" y="382032"/>
                </a:moveTo>
                <a:lnTo>
                  <a:pt x="131665" y="512451"/>
                </a:lnTo>
                <a:cubicBezTo>
                  <a:pt x="128015" y="516096"/>
                  <a:pt x="128015" y="521953"/>
                  <a:pt x="131665" y="525597"/>
                </a:cubicBezTo>
                <a:cubicBezTo>
                  <a:pt x="133490" y="527420"/>
                  <a:pt x="135837" y="528331"/>
                  <a:pt x="138313" y="528331"/>
                </a:cubicBezTo>
                <a:cubicBezTo>
                  <a:pt x="140660" y="528331"/>
                  <a:pt x="143007" y="527420"/>
                  <a:pt x="144832" y="525597"/>
                </a:cubicBezTo>
                <a:lnTo>
                  <a:pt x="275456" y="395178"/>
                </a:lnTo>
                <a:cubicBezTo>
                  <a:pt x="279106" y="391534"/>
                  <a:pt x="279106" y="385677"/>
                  <a:pt x="275456" y="382032"/>
                </a:cubicBezTo>
                <a:cubicBezTo>
                  <a:pt x="271806" y="378388"/>
                  <a:pt x="265940" y="378388"/>
                  <a:pt x="262289" y="382032"/>
                </a:cubicBezTo>
                <a:close/>
                <a:moveTo>
                  <a:pt x="239085" y="358864"/>
                </a:moveTo>
                <a:lnTo>
                  <a:pt x="108460" y="489283"/>
                </a:lnTo>
                <a:cubicBezTo>
                  <a:pt x="104810" y="492928"/>
                  <a:pt x="104810" y="498915"/>
                  <a:pt x="108460" y="502559"/>
                </a:cubicBezTo>
                <a:cubicBezTo>
                  <a:pt x="110285" y="504382"/>
                  <a:pt x="112762" y="505293"/>
                  <a:pt x="115109" y="505293"/>
                </a:cubicBezTo>
                <a:cubicBezTo>
                  <a:pt x="117455" y="505293"/>
                  <a:pt x="119932" y="504382"/>
                  <a:pt x="121757" y="502559"/>
                </a:cubicBezTo>
                <a:lnTo>
                  <a:pt x="252382" y="372140"/>
                </a:lnTo>
                <a:cubicBezTo>
                  <a:pt x="256032" y="368496"/>
                  <a:pt x="256032" y="362509"/>
                  <a:pt x="252382" y="358864"/>
                </a:cubicBezTo>
                <a:cubicBezTo>
                  <a:pt x="248732" y="355220"/>
                  <a:pt x="242735" y="355220"/>
                  <a:pt x="239085" y="358864"/>
                </a:cubicBezTo>
                <a:close/>
                <a:moveTo>
                  <a:pt x="212751" y="332572"/>
                </a:moveTo>
                <a:lnTo>
                  <a:pt x="82127" y="462991"/>
                </a:lnTo>
                <a:cubicBezTo>
                  <a:pt x="78477" y="466636"/>
                  <a:pt x="78477" y="472493"/>
                  <a:pt x="82127" y="476137"/>
                </a:cubicBezTo>
                <a:cubicBezTo>
                  <a:pt x="83952" y="477959"/>
                  <a:pt x="86298" y="478870"/>
                  <a:pt x="88645" y="478870"/>
                </a:cubicBezTo>
                <a:cubicBezTo>
                  <a:pt x="91122" y="478870"/>
                  <a:pt x="93468" y="477959"/>
                  <a:pt x="95293" y="476137"/>
                </a:cubicBezTo>
                <a:lnTo>
                  <a:pt x="225918" y="345718"/>
                </a:lnTo>
                <a:cubicBezTo>
                  <a:pt x="229568" y="342074"/>
                  <a:pt x="229568" y="336217"/>
                  <a:pt x="225918" y="332572"/>
                </a:cubicBezTo>
                <a:cubicBezTo>
                  <a:pt x="222268" y="328928"/>
                  <a:pt x="216401" y="328928"/>
                  <a:pt x="212751" y="332572"/>
                </a:cubicBezTo>
                <a:close/>
                <a:moveTo>
                  <a:pt x="560431" y="1969"/>
                </a:moveTo>
                <a:cubicBezTo>
                  <a:pt x="564082" y="-894"/>
                  <a:pt x="569426" y="-634"/>
                  <a:pt x="572816" y="2750"/>
                </a:cubicBezTo>
                <a:lnTo>
                  <a:pt x="605798" y="35681"/>
                </a:lnTo>
                <a:cubicBezTo>
                  <a:pt x="609187" y="39065"/>
                  <a:pt x="609448" y="44271"/>
                  <a:pt x="606580" y="48046"/>
                </a:cubicBezTo>
                <a:lnTo>
                  <a:pt x="565255" y="101020"/>
                </a:lnTo>
                <a:cubicBezTo>
                  <a:pt x="563430" y="103884"/>
                  <a:pt x="561605" y="106226"/>
                  <a:pt x="559519" y="108309"/>
                </a:cubicBezTo>
                <a:cubicBezTo>
                  <a:pt x="551567" y="116119"/>
                  <a:pt x="541007" y="120544"/>
                  <a:pt x="529796" y="120544"/>
                </a:cubicBezTo>
                <a:cubicBezTo>
                  <a:pt x="521844" y="120544"/>
                  <a:pt x="514152" y="118201"/>
                  <a:pt x="507504" y="114036"/>
                </a:cubicBezTo>
                <a:lnTo>
                  <a:pt x="344158" y="277125"/>
                </a:lnTo>
                <a:lnTo>
                  <a:pt x="387178" y="319947"/>
                </a:lnTo>
                <a:cubicBezTo>
                  <a:pt x="388482" y="321379"/>
                  <a:pt x="389264" y="323201"/>
                  <a:pt x="389524" y="325153"/>
                </a:cubicBezTo>
                <a:lnTo>
                  <a:pt x="432544" y="367975"/>
                </a:lnTo>
                <a:cubicBezTo>
                  <a:pt x="444277" y="364071"/>
                  <a:pt x="456792" y="361988"/>
                  <a:pt x="469568" y="361988"/>
                </a:cubicBezTo>
                <a:cubicBezTo>
                  <a:pt x="500725" y="361988"/>
                  <a:pt x="530057" y="374093"/>
                  <a:pt x="552218" y="396090"/>
                </a:cubicBezTo>
                <a:cubicBezTo>
                  <a:pt x="574250" y="418086"/>
                  <a:pt x="586374" y="447372"/>
                  <a:pt x="586374" y="478610"/>
                </a:cubicBezTo>
                <a:cubicBezTo>
                  <a:pt x="586374" y="509718"/>
                  <a:pt x="574250" y="539004"/>
                  <a:pt x="552218" y="561000"/>
                </a:cubicBezTo>
                <a:cubicBezTo>
                  <a:pt x="530057" y="582997"/>
                  <a:pt x="500725" y="595102"/>
                  <a:pt x="469568" y="595102"/>
                </a:cubicBezTo>
                <a:cubicBezTo>
                  <a:pt x="438411" y="595102"/>
                  <a:pt x="409079" y="582997"/>
                  <a:pt x="386917" y="561000"/>
                </a:cubicBezTo>
                <a:cubicBezTo>
                  <a:pt x="355630" y="529632"/>
                  <a:pt x="344940" y="483426"/>
                  <a:pt x="358889" y="441645"/>
                </a:cubicBezTo>
                <a:lnTo>
                  <a:pt x="318737" y="401556"/>
                </a:lnTo>
                <a:lnTo>
                  <a:pt x="169601" y="550327"/>
                </a:lnTo>
                <a:cubicBezTo>
                  <a:pt x="154609" y="565296"/>
                  <a:pt x="134663" y="573626"/>
                  <a:pt x="113414" y="573626"/>
                </a:cubicBezTo>
                <a:cubicBezTo>
                  <a:pt x="92295" y="573626"/>
                  <a:pt x="72349" y="565296"/>
                  <a:pt x="57358" y="550327"/>
                </a:cubicBezTo>
                <a:cubicBezTo>
                  <a:pt x="42366" y="535359"/>
                  <a:pt x="34022" y="515445"/>
                  <a:pt x="34022" y="494229"/>
                </a:cubicBezTo>
                <a:cubicBezTo>
                  <a:pt x="34022" y="473143"/>
                  <a:pt x="42366" y="453229"/>
                  <a:pt x="57358" y="438261"/>
                </a:cubicBezTo>
                <a:lnTo>
                  <a:pt x="206363" y="289360"/>
                </a:lnTo>
                <a:lnTo>
                  <a:pt x="153696" y="236776"/>
                </a:lnTo>
                <a:cubicBezTo>
                  <a:pt x="141703" y="240810"/>
                  <a:pt x="129318" y="242893"/>
                  <a:pt x="116543" y="242893"/>
                </a:cubicBezTo>
                <a:cubicBezTo>
                  <a:pt x="85516" y="242893"/>
                  <a:pt x="56184" y="230788"/>
                  <a:pt x="34283" y="208922"/>
                </a:cubicBezTo>
                <a:cubicBezTo>
                  <a:pt x="910" y="175601"/>
                  <a:pt x="-9128" y="125880"/>
                  <a:pt x="8732" y="82277"/>
                </a:cubicBezTo>
                <a:cubicBezTo>
                  <a:pt x="9905" y="79414"/>
                  <a:pt x="12382" y="77331"/>
                  <a:pt x="15511" y="76680"/>
                </a:cubicBezTo>
                <a:cubicBezTo>
                  <a:pt x="18640" y="76030"/>
                  <a:pt x="21768" y="77071"/>
                  <a:pt x="23984" y="79154"/>
                </a:cubicBezTo>
                <a:lnTo>
                  <a:pt x="77825" y="133039"/>
                </a:lnTo>
                <a:lnTo>
                  <a:pt x="121105" y="130696"/>
                </a:lnTo>
                <a:lnTo>
                  <a:pt x="123452" y="87484"/>
                </a:lnTo>
                <a:lnTo>
                  <a:pt x="69612" y="33728"/>
                </a:lnTo>
                <a:cubicBezTo>
                  <a:pt x="67396" y="31515"/>
                  <a:pt x="66353" y="28262"/>
                  <a:pt x="67004" y="25268"/>
                </a:cubicBezTo>
                <a:cubicBezTo>
                  <a:pt x="67656" y="22144"/>
                  <a:pt x="69742" y="19671"/>
                  <a:pt x="72610" y="18500"/>
                </a:cubicBezTo>
                <a:cubicBezTo>
                  <a:pt x="86689" y="12773"/>
                  <a:pt x="101551" y="9779"/>
                  <a:pt x="116934" y="9779"/>
                </a:cubicBezTo>
                <a:cubicBezTo>
                  <a:pt x="148091" y="9779"/>
                  <a:pt x="177423" y="21884"/>
                  <a:pt x="199454" y="44011"/>
                </a:cubicBezTo>
                <a:cubicBezTo>
                  <a:pt x="230481" y="74988"/>
                  <a:pt x="241431" y="121585"/>
                  <a:pt x="227482" y="163236"/>
                </a:cubicBezTo>
                <a:lnTo>
                  <a:pt x="282887" y="218683"/>
                </a:lnTo>
                <a:cubicBezTo>
                  <a:pt x="284842" y="218944"/>
                  <a:pt x="286667" y="219725"/>
                  <a:pt x="287971" y="221026"/>
                </a:cubicBezTo>
                <a:lnTo>
                  <a:pt x="330991" y="263979"/>
                </a:lnTo>
                <a:lnTo>
                  <a:pt x="494337" y="100890"/>
                </a:lnTo>
                <a:cubicBezTo>
                  <a:pt x="490165" y="94252"/>
                  <a:pt x="487819" y="86573"/>
                  <a:pt x="487819" y="78503"/>
                </a:cubicBezTo>
                <a:cubicBezTo>
                  <a:pt x="487819" y="67309"/>
                  <a:pt x="492121" y="56766"/>
                  <a:pt x="500073" y="48827"/>
                </a:cubicBezTo>
                <a:cubicBezTo>
                  <a:pt x="502159" y="46744"/>
                  <a:pt x="504505" y="44922"/>
                  <a:pt x="507243" y="43230"/>
                </a:cubicBezTo>
                <a:close/>
              </a:path>
            </a:pathLst>
          </a:custGeom>
          <a:solidFill>
            <a:schemeClr val="bg1"/>
          </a:solidFill>
          <a:ln>
            <a:noFill/>
          </a:ln>
        </p:spPr>
      </p:sp>
      <p:sp>
        <p:nvSpPr>
          <p:cNvPr id="197" name="reuse_107790"/>
          <p:cNvSpPr>
            <a:spLocks noChangeAspect="1"/>
          </p:cNvSpPr>
          <p:nvPr/>
        </p:nvSpPr>
        <p:spPr bwMode="auto">
          <a:xfrm>
            <a:off x="4910700" y="3680064"/>
            <a:ext cx="609685" cy="601187"/>
          </a:xfrm>
          <a:custGeom>
            <a:avLst/>
            <a:gdLst>
              <a:gd name="connsiteX0" fmla="*/ 84102 w 605058"/>
              <a:gd name="connsiteY0" fmla="*/ 462071 h 596625"/>
              <a:gd name="connsiteX1" fmla="*/ 136115 w 605058"/>
              <a:gd name="connsiteY1" fmla="*/ 462071 h 596625"/>
              <a:gd name="connsiteX2" fmla="*/ 155668 w 605058"/>
              <a:gd name="connsiteY2" fmla="*/ 481600 h 596625"/>
              <a:gd name="connsiteX3" fmla="*/ 136115 w 605058"/>
              <a:gd name="connsiteY3" fmla="*/ 501129 h 596625"/>
              <a:gd name="connsiteX4" fmla="*/ 129858 w 605058"/>
              <a:gd name="connsiteY4" fmla="*/ 501129 h 596625"/>
              <a:gd name="connsiteX5" fmla="*/ 244246 w 605058"/>
              <a:gd name="connsiteY5" fmla="*/ 553662 h 596625"/>
              <a:gd name="connsiteX6" fmla="*/ 477326 w 605058"/>
              <a:gd name="connsiteY6" fmla="*/ 469102 h 596625"/>
              <a:gd name="connsiteX7" fmla="*/ 504896 w 605058"/>
              <a:gd name="connsiteY7" fmla="*/ 466563 h 596625"/>
              <a:gd name="connsiteX8" fmla="*/ 507243 w 605058"/>
              <a:gd name="connsiteY8" fmla="*/ 494099 h 596625"/>
              <a:gd name="connsiteX9" fmla="*/ 286873 w 605058"/>
              <a:gd name="connsiteY9" fmla="*/ 596625 h 596625"/>
              <a:gd name="connsiteX10" fmla="*/ 237403 w 605058"/>
              <a:gd name="connsiteY10" fmla="*/ 592133 h 596625"/>
              <a:gd name="connsiteX11" fmla="*/ 101700 w 605058"/>
              <a:gd name="connsiteY11" fmla="*/ 528665 h 596625"/>
              <a:gd name="connsiteX12" fmla="*/ 101700 w 605058"/>
              <a:gd name="connsiteY12" fmla="*/ 535500 h 596625"/>
              <a:gd name="connsiteX13" fmla="*/ 82147 w 605058"/>
              <a:gd name="connsiteY13" fmla="*/ 555029 h 596625"/>
              <a:gd name="connsiteX14" fmla="*/ 62593 w 605058"/>
              <a:gd name="connsiteY14" fmla="*/ 535500 h 596625"/>
              <a:gd name="connsiteX15" fmla="*/ 62593 w 605058"/>
              <a:gd name="connsiteY15" fmla="*/ 481600 h 596625"/>
              <a:gd name="connsiteX16" fmla="*/ 62593 w 605058"/>
              <a:gd name="connsiteY16" fmla="*/ 481405 h 596625"/>
              <a:gd name="connsiteX17" fmla="*/ 62789 w 605058"/>
              <a:gd name="connsiteY17" fmla="*/ 479647 h 596625"/>
              <a:gd name="connsiteX18" fmla="*/ 69632 w 605058"/>
              <a:gd name="connsiteY18" fmla="*/ 466563 h 596625"/>
              <a:gd name="connsiteX19" fmla="*/ 84102 w 605058"/>
              <a:gd name="connsiteY19" fmla="*/ 462071 h 596625"/>
              <a:gd name="connsiteX20" fmla="*/ 337122 w 605058"/>
              <a:gd name="connsiteY20" fmla="*/ 27227 h 596625"/>
              <a:gd name="connsiteX21" fmla="*/ 522516 w 605058"/>
              <a:gd name="connsiteY21" fmla="*/ 145178 h 596625"/>
              <a:gd name="connsiteX22" fmla="*/ 570037 w 605058"/>
              <a:gd name="connsiteY22" fmla="*/ 359600 h 596625"/>
              <a:gd name="connsiteX23" fmla="*/ 569255 w 605058"/>
              <a:gd name="connsiteY23" fmla="*/ 363701 h 596625"/>
              <a:gd name="connsiteX24" fmla="*/ 575709 w 605058"/>
              <a:gd name="connsiteY24" fmla="*/ 359991 h 596625"/>
              <a:gd name="connsiteX25" fmla="*/ 602501 w 605058"/>
              <a:gd name="connsiteY25" fmla="*/ 367216 h 596625"/>
              <a:gd name="connsiteX26" fmla="*/ 595265 w 605058"/>
              <a:gd name="connsiteY26" fmla="*/ 393775 h 596625"/>
              <a:gd name="connsiteX27" fmla="*/ 548526 w 605058"/>
              <a:gd name="connsiteY27" fmla="*/ 420724 h 596625"/>
              <a:gd name="connsiteX28" fmla="*/ 538747 w 605058"/>
              <a:gd name="connsiteY28" fmla="*/ 423458 h 596625"/>
              <a:gd name="connsiteX29" fmla="*/ 533663 w 605058"/>
              <a:gd name="connsiteY29" fmla="*/ 422677 h 596625"/>
              <a:gd name="connsiteX30" fmla="*/ 521929 w 605058"/>
              <a:gd name="connsiteY30" fmla="*/ 413694 h 596625"/>
              <a:gd name="connsiteX31" fmla="*/ 494941 w 605058"/>
              <a:gd name="connsiteY31" fmla="*/ 367021 h 596625"/>
              <a:gd name="connsiteX32" fmla="*/ 502177 w 605058"/>
              <a:gd name="connsiteY32" fmla="*/ 340267 h 596625"/>
              <a:gd name="connsiteX33" fmla="*/ 528774 w 605058"/>
              <a:gd name="connsiteY33" fmla="*/ 347492 h 596625"/>
              <a:gd name="connsiteX34" fmla="*/ 531707 w 605058"/>
              <a:gd name="connsiteY34" fmla="*/ 352375 h 596625"/>
              <a:gd name="connsiteX35" fmla="*/ 490443 w 605058"/>
              <a:gd name="connsiteY35" fmla="*/ 167636 h 596625"/>
              <a:gd name="connsiteX36" fmla="*/ 330278 w 605058"/>
              <a:gd name="connsiteY36" fmla="*/ 65698 h 596625"/>
              <a:gd name="connsiteX37" fmla="*/ 314437 w 605058"/>
              <a:gd name="connsiteY37" fmla="*/ 43240 h 596625"/>
              <a:gd name="connsiteX38" fmla="*/ 337122 w 605058"/>
              <a:gd name="connsiteY38" fmla="*/ 27227 h 596625"/>
              <a:gd name="connsiteX39" fmla="*/ 191663 w 605058"/>
              <a:gd name="connsiteY39" fmla="*/ 687 h 596625"/>
              <a:gd name="connsiteX40" fmla="*/ 206526 w 605058"/>
              <a:gd name="connsiteY40" fmla="*/ 2639 h 596625"/>
              <a:gd name="connsiteX41" fmla="*/ 253073 w 605058"/>
              <a:gd name="connsiteY41" fmla="*/ 29586 h 596625"/>
              <a:gd name="connsiteX42" fmla="*/ 262265 w 605058"/>
              <a:gd name="connsiteY42" fmla="*/ 41498 h 596625"/>
              <a:gd name="connsiteX43" fmla="*/ 260309 w 605058"/>
              <a:gd name="connsiteY43" fmla="*/ 56338 h 596625"/>
              <a:gd name="connsiteX44" fmla="*/ 233320 w 605058"/>
              <a:gd name="connsiteY44" fmla="*/ 102811 h 596625"/>
              <a:gd name="connsiteX45" fmla="*/ 216305 w 605058"/>
              <a:gd name="connsiteY45" fmla="*/ 112575 h 596625"/>
              <a:gd name="connsiteX46" fmla="*/ 206722 w 605058"/>
              <a:gd name="connsiteY46" fmla="*/ 110036 h 596625"/>
              <a:gd name="connsiteX47" fmla="*/ 199486 w 605058"/>
              <a:gd name="connsiteY47" fmla="*/ 83285 h 596625"/>
              <a:gd name="connsiteX48" fmla="*/ 203397 w 605058"/>
              <a:gd name="connsiteY48" fmla="*/ 76645 h 596625"/>
              <a:gd name="connsiteX49" fmla="*/ 42830 w 605058"/>
              <a:gd name="connsiteY49" fmla="*/ 266835 h 596625"/>
              <a:gd name="connsiteX50" fmla="*/ 53978 w 605058"/>
              <a:gd name="connsiteY50" fmla="*/ 394539 h 596625"/>
              <a:gd name="connsiteX51" fmla="*/ 42439 w 605058"/>
              <a:gd name="connsiteY51" fmla="*/ 419533 h 596625"/>
              <a:gd name="connsiteX52" fmla="*/ 35594 w 605058"/>
              <a:gd name="connsiteY52" fmla="*/ 420705 h 596625"/>
              <a:gd name="connsiteX53" fmla="*/ 17210 w 605058"/>
              <a:gd name="connsiteY53" fmla="*/ 407817 h 596625"/>
              <a:gd name="connsiteX54" fmla="*/ 4302 w 605058"/>
              <a:gd name="connsiteY54" fmla="*/ 260001 h 596625"/>
              <a:gd name="connsiteX55" fmla="*/ 191858 w 605058"/>
              <a:gd name="connsiteY55" fmla="*/ 39350 h 596625"/>
              <a:gd name="connsiteX56" fmla="*/ 186969 w 605058"/>
              <a:gd name="connsiteY56" fmla="*/ 36421 h 596625"/>
              <a:gd name="connsiteX57" fmla="*/ 179733 w 605058"/>
              <a:gd name="connsiteY57" fmla="*/ 9864 h 596625"/>
              <a:gd name="connsiteX58" fmla="*/ 191663 w 605058"/>
              <a:gd name="connsiteY58" fmla="*/ 687 h 596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5058" h="596625">
                <a:moveTo>
                  <a:pt x="84102" y="462071"/>
                </a:moveTo>
                <a:lnTo>
                  <a:pt x="136115" y="462071"/>
                </a:lnTo>
                <a:cubicBezTo>
                  <a:pt x="146869" y="462071"/>
                  <a:pt x="155668" y="470859"/>
                  <a:pt x="155668" y="481600"/>
                </a:cubicBezTo>
                <a:cubicBezTo>
                  <a:pt x="155668" y="492341"/>
                  <a:pt x="146869" y="501129"/>
                  <a:pt x="136115" y="501129"/>
                </a:cubicBezTo>
                <a:lnTo>
                  <a:pt x="129858" y="501129"/>
                </a:lnTo>
                <a:cubicBezTo>
                  <a:pt x="162512" y="528079"/>
                  <a:pt x="202010" y="546241"/>
                  <a:pt x="244246" y="553662"/>
                </a:cubicBezTo>
                <a:cubicBezTo>
                  <a:pt x="331064" y="569089"/>
                  <a:pt x="420425" y="536672"/>
                  <a:pt x="477326" y="469102"/>
                </a:cubicBezTo>
                <a:cubicBezTo>
                  <a:pt x="484365" y="460704"/>
                  <a:pt x="496684" y="459728"/>
                  <a:pt x="504896" y="466563"/>
                </a:cubicBezTo>
                <a:cubicBezTo>
                  <a:pt x="513109" y="473593"/>
                  <a:pt x="514282" y="485897"/>
                  <a:pt x="507243" y="494099"/>
                </a:cubicBezTo>
                <a:cubicBezTo>
                  <a:pt x="452297" y="559520"/>
                  <a:pt x="370954" y="596625"/>
                  <a:pt x="286873" y="596625"/>
                </a:cubicBezTo>
                <a:cubicBezTo>
                  <a:pt x="270448" y="596625"/>
                  <a:pt x="253828" y="595063"/>
                  <a:pt x="237403" y="592133"/>
                </a:cubicBezTo>
                <a:cubicBezTo>
                  <a:pt x="187150" y="583345"/>
                  <a:pt x="140221" y="561278"/>
                  <a:pt x="101700" y="528665"/>
                </a:cubicBezTo>
                <a:lnTo>
                  <a:pt x="101700" y="535500"/>
                </a:lnTo>
                <a:cubicBezTo>
                  <a:pt x="101700" y="546241"/>
                  <a:pt x="92901" y="555029"/>
                  <a:pt x="82147" y="555029"/>
                </a:cubicBezTo>
                <a:cubicBezTo>
                  <a:pt x="71392" y="555029"/>
                  <a:pt x="62593" y="546241"/>
                  <a:pt x="62593" y="535500"/>
                </a:cubicBezTo>
                <a:lnTo>
                  <a:pt x="62593" y="481600"/>
                </a:lnTo>
                <a:cubicBezTo>
                  <a:pt x="62593" y="481600"/>
                  <a:pt x="62593" y="481405"/>
                  <a:pt x="62593" y="481405"/>
                </a:cubicBezTo>
                <a:cubicBezTo>
                  <a:pt x="62593" y="480819"/>
                  <a:pt x="62593" y="480233"/>
                  <a:pt x="62789" y="479647"/>
                </a:cubicBezTo>
                <a:cubicBezTo>
                  <a:pt x="63180" y="474765"/>
                  <a:pt x="65526" y="470078"/>
                  <a:pt x="69632" y="466563"/>
                </a:cubicBezTo>
                <a:cubicBezTo>
                  <a:pt x="73739" y="463048"/>
                  <a:pt x="79018" y="461681"/>
                  <a:pt x="84102" y="462071"/>
                </a:cubicBezTo>
                <a:close/>
                <a:moveTo>
                  <a:pt x="337122" y="27227"/>
                </a:moveTo>
                <a:cubicBezTo>
                  <a:pt x="412610" y="40506"/>
                  <a:pt x="478514" y="82492"/>
                  <a:pt x="522516" y="145178"/>
                </a:cubicBezTo>
                <a:cubicBezTo>
                  <a:pt x="566517" y="208060"/>
                  <a:pt x="583531" y="284220"/>
                  <a:pt x="570037" y="359600"/>
                </a:cubicBezTo>
                <a:cubicBezTo>
                  <a:pt x="569842" y="360967"/>
                  <a:pt x="569646" y="362334"/>
                  <a:pt x="569255" y="363701"/>
                </a:cubicBezTo>
                <a:lnTo>
                  <a:pt x="575709" y="359991"/>
                </a:lnTo>
                <a:cubicBezTo>
                  <a:pt x="585096" y="354718"/>
                  <a:pt x="597025" y="357843"/>
                  <a:pt x="602501" y="367216"/>
                </a:cubicBezTo>
                <a:cubicBezTo>
                  <a:pt x="607781" y="376590"/>
                  <a:pt x="604652" y="388502"/>
                  <a:pt x="595265" y="393775"/>
                </a:cubicBezTo>
                <a:lnTo>
                  <a:pt x="548526" y="420724"/>
                </a:lnTo>
                <a:cubicBezTo>
                  <a:pt x="545592" y="422482"/>
                  <a:pt x="542268" y="423458"/>
                  <a:pt x="538747" y="423458"/>
                </a:cubicBezTo>
                <a:cubicBezTo>
                  <a:pt x="537183" y="423458"/>
                  <a:pt x="535423" y="423067"/>
                  <a:pt x="533663" y="422677"/>
                </a:cubicBezTo>
                <a:cubicBezTo>
                  <a:pt x="528774" y="421310"/>
                  <a:pt x="524471" y="418185"/>
                  <a:pt x="521929" y="413694"/>
                </a:cubicBezTo>
                <a:lnTo>
                  <a:pt x="494941" y="367021"/>
                </a:lnTo>
                <a:cubicBezTo>
                  <a:pt x="489466" y="357647"/>
                  <a:pt x="492790" y="345735"/>
                  <a:pt x="502177" y="340267"/>
                </a:cubicBezTo>
                <a:cubicBezTo>
                  <a:pt x="511369" y="334994"/>
                  <a:pt x="523494" y="338119"/>
                  <a:pt x="528774" y="347492"/>
                </a:cubicBezTo>
                <a:lnTo>
                  <a:pt x="531707" y="352375"/>
                </a:lnTo>
                <a:cubicBezTo>
                  <a:pt x="543050" y="287345"/>
                  <a:pt x="528383" y="221730"/>
                  <a:pt x="490443" y="167636"/>
                </a:cubicBezTo>
                <a:cubicBezTo>
                  <a:pt x="452504" y="113347"/>
                  <a:pt x="395596" y="77219"/>
                  <a:pt x="330278" y="65698"/>
                </a:cubicBezTo>
                <a:cubicBezTo>
                  <a:pt x="319717" y="63940"/>
                  <a:pt x="312677" y="53785"/>
                  <a:pt x="314437" y="43240"/>
                </a:cubicBezTo>
                <a:cubicBezTo>
                  <a:pt x="316393" y="32499"/>
                  <a:pt x="326562" y="25469"/>
                  <a:pt x="337122" y="27227"/>
                </a:cubicBezTo>
                <a:close/>
                <a:moveTo>
                  <a:pt x="191663" y="687"/>
                </a:moveTo>
                <a:cubicBezTo>
                  <a:pt x="196503" y="-631"/>
                  <a:pt x="201833" y="-94"/>
                  <a:pt x="206526" y="2639"/>
                </a:cubicBezTo>
                <a:lnTo>
                  <a:pt x="253073" y="29586"/>
                </a:lnTo>
                <a:cubicBezTo>
                  <a:pt x="257571" y="32125"/>
                  <a:pt x="260896" y="36421"/>
                  <a:pt x="262265" y="41498"/>
                </a:cubicBezTo>
                <a:cubicBezTo>
                  <a:pt x="263634" y="46379"/>
                  <a:pt x="262852" y="51847"/>
                  <a:pt x="260309" y="56338"/>
                </a:cubicBezTo>
                <a:lnTo>
                  <a:pt x="233320" y="102811"/>
                </a:lnTo>
                <a:cubicBezTo>
                  <a:pt x="229800" y="109060"/>
                  <a:pt x="223150" y="112575"/>
                  <a:pt x="216305" y="112575"/>
                </a:cubicBezTo>
                <a:cubicBezTo>
                  <a:pt x="213176" y="112575"/>
                  <a:pt x="209655" y="111793"/>
                  <a:pt x="206722" y="110036"/>
                </a:cubicBezTo>
                <a:cubicBezTo>
                  <a:pt x="197334" y="104569"/>
                  <a:pt x="194010" y="92657"/>
                  <a:pt x="199486" y="83285"/>
                </a:cubicBezTo>
                <a:lnTo>
                  <a:pt x="203397" y="76645"/>
                </a:lnTo>
                <a:cubicBezTo>
                  <a:pt x="120865" y="106326"/>
                  <a:pt x="58476" y="178575"/>
                  <a:pt x="42830" y="266835"/>
                </a:cubicBezTo>
                <a:cubicBezTo>
                  <a:pt x="35399" y="309598"/>
                  <a:pt x="39115" y="353729"/>
                  <a:pt x="53978" y="394539"/>
                </a:cubicBezTo>
                <a:cubicBezTo>
                  <a:pt x="57694" y="404693"/>
                  <a:pt x="52609" y="415823"/>
                  <a:pt x="42439" y="419533"/>
                </a:cubicBezTo>
                <a:cubicBezTo>
                  <a:pt x="40092" y="420314"/>
                  <a:pt x="37941" y="420705"/>
                  <a:pt x="35594" y="420705"/>
                </a:cubicBezTo>
                <a:cubicBezTo>
                  <a:pt x="27771" y="420705"/>
                  <a:pt x="20144" y="415823"/>
                  <a:pt x="17210" y="407817"/>
                </a:cubicBezTo>
                <a:cubicBezTo>
                  <a:pt x="0" y="360758"/>
                  <a:pt x="-4303" y="309598"/>
                  <a:pt x="4302" y="260001"/>
                </a:cubicBezTo>
                <a:cubicBezTo>
                  <a:pt x="22491" y="157291"/>
                  <a:pt x="95440" y="73326"/>
                  <a:pt x="191858" y="39350"/>
                </a:cubicBezTo>
                <a:lnTo>
                  <a:pt x="186969" y="36421"/>
                </a:lnTo>
                <a:cubicBezTo>
                  <a:pt x="177581" y="31148"/>
                  <a:pt x="174256" y="19042"/>
                  <a:pt x="179733" y="9864"/>
                </a:cubicBezTo>
                <a:cubicBezTo>
                  <a:pt x="182471" y="5178"/>
                  <a:pt x="186823" y="2005"/>
                  <a:pt x="191663" y="687"/>
                </a:cubicBezTo>
                <a:close/>
              </a:path>
            </a:pathLst>
          </a:custGeom>
          <a:solidFill>
            <a:schemeClr val="bg1"/>
          </a:solidFill>
          <a:ln>
            <a:noFill/>
          </a:ln>
        </p:spPr>
      </p:sp>
      <p:sp>
        <p:nvSpPr>
          <p:cNvPr id="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3" name="矩形 2"/>
          <p:cNvSpPr/>
          <p:nvPr/>
        </p:nvSpPr>
        <p:spPr>
          <a:xfrm>
            <a:off x="66354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4"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技术原理</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1"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lumMod val="50000"/>
                  </a:schemeClr>
                </a:solidFill>
                <a:latin typeface="微软雅黑" panose="020B0503020204020204" pitchFamily="34" charset="-122"/>
                <a:ea typeface="微软雅黑" panose="020B0503020204020204" pitchFamily="34" charset="-122"/>
              </a:rPr>
              <a:t>LLM</a:t>
            </a: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的应用</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2"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3" name="TextBox 6"/>
          <p:cNvSpPr txBox="1"/>
          <p:nvPr/>
        </p:nvSpPr>
        <p:spPr>
          <a:xfrm>
            <a:off x="211305" y="1028685"/>
            <a:ext cx="333051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大语言模型强化推理</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flipH="1">
            <a:off x="341249" y="3523487"/>
            <a:ext cx="4048564" cy="2017925"/>
          </a:xfrm>
          <a:prstGeom prst="rect">
            <a:avLst/>
          </a:prstGeom>
          <a:noFill/>
          <a:ln w="9525">
            <a:noFill/>
            <a:miter/>
          </a:ln>
          <a:effectLst>
            <a:outerShdw sx="999" sy="999" algn="ctr" rotWithShape="0">
              <a:srgbClr val="000000"/>
            </a:outerShdw>
          </a:effectLst>
        </p:spPr>
        <p:txBody>
          <a:bodyPr wrap="square" anchor="t">
            <a:spAutoFit/>
          </a:bodyPr>
          <a:lstStyle/>
          <a:p>
            <a:r>
              <a:rPr lang="zh-CN" altLang="en-US" sz="2000" dirty="0">
                <a:effectLst/>
                <a:latin typeface="宋体" pitchFamily="2" charset="-122"/>
                <a:ea typeface="宋体" pitchFamily="2" charset="-122"/>
                <a:cs typeface="Times New Roman" panose="02020503050405090304" pitchFamily="18" charset="0"/>
              </a:rPr>
              <a:t>推理训练方法</a:t>
            </a:r>
            <a:endParaRPr lang="en-US" altLang="zh-CN" sz="2000" dirty="0">
              <a:effectLst/>
              <a:latin typeface="宋体" pitchFamily="2" charset="-122"/>
              <a:ea typeface="宋体" pitchFamily="2" charset="-122"/>
              <a:cs typeface="Times New Roman" panose="02020503050405090304" pitchFamily="18" charset="0"/>
            </a:endParaRPr>
          </a:p>
          <a:p>
            <a:pPr algn="just">
              <a:lnSpc>
                <a:spcPct val="120000"/>
              </a:lnSpc>
            </a:pPr>
            <a:r>
              <a:rPr lang="en-US" altLang="zh-CN" dirty="0">
                <a:solidFill>
                  <a:srgbClr val="595959"/>
                </a:solidFill>
                <a:latin typeface="楷体" panose="02010609060101010101" pitchFamily="49" charset="-122"/>
                <a:ea typeface="楷体" panose="02010609060101010101" pitchFamily="49" charset="-122"/>
              </a:rPr>
              <a:t>DeepSeek</a:t>
            </a:r>
            <a:r>
              <a:rPr lang="zh-CN" altLang="en-US" dirty="0">
                <a:solidFill>
                  <a:srgbClr val="595959"/>
                </a:solidFill>
                <a:latin typeface="楷体" panose="02010609060101010101" pitchFamily="49" charset="-122"/>
                <a:ea typeface="楷体" panose="02010609060101010101" pitchFamily="49" charset="-122"/>
              </a:rPr>
              <a:t>推理模型主要通过强化学习进行训练，跳过了传统的监督微调阶段。但结合监督微调、知识注入和思维链等方法，能更全面地提升模型在古籍理解和推理任务中的表现。</a:t>
            </a:r>
            <a:endParaRPr lang="en-US" altLang="zh-CN" dirty="0">
              <a:solidFill>
                <a:srgbClr val="595959"/>
              </a:solidFill>
              <a:latin typeface="楷体" panose="02010609060101010101" pitchFamily="49" charset="-122"/>
              <a:ea typeface="楷体" panose="02010609060101010101" pitchFamily="49" charset="-122"/>
            </a:endParaRPr>
          </a:p>
        </p:txBody>
      </p:sp>
      <p:sp>
        <p:nvSpPr>
          <p:cNvPr id="15" name="文本框 14"/>
          <p:cNvSpPr txBox="1"/>
          <p:nvPr/>
        </p:nvSpPr>
        <p:spPr>
          <a:xfrm flipH="1">
            <a:off x="3859710" y="5458308"/>
            <a:ext cx="5319077" cy="1353127"/>
          </a:xfrm>
          <a:prstGeom prst="rect">
            <a:avLst/>
          </a:prstGeom>
          <a:noFill/>
          <a:ln w="9525">
            <a:noFill/>
            <a:miter/>
          </a:ln>
          <a:effectLst>
            <a:outerShdw sx="999" sy="999" algn="ctr" rotWithShape="0">
              <a:srgbClr val="000000"/>
            </a:outerShdw>
          </a:effectLst>
        </p:spPr>
        <p:txBody>
          <a:bodyPr wrap="square" anchor="t">
            <a:spAutoFit/>
          </a:bodyPr>
          <a:lstStyle/>
          <a:p>
            <a:r>
              <a:rPr lang="zh-CN" altLang="en-US" sz="2000" dirty="0">
                <a:effectLst/>
                <a:latin typeface="宋体" pitchFamily="2" charset="-122"/>
                <a:ea typeface="宋体" pitchFamily="2" charset="-122"/>
                <a:cs typeface="Times New Roman" panose="02020503050405090304" pitchFamily="18" charset="0"/>
              </a:rPr>
              <a:t>跨模态推理</a:t>
            </a:r>
            <a:endParaRPr lang="en-US" altLang="zh-CN" sz="2000" dirty="0">
              <a:effectLst/>
              <a:latin typeface="宋体" pitchFamily="2" charset="-122"/>
              <a:ea typeface="宋体" pitchFamily="2" charset="-122"/>
              <a:cs typeface="Times New Roman" panose="02020503050405090304" pitchFamily="18" charset="0"/>
            </a:endParaRPr>
          </a:p>
          <a:p>
            <a:pPr algn="just">
              <a:lnSpc>
                <a:spcPct val="120000"/>
              </a:lnSpc>
            </a:pPr>
            <a:r>
              <a:rPr lang="zh-CN" altLang="en-US" dirty="0">
                <a:solidFill>
                  <a:srgbClr val="595959"/>
                </a:solidFill>
                <a:latin typeface="楷体" panose="02010609060101010101" pitchFamily="49" charset="-122"/>
                <a:ea typeface="楷体" panose="02010609060101010101" pitchFamily="49" charset="-122"/>
              </a:rPr>
              <a:t>跨模态推理是指大语言模型或其他智能系统通过整合和分析多种模态的数据（如文本、图像、音频、视频等），进行综合推理以完成复杂任务。</a:t>
            </a:r>
            <a:endParaRPr lang="en-US" altLang="zh-CN" dirty="0">
              <a:solidFill>
                <a:srgbClr val="595959"/>
              </a:solidFill>
              <a:latin typeface="楷体" panose="02010609060101010101" pitchFamily="49" charset="-122"/>
              <a:ea typeface="楷体" panose="02010609060101010101" pitchFamily="49" charset="-122"/>
            </a:endParaRPr>
          </a:p>
        </p:txBody>
      </p:sp>
      <p:sp>
        <p:nvSpPr>
          <p:cNvPr id="16" name="文本框 15"/>
          <p:cNvSpPr txBox="1"/>
          <p:nvPr/>
        </p:nvSpPr>
        <p:spPr>
          <a:xfrm flipH="1">
            <a:off x="7995830" y="1505562"/>
            <a:ext cx="3871754" cy="2017925"/>
          </a:xfrm>
          <a:prstGeom prst="rect">
            <a:avLst/>
          </a:prstGeom>
          <a:noFill/>
          <a:ln w="9525">
            <a:noFill/>
            <a:miter/>
          </a:ln>
          <a:effectLst>
            <a:outerShdw sx="999" sy="999" algn="ctr" rotWithShape="0">
              <a:srgbClr val="000000"/>
            </a:outerShdw>
          </a:effectLst>
        </p:spPr>
        <p:txBody>
          <a:bodyPr wrap="square" anchor="t">
            <a:spAutoFit/>
          </a:bodyPr>
          <a:lstStyle/>
          <a:p>
            <a:r>
              <a:rPr lang="zh-CN" altLang="en-US" sz="2000" dirty="0">
                <a:effectLst/>
                <a:latin typeface="宋体" pitchFamily="2" charset="-122"/>
                <a:ea typeface="宋体" pitchFamily="2" charset="-122"/>
                <a:cs typeface="Times New Roman" panose="02020503050405090304" pitchFamily="18" charset="0"/>
              </a:rPr>
              <a:t>推理与上下文理解</a:t>
            </a:r>
            <a:endParaRPr lang="en-US" altLang="zh-CN" sz="2000" dirty="0">
              <a:effectLst/>
              <a:latin typeface="宋体" pitchFamily="2" charset="-122"/>
              <a:ea typeface="宋体" pitchFamily="2" charset="-122"/>
              <a:cs typeface="Times New Roman" panose="02020503050405090304" pitchFamily="18" charset="0"/>
            </a:endParaRPr>
          </a:p>
          <a:p>
            <a:pPr algn="just">
              <a:lnSpc>
                <a:spcPct val="120000"/>
              </a:lnSpc>
            </a:pPr>
            <a:r>
              <a:rPr lang="zh-CN" altLang="en-US" dirty="0">
                <a:solidFill>
                  <a:srgbClr val="595959"/>
                </a:solidFill>
                <a:latin typeface="楷体" panose="02010609060101010101" pitchFamily="49" charset="-122"/>
                <a:ea typeface="楷体" panose="02010609060101010101" pitchFamily="49" charset="-122"/>
              </a:rPr>
              <a:t>强化推理通过增强大语言模型的逻辑分析和信息整合能力，显著提升其在长篇文献中的全局上下文理解能力，尤其是在识别跨章节、跨事件的联系方面。</a:t>
            </a:r>
            <a:endParaRPr lang="en-US" altLang="zh-CN" dirty="0">
              <a:solidFill>
                <a:srgbClr val="595959"/>
              </a:solidFill>
              <a:latin typeface="楷体" panose="02010609060101010101" pitchFamily="49" charset="-122"/>
              <a:ea typeface="楷体" panose="02010609060101010101" pitchFamily="49" charset="-122"/>
            </a:endParaRPr>
          </a:p>
        </p:txBody>
      </p:sp>
      <p:sp>
        <p:nvSpPr>
          <p:cNvPr id="17" name="文本框 16"/>
          <p:cNvSpPr txBox="1"/>
          <p:nvPr/>
        </p:nvSpPr>
        <p:spPr>
          <a:xfrm flipH="1">
            <a:off x="7995829" y="3523487"/>
            <a:ext cx="4034235" cy="2350323"/>
          </a:xfrm>
          <a:prstGeom prst="rect">
            <a:avLst/>
          </a:prstGeom>
          <a:noFill/>
          <a:ln w="9525">
            <a:noFill/>
            <a:miter/>
          </a:ln>
          <a:effectLst>
            <a:outerShdw sx="999" sy="999" algn="ctr" rotWithShape="0">
              <a:srgbClr val="000000"/>
            </a:outerShdw>
          </a:effectLst>
        </p:spPr>
        <p:txBody>
          <a:bodyPr wrap="square" anchor="t">
            <a:spAutoFit/>
          </a:bodyPr>
          <a:lstStyle/>
          <a:p>
            <a:r>
              <a:rPr lang="zh-CN" altLang="en-US" sz="2000" dirty="0">
                <a:effectLst/>
                <a:latin typeface="宋体" pitchFamily="2" charset="-122"/>
                <a:ea typeface="宋体" pitchFamily="2" charset="-122"/>
                <a:cs typeface="Times New Roman" panose="02020503050405090304" pitchFamily="18" charset="0"/>
              </a:rPr>
              <a:t>信息智能化的应用</a:t>
            </a:r>
            <a:endParaRPr lang="en-US" altLang="zh-CN" sz="2000" dirty="0">
              <a:effectLst/>
              <a:latin typeface="宋体" pitchFamily="2" charset="-122"/>
              <a:ea typeface="宋体" pitchFamily="2" charset="-122"/>
              <a:cs typeface="Times New Roman" panose="02020503050405090304" pitchFamily="18" charset="0"/>
            </a:endParaRPr>
          </a:p>
          <a:p>
            <a:pPr algn="just">
              <a:lnSpc>
                <a:spcPct val="120000"/>
              </a:lnSpc>
            </a:pPr>
            <a:r>
              <a:rPr lang="zh-CN" altLang="en-US" dirty="0">
                <a:solidFill>
                  <a:srgbClr val="595959"/>
                </a:solidFill>
                <a:latin typeface="楷体" panose="02010609060101010101" pitchFamily="49" charset="-122"/>
                <a:ea typeface="楷体" panose="02010609060101010101" pitchFamily="49" charset="-122"/>
              </a:rPr>
              <a:t>通过将外部知识（如领域知识图谱、规则库、知识库）融入模型，提升其在特定领域推理的准确性和一致性。从而发现历史事件的联系，进行智能分类和关联，提供高效的文献检索和事件分析工具</a:t>
            </a:r>
            <a:endParaRPr lang="en-US" altLang="zh-CN" dirty="0">
              <a:solidFill>
                <a:srgbClr val="595959"/>
              </a:solidFill>
              <a:latin typeface="楷体" panose="02010609060101010101" pitchFamily="49" charset="-122"/>
              <a:ea typeface="楷体" panose="020106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617872" y="-4617869"/>
            <a:ext cx="2956264" cy="12192002"/>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2266814"/>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2726076"/>
            <a:ext cx="1209562" cy="461665"/>
          </a:xfrm>
          <a:prstGeom prst="rect">
            <a:avLst/>
          </a:prstGeom>
          <a:noFill/>
        </p:spPr>
        <p:txBody>
          <a:bodyPr wrap="none" rtlCol="0">
            <a:spAutoFit/>
          </a:bodyPr>
          <a:lstStyle/>
          <a:p>
            <a:r>
              <a:rPr lang="en-US" altLang="zh-CN" sz="2400" dirty="0">
                <a:solidFill>
                  <a:srgbClr val="557199"/>
                </a:solidFill>
                <a:latin typeface="微软雅黑" panose="020B0503020204020204" pitchFamily="34" charset="-122"/>
                <a:ea typeface="微软雅黑" panose="020B0503020204020204" pitchFamily="34" charset="-122"/>
              </a:rPr>
              <a:t>Part.04</a:t>
            </a:r>
            <a:endParaRPr lang="en-US" altLang="zh-CN" sz="2400" dirty="0">
              <a:solidFill>
                <a:srgbClr val="557199"/>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3320791" y="4518448"/>
            <a:ext cx="5537198" cy="707886"/>
          </a:xfrm>
          <a:prstGeom prst="rect">
            <a:avLst/>
          </a:prstGeom>
          <a:noFill/>
          <a:ln>
            <a:noFill/>
          </a:ln>
        </p:spPr>
        <p:txBody>
          <a:bodyPr wrap="square" rtlCol="0">
            <a:spAutoFit/>
          </a:bodyPr>
          <a:lstStyle/>
          <a:p>
            <a:pPr algn="ctr"/>
            <a:r>
              <a:rPr lang="zh-CN" altLang="en-US" sz="4000" b="1" spc="600" dirty="0">
                <a:solidFill>
                  <a:srgbClr val="557199"/>
                </a:solidFill>
                <a:latin typeface="微软雅黑" panose="020B0503020204020204" pitchFamily="34" charset="-122"/>
                <a:ea typeface="微软雅黑" panose="020B0503020204020204" pitchFamily="34" charset="-122"/>
              </a:rPr>
              <a:t>大语言模型的应用</a:t>
            </a:r>
            <a:endParaRPr lang="zh-CN" altLang="en-US" sz="4000" b="1" spc="600" dirty="0">
              <a:solidFill>
                <a:srgbClr val="55719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0" y="5912637"/>
            <a:ext cx="12192000" cy="135835"/>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inpin heiti" charset="-122"/>
              <a:ea typeface="微软雅黑" panose="020B0503020204020204" pitchFamily="34" charset="-122"/>
              <a:cs typeface="+mn-cs"/>
            </a:endParaRPr>
          </a:p>
        </p:txBody>
      </p:sp>
      <p:sp>
        <p:nvSpPr>
          <p:cNvPr id="11" name="椭圆 10"/>
          <p:cNvSpPr/>
          <p:nvPr/>
        </p:nvSpPr>
        <p:spPr>
          <a:xfrm>
            <a:off x="1975582" y="5581333"/>
            <a:ext cx="762000" cy="762000"/>
          </a:xfrm>
          <a:prstGeom prst="ellipse">
            <a:avLst/>
          </a:prstGeom>
          <a:solidFill>
            <a:srgbClr val="9FACC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任意多边形 17"/>
          <p:cNvSpPr/>
          <p:nvPr/>
        </p:nvSpPr>
        <p:spPr bwMode="auto">
          <a:xfrm rot="10800000">
            <a:off x="697423" y="1642820"/>
            <a:ext cx="3582112" cy="3761018"/>
          </a:xfrm>
          <a:custGeom>
            <a:avLst/>
            <a:gdLst>
              <a:gd name="connsiteX0" fmla="*/ 1300901 w 2601802"/>
              <a:gd name="connsiteY0" fmla="*/ 2941630 h 2941630"/>
              <a:gd name="connsiteX1" fmla="*/ 1103231 w 2601802"/>
              <a:gd name="connsiteY1" fmla="*/ 2896090 h 2941630"/>
              <a:gd name="connsiteX2" fmla="*/ 244975 w 2601802"/>
              <a:gd name="connsiteY2" fmla="*/ 2467674 h 2941630"/>
              <a:gd name="connsiteX3" fmla="*/ 0 w 2601802"/>
              <a:gd name="connsiteY3" fmla="*/ 2072992 h 2941630"/>
              <a:gd name="connsiteX4" fmla="*/ 0 w 2601802"/>
              <a:gd name="connsiteY4" fmla="*/ 1531860 h 2941630"/>
              <a:gd name="connsiteX5" fmla="*/ 0 w 2601802"/>
              <a:gd name="connsiteY5" fmla="*/ 1470815 h 2941630"/>
              <a:gd name="connsiteX6" fmla="*/ 0 w 2601802"/>
              <a:gd name="connsiteY6" fmla="*/ 1361042 h 2941630"/>
              <a:gd name="connsiteX7" fmla="*/ 0 w 2601802"/>
              <a:gd name="connsiteY7" fmla="*/ 868638 h 2941630"/>
              <a:gd name="connsiteX8" fmla="*/ 244975 w 2601802"/>
              <a:gd name="connsiteY8" fmla="*/ 473956 h 2941630"/>
              <a:gd name="connsiteX9" fmla="*/ 1103232 w 2601802"/>
              <a:gd name="connsiteY9" fmla="*/ 45540 h 2941630"/>
              <a:gd name="connsiteX10" fmla="*/ 1300901 w 2601802"/>
              <a:gd name="connsiteY10" fmla="*/ 0 h 2941630"/>
              <a:gd name="connsiteX11" fmla="*/ 1498571 w 2601802"/>
              <a:gd name="connsiteY11" fmla="*/ 45540 h 2941630"/>
              <a:gd name="connsiteX12" fmla="*/ 2356827 w 2601802"/>
              <a:gd name="connsiteY12" fmla="*/ 473956 h 2941630"/>
              <a:gd name="connsiteX13" fmla="*/ 2601802 w 2601802"/>
              <a:gd name="connsiteY13" fmla="*/ 868638 h 2941630"/>
              <a:gd name="connsiteX14" fmla="*/ 2601802 w 2601802"/>
              <a:gd name="connsiteY14" fmla="*/ 1409770 h 2941630"/>
              <a:gd name="connsiteX15" fmla="*/ 2601802 w 2601802"/>
              <a:gd name="connsiteY15" fmla="*/ 1470815 h 2941630"/>
              <a:gd name="connsiteX16" fmla="*/ 2601802 w 2601802"/>
              <a:gd name="connsiteY16" fmla="*/ 1580588 h 2941630"/>
              <a:gd name="connsiteX17" fmla="*/ 2601802 w 2601802"/>
              <a:gd name="connsiteY17" fmla="*/ 2072992 h 2941630"/>
              <a:gd name="connsiteX18" fmla="*/ 2356827 w 2601802"/>
              <a:gd name="connsiteY18" fmla="*/ 2467674 h 2941630"/>
              <a:gd name="connsiteX19" fmla="*/ 1498570 w 2601802"/>
              <a:gd name="connsiteY19" fmla="*/ 2896090 h 2941630"/>
              <a:gd name="connsiteX20" fmla="*/ 1300901 w 2601802"/>
              <a:gd name="connsiteY20" fmla="*/ 2941630 h 294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01802" h="2941630">
                <a:moveTo>
                  <a:pt x="1300901" y="2941630"/>
                </a:moveTo>
                <a:cubicBezTo>
                  <a:pt x="1233321" y="2941630"/>
                  <a:pt x="1165742" y="2926450"/>
                  <a:pt x="1103231" y="2896090"/>
                </a:cubicBezTo>
                <a:cubicBezTo>
                  <a:pt x="244975" y="2467674"/>
                  <a:pt x="244975" y="2467674"/>
                  <a:pt x="244975" y="2467674"/>
                </a:cubicBezTo>
                <a:cubicBezTo>
                  <a:pt x="94611" y="2393460"/>
                  <a:pt x="0" y="2239972"/>
                  <a:pt x="0" y="2072992"/>
                </a:cubicBezTo>
                <a:cubicBezTo>
                  <a:pt x="0" y="1854145"/>
                  <a:pt x="0" y="1676333"/>
                  <a:pt x="0" y="1531860"/>
                </a:cubicBezTo>
                <a:lnTo>
                  <a:pt x="0" y="1470815"/>
                </a:lnTo>
                <a:lnTo>
                  <a:pt x="0" y="1361042"/>
                </a:lnTo>
                <a:cubicBezTo>
                  <a:pt x="0" y="868638"/>
                  <a:pt x="0" y="868638"/>
                  <a:pt x="0" y="868638"/>
                </a:cubicBezTo>
                <a:cubicBezTo>
                  <a:pt x="0" y="701658"/>
                  <a:pt x="94611" y="548170"/>
                  <a:pt x="244975" y="473956"/>
                </a:cubicBezTo>
                <a:cubicBezTo>
                  <a:pt x="1103232" y="45540"/>
                  <a:pt x="1103232" y="45540"/>
                  <a:pt x="1103232" y="45540"/>
                </a:cubicBezTo>
                <a:cubicBezTo>
                  <a:pt x="1165743" y="15180"/>
                  <a:pt x="1233322" y="0"/>
                  <a:pt x="1300901" y="0"/>
                </a:cubicBezTo>
                <a:cubicBezTo>
                  <a:pt x="1368481" y="0"/>
                  <a:pt x="1436060" y="15180"/>
                  <a:pt x="1498571" y="45540"/>
                </a:cubicBezTo>
                <a:cubicBezTo>
                  <a:pt x="2356827" y="473956"/>
                  <a:pt x="2356827" y="473956"/>
                  <a:pt x="2356827" y="473956"/>
                </a:cubicBezTo>
                <a:cubicBezTo>
                  <a:pt x="2507191" y="548170"/>
                  <a:pt x="2601802" y="701658"/>
                  <a:pt x="2601802" y="868638"/>
                </a:cubicBezTo>
                <a:cubicBezTo>
                  <a:pt x="2601802" y="1087485"/>
                  <a:pt x="2601802" y="1265297"/>
                  <a:pt x="2601802" y="1409770"/>
                </a:cubicBezTo>
                <a:lnTo>
                  <a:pt x="2601802" y="1470815"/>
                </a:lnTo>
                <a:lnTo>
                  <a:pt x="2601802" y="1580588"/>
                </a:lnTo>
                <a:cubicBezTo>
                  <a:pt x="2601802" y="2072992"/>
                  <a:pt x="2601802" y="2072992"/>
                  <a:pt x="2601802" y="2072992"/>
                </a:cubicBezTo>
                <a:cubicBezTo>
                  <a:pt x="2601802" y="2239972"/>
                  <a:pt x="2507191" y="2393460"/>
                  <a:pt x="2356827" y="2467674"/>
                </a:cubicBezTo>
                <a:cubicBezTo>
                  <a:pt x="1498570" y="2896090"/>
                  <a:pt x="1498570" y="2896090"/>
                  <a:pt x="1498570" y="2896090"/>
                </a:cubicBezTo>
                <a:cubicBezTo>
                  <a:pt x="1436059" y="2926450"/>
                  <a:pt x="1368480" y="2941630"/>
                  <a:pt x="1300901" y="2941630"/>
                </a:cubicBezTo>
                <a:close/>
              </a:path>
            </a:pathLst>
          </a:custGeom>
          <a:solidFill>
            <a:srgbClr val="557199"/>
          </a:solidFill>
          <a:ln>
            <a:noFill/>
          </a:ln>
          <a:effec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9" name="1"/>
          <p:cNvSpPr txBox="1">
            <a:spLocks noChangeArrowheads="1"/>
          </p:cNvSpPr>
          <p:nvPr/>
        </p:nvSpPr>
        <p:spPr bwMode="auto">
          <a:xfrm>
            <a:off x="1022275" y="2313203"/>
            <a:ext cx="29304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0" marR="0" lvl="0" indent="0" algn="ctr" defTabSz="1216025" rtl="0" eaLnBrk="1" fontAlgn="auto" latinLnBrk="0" hangingPunct="1">
              <a:lnSpc>
                <a:spcPct val="100000"/>
              </a:lnSpc>
              <a:spcBef>
                <a:spcPct val="2000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rPr>
              <a:t>自然语言理解与生成</a:t>
            </a:r>
            <a:endPar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endParaRPr>
          </a:p>
        </p:txBody>
      </p:sp>
      <p:sp>
        <p:nvSpPr>
          <p:cNvPr id="20" name="1"/>
          <p:cNvSpPr txBox="1">
            <a:spLocks noChangeArrowheads="1"/>
          </p:cNvSpPr>
          <p:nvPr/>
        </p:nvSpPr>
        <p:spPr bwMode="auto">
          <a:xfrm>
            <a:off x="912810" y="2787000"/>
            <a:ext cx="3151338" cy="177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0" marR="0" lvl="0" indent="0" algn="ctr" defTabSz="1216025" rtl="0" eaLnBrk="1" fontAlgn="auto" latinLnBrk="0" hangingPunct="1">
              <a:lnSpc>
                <a:spcPct val="150000"/>
              </a:lnSpc>
              <a:spcBef>
                <a:spcPts val="0"/>
              </a:spcBef>
              <a:spcAft>
                <a:spcPts val="0"/>
              </a:spcAft>
              <a:buClrTx/>
              <a:buSzTx/>
              <a:buFontTx/>
              <a:buNone/>
              <a:defRPr/>
            </a:pPr>
            <a:r>
              <a:rPr lang="zh-CN" altLang="en-US"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利用大模型对自然语言的理解能力，能将其用于文本阅读、文本摘要、内容创作等多种自然语言处理任务</a:t>
            </a:r>
            <a:endParaRPr lang="en-US" altLang="zh-CN"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endParaRPr>
          </a:p>
        </p:txBody>
      </p:sp>
      <p:sp>
        <p:nvSpPr>
          <p:cNvPr id="21" name="Shape 31318"/>
          <p:cNvSpPr/>
          <p:nvPr/>
        </p:nvSpPr>
        <p:spPr>
          <a:xfrm>
            <a:off x="2120236" y="5780198"/>
            <a:ext cx="509348" cy="394107"/>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3500" cap="all">
                <a:solidFill>
                  <a:srgbClr val="FFFFFF"/>
                </a:solidFill>
              </a:defRPr>
            </a:lvl1pPr>
          </a:lstStyle>
          <a:p>
            <a:pPr marL="0" marR="0" lvl="0" indent="0" algn="ctr" defTabSz="584200" rtl="0" eaLnBrk="1" fontAlgn="auto" latinLnBrk="0" hangingPunct="1">
              <a:lnSpc>
                <a:spcPct val="100000"/>
              </a:lnSpc>
              <a:spcBef>
                <a:spcPts val="0"/>
              </a:spcBef>
              <a:spcAft>
                <a:spcPts val="0"/>
              </a:spcAft>
              <a:buClrTx/>
              <a:buSzTx/>
              <a:buFontTx/>
              <a:buNone/>
              <a:defRPr/>
            </a:pPr>
            <a:r>
              <a:rPr kumimoji="0"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rPr>
              <a:t>01</a:t>
            </a:r>
            <a:endParaRPr kumimoji="0"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12" name="椭圆 11"/>
          <p:cNvSpPr/>
          <p:nvPr/>
        </p:nvSpPr>
        <p:spPr>
          <a:xfrm>
            <a:off x="5499439" y="5581333"/>
            <a:ext cx="762000" cy="762000"/>
          </a:xfrm>
          <a:prstGeom prst="ellipse">
            <a:avLst/>
          </a:prstGeom>
          <a:solidFill>
            <a:srgbClr val="557199"/>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Shape 31318"/>
          <p:cNvSpPr/>
          <p:nvPr/>
        </p:nvSpPr>
        <p:spPr>
          <a:xfrm>
            <a:off x="5618692" y="5771731"/>
            <a:ext cx="509348" cy="394107"/>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3500" cap="all">
                <a:solidFill>
                  <a:srgbClr val="FFFFFF"/>
                </a:solidFill>
              </a:defRPr>
            </a:lvl1pPr>
          </a:lstStyle>
          <a:p>
            <a:pPr marL="0" marR="0" lvl="0" indent="0" algn="ctr" defTabSz="584200" rtl="0" eaLnBrk="1" fontAlgn="auto" latinLnBrk="0" hangingPunct="1">
              <a:lnSpc>
                <a:spcPct val="100000"/>
              </a:lnSpc>
              <a:spcBef>
                <a:spcPts val="0"/>
              </a:spcBef>
              <a:spcAft>
                <a:spcPts val="0"/>
              </a:spcAft>
              <a:buClrTx/>
              <a:buSzTx/>
              <a:buFontTx/>
              <a:buNone/>
              <a:defRPr/>
            </a:pPr>
            <a:r>
              <a:rPr kumimoji="0" lang="en-US" altLang="zh-CN"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02</a:t>
            </a:r>
            <a:endParaRPr kumimoji="0"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mn-lt"/>
            </a:endParaRPr>
          </a:p>
        </p:txBody>
      </p:sp>
      <p:sp>
        <p:nvSpPr>
          <p:cNvPr id="14" name="椭圆 13"/>
          <p:cNvSpPr/>
          <p:nvPr/>
        </p:nvSpPr>
        <p:spPr>
          <a:xfrm>
            <a:off x="9020755" y="5581333"/>
            <a:ext cx="762000" cy="762000"/>
          </a:xfrm>
          <a:prstGeom prst="ellipse">
            <a:avLst/>
          </a:prstGeom>
          <a:solidFill>
            <a:srgbClr val="9FACC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任意多边形 22"/>
          <p:cNvSpPr/>
          <p:nvPr/>
        </p:nvSpPr>
        <p:spPr bwMode="auto">
          <a:xfrm rot="10800000">
            <a:off x="7742596" y="1642820"/>
            <a:ext cx="3582112" cy="3761018"/>
          </a:xfrm>
          <a:custGeom>
            <a:avLst/>
            <a:gdLst>
              <a:gd name="connsiteX0" fmla="*/ 1300901 w 2601802"/>
              <a:gd name="connsiteY0" fmla="*/ 2941630 h 2941630"/>
              <a:gd name="connsiteX1" fmla="*/ 1103231 w 2601802"/>
              <a:gd name="connsiteY1" fmla="*/ 2896090 h 2941630"/>
              <a:gd name="connsiteX2" fmla="*/ 244975 w 2601802"/>
              <a:gd name="connsiteY2" fmla="*/ 2467674 h 2941630"/>
              <a:gd name="connsiteX3" fmla="*/ 0 w 2601802"/>
              <a:gd name="connsiteY3" fmla="*/ 2072992 h 2941630"/>
              <a:gd name="connsiteX4" fmla="*/ 0 w 2601802"/>
              <a:gd name="connsiteY4" fmla="*/ 1531860 h 2941630"/>
              <a:gd name="connsiteX5" fmla="*/ 0 w 2601802"/>
              <a:gd name="connsiteY5" fmla="*/ 1470815 h 2941630"/>
              <a:gd name="connsiteX6" fmla="*/ 0 w 2601802"/>
              <a:gd name="connsiteY6" fmla="*/ 1361042 h 2941630"/>
              <a:gd name="connsiteX7" fmla="*/ 0 w 2601802"/>
              <a:gd name="connsiteY7" fmla="*/ 868638 h 2941630"/>
              <a:gd name="connsiteX8" fmla="*/ 244975 w 2601802"/>
              <a:gd name="connsiteY8" fmla="*/ 473956 h 2941630"/>
              <a:gd name="connsiteX9" fmla="*/ 1103232 w 2601802"/>
              <a:gd name="connsiteY9" fmla="*/ 45540 h 2941630"/>
              <a:gd name="connsiteX10" fmla="*/ 1300901 w 2601802"/>
              <a:gd name="connsiteY10" fmla="*/ 0 h 2941630"/>
              <a:gd name="connsiteX11" fmla="*/ 1498571 w 2601802"/>
              <a:gd name="connsiteY11" fmla="*/ 45540 h 2941630"/>
              <a:gd name="connsiteX12" fmla="*/ 2356827 w 2601802"/>
              <a:gd name="connsiteY12" fmla="*/ 473956 h 2941630"/>
              <a:gd name="connsiteX13" fmla="*/ 2601802 w 2601802"/>
              <a:gd name="connsiteY13" fmla="*/ 868638 h 2941630"/>
              <a:gd name="connsiteX14" fmla="*/ 2601802 w 2601802"/>
              <a:gd name="connsiteY14" fmla="*/ 1409770 h 2941630"/>
              <a:gd name="connsiteX15" fmla="*/ 2601802 w 2601802"/>
              <a:gd name="connsiteY15" fmla="*/ 1470815 h 2941630"/>
              <a:gd name="connsiteX16" fmla="*/ 2601802 w 2601802"/>
              <a:gd name="connsiteY16" fmla="*/ 1580588 h 2941630"/>
              <a:gd name="connsiteX17" fmla="*/ 2601802 w 2601802"/>
              <a:gd name="connsiteY17" fmla="*/ 2072992 h 2941630"/>
              <a:gd name="connsiteX18" fmla="*/ 2356827 w 2601802"/>
              <a:gd name="connsiteY18" fmla="*/ 2467674 h 2941630"/>
              <a:gd name="connsiteX19" fmla="*/ 1498570 w 2601802"/>
              <a:gd name="connsiteY19" fmla="*/ 2896090 h 2941630"/>
              <a:gd name="connsiteX20" fmla="*/ 1300901 w 2601802"/>
              <a:gd name="connsiteY20" fmla="*/ 2941630 h 294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01802" h="2941630">
                <a:moveTo>
                  <a:pt x="1300901" y="2941630"/>
                </a:moveTo>
                <a:cubicBezTo>
                  <a:pt x="1233321" y="2941630"/>
                  <a:pt x="1165742" y="2926450"/>
                  <a:pt x="1103231" y="2896090"/>
                </a:cubicBezTo>
                <a:cubicBezTo>
                  <a:pt x="244975" y="2467674"/>
                  <a:pt x="244975" y="2467674"/>
                  <a:pt x="244975" y="2467674"/>
                </a:cubicBezTo>
                <a:cubicBezTo>
                  <a:pt x="94611" y="2393460"/>
                  <a:pt x="0" y="2239972"/>
                  <a:pt x="0" y="2072992"/>
                </a:cubicBezTo>
                <a:cubicBezTo>
                  <a:pt x="0" y="1854145"/>
                  <a:pt x="0" y="1676333"/>
                  <a:pt x="0" y="1531860"/>
                </a:cubicBezTo>
                <a:lnTo>
                  <a:pt x="0" y="1470815"/>
                </a:lnTo>
                <a:lnTo>
                  <a:pt x="0" y="1361042"/>
                </a:lnTo>
                <a:cubicBezTo>
                  <a:pt x="0" y="868638"/>
                  <a:pt x="0" y="868638"/>
                  <a:pt x="0" y="868638"/>
                </a:cubicBezTo>
                <a:cubicBezTo>
                  <a:pt x="0" y="701658"/>
                  <a:pt x="94611" y="548170"/>
                  <a:pt x="244975" y="473956"/>
                </a:cubicBezTo>
                <a:cubicBezTo>
                  <a:pt x="1103232" y="45540"/>
                  <a:pt x="1103232" y="45540"/>
                  <a:pt x="1103232" y="45540"/>
                </a:cubicBezTo>
                <a:cubicBezTo>
                  <a:pt x="1165743" y="15180"/>
                  <a:pt x="1233322" y="0"/>
                  <a:pt x="1300901" y="0"/>
                </a:cubicBezTo>
                <a:cubicBezTo>
                  <a:pt x="1368481" y="0"/>
                  <a:pt x="1436060" y="15180"/>
                  <a:pt x="1498571" y="45540"/>
                </a:cubicBezTo>
                <a:cubicBezTo>
                  <a:pt x="2356827" y="473956"/>
                  <a:pt x="2356827" y="473956"/>
                  <a:pt x="2356827" y="473956"/>
                </a:cubicBezTo>
                <a:cubicBezTo>
                  <a:pt x="2507191" y="548170"/>
                  <a:pt x="2601802" y="701658"/>
                  <a:pt x="2601802" y="868638"/>
                </a:cubicBezTo>
                <a:cubicBezTo>
                  <a:pt x="2601802" y="1087485"/>
                  <a:pt x="2601802" y="1265297"/>
                  <a:pt x="2601802" y="1409770"/>
                </a:cubicBezTo>
                <a:lnTo>
                  <a:pt x="2601802" y="1470815"/>
                </a:lnTo>
                <a:lnTo>
                  <a:pt x="2601802" y="1580588"/>
                </a:lnTo>
                <a:cubicBezTo>
                  <a:pt x="2601802" y="2072992"/>
                  <a:pt x="2601802" y="2072992"/>
                  <a:pt x="2601802" y="2072992"/>
                </a:cubicBezTo>
                <a:cubicBezTo>
                  <a:pt x="2601802" y="2239972"/>
                  <a:pt x="2507191" y="2393460"/>
                  <a:pt x="2356827" y="2467674"/>
                </a:cubicBezTo>
                <a:cubicBezTo>
                  <a:pt x="1498570" y="2896090"/>
                  <a:pt x="1498570" y="2896090"/>
                  <a:pt x="1498570" y="2896090"/>
                </a:cubicBezTo>
                <a:cubicBezTo>
                  <a:pt x="1436059" y="2926450"/>
                  <a:pt x="1368480" y="2941630"/>
                  <a:pt x="1300901" y="2941630"/>
                </a:cubicBezTo>
                <a:close/>
              </a:path>
            </a:pathLst>
          </a:custGeom>
          <a:solidFill>
            <a:srgbClr val="557199"/>
          </a:solidFill>
          <a:ln>
            <a:noFill/>
          </a:ln>
          <a:effec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2" name="Shape 31318"/>
          <p:cNvSpPr/>
          <p:nvPr/>
        </p:nvSpPr>
        <p:spPr>
          <a:xfrm>
            <a:off x="9140008" y="5771731"/>
            <a:ext cx="509348" cy="394107"/>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3500" cap="all">
                <a:solidFill>
                  <a:srgbClr val="FFFFFF"/>
                </a:solidFill>
              </a:defRPr>
            </a:lvl1pPr>
          </a:lstStyle>
          <a:p>
            <a:pPr marL="0" marR="0" lvl="0" indent="0" algn="ctr" defTabSz="584200" rtl="0" eaLnBrk="1" fontAlgn="auto" latinLnBrk="0" hangingPunct="1">
              <a:lnSpc>
                <a:spcPct val="100000"/>
              </a:lnSpc>
              <a:spcBef>
                <a:spcPts val="0"/>
              </a:spcBef>
              <a:spcAft>
                <a:spcPts val="0"/>
              </a:spcAft>
              <a:buClrTx/>
              <a:buSzTx/>
              <a:buFontTx/>
              <a:buNone/>
              <a:defRPr/>
            </a:pPr>
            <a:r>
              <a:rPr kumimoji="0" lang="en-US" altLang="zh-CN"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03</a:t>
            </a:r>
            <a:endParaRPr kumimoji="0"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mn-lt"/>
            </a:endParaRPr>
          </a:p>
        </p:txBody>
      </p:sp>
      <p:sp>
        <p:nvSpPr>
          <p:cNvPr id="41" name="任意多边形 40"/>
          <p:cNvSpPr/>
          <p:nvPr/>
        </p:nvSpPr>
        <p:spPr bwMode="auto">
          <a:xfrm rot="10800000">
            <a:off x="4220010" y="1642820"/>
            <a:ext cx="3582112" cy="3761018"/>
          </a:xfrm>
          <a:custGeom>
            <a:avLst/>
            <a:gdLst>
              <a:gd name="connsiteX0" fmla="*/ 1300901 w 2601802"/>
              <a:gd name="connsiteY0" fmla="*/ 2941630 h 2941630"/>
              <a:gd name="connsiteX1" fmla="*/ 1103231 w 2601802"/>
              <a:gd name="connsiteY1" fmla="*/ 2896090 h 2941630"/>
              <a:gd name="connsiteX2" fmla="*/ 244975 w 2601802"/>
              <a:gd name="connsiteY2" fmla="*/ 2467674 h 2941630"/>
              <a:gd name="connsiteX3" fmla="*/ 0 w 2601802"/>
              <a:gd name="connsiteY3" fmla="*/ 2072992 h 2941630"/>
              <a:gd name="connsiteX4" fmla="*/ 0 w 2601802"/>
              <a:gd name="connsiteY4" fmla="*/ 1531860 h 2941630"/>
              <a:gd name="connsiteX5" fmla="*/ 0 w 2601802"/>
              <a:gd name="connsiteY5" fmla="*/ 1470815 h 2941630"/>
              <a:gd name="connsiteX6" fmla="*/ 0 w 2601802"/>
              <a:gd name="connsiteY6" fmla="*/ 1361042 h 2941630"/>
              <a:gd name="connsiteX7" fmla="*/ 0 w 2601802"/>
              <a:gd name="connsiteY7" fmla="*/ 868638 h 2941630"/>
              <a:gd name="connsiteX8" fmla="*/ 244975 w 2601802"/>
              <a:gd name="connsiteY8" fmla="*/ 473956 h 2941630"/>
              <a:gd name="connsiteX9" fmla="*/ 1103232 w 2601802"/>
              <a:gd name="connsiteY9" fmla="*/ 45540 h 2941630"/>
              <a:gd name="connsiteX10" fmla="*/ 1300901 w 2601802"/>
              <a:gd name="connsiteY10" fmla="*/ 0 h 2941630"/>
              <a:gd name="connsiteX11" fmla="*/ 1498571 w 2601802"/>
              <a:gd name="connsiteY11" fmla="*/ 45540 h 2941630"/>
              <a:gd name="connsiteX12" fmla="*/ 2356827 w 2601802"/>
              <a:gd name="connsiteY12" fmla="*/ 473956 h 2941630"/>
              <a:gd name="connsiteX13" fmla="*/ 2601802 w 2601802"/>
              <a:gd name="connsiteY13" fmla="*/ 868638 h 2941630"/>
              <a:gd name="connsiteX14" fmla="*/ 2601802 w 2601802"/>
              <a:gd name="connsiteY14" fmla="*/ 1409770 h 2941630"/>
              <a:gd name="connsiteX15" fmla="*/ 2601802 w 2601802"/>
              <a:gd name="connsiteY15" fmla="*/ 1470815 h 2941630"/>
              <a:gd name="connsiteX16" fmla="*/ 2601802 w 2601802"/>
              <a:gd name="connsiteY16" fmla="*/ 1580588 h 2941630"/>
              <a:gd name="connsiteX17" fmla="*/ 2601802 w 2601802"/>
              <a:gd name="connsiteY17" fmla="*/ 2072992 h 2941630"/>
              <a:gd name="connsiteX18" fmla="*/ 2356827 w 2601802"/>
              <a:gd name="connsiteY18" fmla="*/ 2467674 h 2941630"/>
              <a:gd name="connsiteX19" fmla="*/ 1498570 w 2601802"/>
              <a:gd name="connsiteY19" fmla="*/ 2896090 h 2941630"/>
              <a:gd name="connsiteX20" fmla="*/ 1300901 w 2601802"/>
              <a:gd name="connsiteY20" fmla="*/ 2941630 h 294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01802" h="2941630">
                <a:moveTo>
                  <a:pt x="1300901" y="2941630"/>
                </a:moveTo>
                <a:cubicBezTo>
                  <a:pt x="1233321" y="2941630"/>
                  <a:pt x="1165742" y="2926450"/>
                  <a:pt x="1103231" y="2896090"/>
                </a:cubicBezTo>
                <a:cubicBezTo>
                  <a:pt x="244975" y="2467674"/>
                  <a:pt x="244975" y="2467674"/>
                  <a:pt x="244975" y="2467674"/>
                </a:cubicBezTo>
                <a:cubicBezTo>
                  <a:pt x="94611" y="2393460"/>
                  <a:pt x="0" y="2239972"/>
                  <a:pt x="0" y="2072992"/>
                </a:cubicBezTo>
                <a:cubicBezTo>
                  <a:pt x="0" y="1854145"/>
                  <a:pt x="0" y="1676333"/>
                  <a:pt x="0" y="1531860"/>
                </a:cubicBezTo>
                <a:lnTo>
                  <a:pt x="0" y="1470815"/>
                </a:lnTo>
                <a:lnTo>
                  <a:pt x="0" y="1361042"/>
                </a:lnTo>
                <a:cubicBezTo>
                  <a:pt x="0" y="868638"/>
                  <a:pt x="0" y="868638"/>
                  <a:pt x="0" y="868638"/>
                </a:cubicBezTo>
                <a:cubicBezTo>
                  <a:pt x="0" y="701658"/>
                  <a:pt x="94611" y="548170"/>
                  <a:pt x="244975" y="473956"/>
                </a:cubicBezTo>
                <a:cubicBezTo>
                  <a:pt x="1103232" y="45540"/>
                  <a:pt x="1103232" y="45540"/>
                  <a:pt x="1103232" y="45540"/>
                </a:cubicBezTo>
                <a:cubicBezTo>
                  <a:pt x="1165743" y="15180"/>
                  <a:pt x="1233322" y="0"/>
                  <a:pt x="1300901" y="0"/>
                </a:cubicBezTo>
                <a:cubicBezTo>
                  <a:pt x="1368481" y="0"/>
                  <a:pt x="1436060" y="15180"/>
                  <a:pt x="1498571" y="45540"/>
                </a:cubicBezTo>
                <a:cubicBezTo>
                  <a:pt x="2356827" y="473956"/>
                  <a:pt x="2356827" y="473956"/>
                  <a:pt x="2356827" y="473956"/>
                </a:cubicBezTo>
                <a:cubicBezTo>
                  <a:pt x="2507191" y="548170"/>
                  <a:pt x="2601802" y="701658"/>
                  <a:pt x="2601802" y="868638"/>
                </a:cubicBezTo>
                <a:cubicBezTo>
                  <a:pt x="2601802" y="1087485"/>
                  <a:pt x="2601802" y="1265297"/>
                  <a:pt x="2601802" y="1409770"/>
                </a:cubicBezTo>
                <a:lnTo>
                  <a:pt x="2601802" y="1470815"/>
                </a:lnTo>
                <a:lnTo>
                  <a:pt x="2601802" y="1580588"/>
                </a:lnTo>
                <a:cubicBezTo>
                  <a:pt x="2601802" y="2072992"/>
                  <a:pt x="2601802" y="2072992"/>
                  <a:pt x="2601802" y="2072992"/>
                </a:cubicBezTo>
                <a:cubicBezTo>
                  <a:pt x="2601802" y="2239972"/>
                  <a:pt x="2507191" y="2393460"/>
                  <a:pt x="2356827" y="2467674"/>
                </a:cubicBezTo>
                <a:cubicBezTo>
                  <a:pt x="1498570" y="2896090"/>
                  <a:pt x="1498570" y="2896090"/>
                  <a:pt x="1498570" y="2896090"/>
                </a:cubicBezTo>
                <a:cubicBezTo>
                  <a:pt x="1436059" y="2926450"/>
                  <a:pt x="1368480" y="2941630"/>
                  <a:pt x="1300901" y="2941630"/>
                </a:cubicBezTo>
                <a:close/>
              </a:path>
            </a:pathLst>
          </a:custGeom>
          <a:solidFill>
            <a:srgbClr val="9FACC3"/>
          </a:solidFill>
          <a:ln>
            <a:noFill/>
          </a:ln>
          <a:effec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53"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3"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4"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 name="TextBox 6"/>
          <p:cNvSpPr txBox="1"/>
          <p:nvPr/>
        </p:nvSpPr>
        <p:spPr>
          <a:xfrm>
            <a:off x="265096" y="1026457"/>
            <a:ext cx="1999826"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通用领域</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 name="1"/>
          <p:cNvSpPr txBox="1">
            <a:spLocks noChangeArrowheads="1"/>
          </p:cNvSpPr>
          <p:nvPr/>
        </p:nvSpPr>
        <p:spPr bwMode="auto">
          <a:xfrm>
            <a:off x="4547842" y="2297705"/>
            <a:ext cx="29304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0" marR="0" lvl="0" indent="0" algn="ctr" defTabSz="1216025" rtl="0" eaLnBrk="1" fontAlgn="auto" latinLnBrk="0" hangingPunct="1">
              <a:lnSpc>
                <a:spcPct val="100000"/>
              </a:lnSpc>
              <a:spcBef>
                <a:spcPct val="2000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rPr>
              <a:t>信息检索与知识问答</a:t>
            </a:r>
            <a:endPar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endParaRPr>
          </a:p>
        </p:txBody>
      </p:sp>
      <p:sp>
        <p:nvSpPr>
          <p:cNvPr id="7" name="1"/>
          <p:cNvSpPr txBox="1">
            <a:spLocks noChangeArrowheads="1"/>
          </p:cNvSpPr>
          <p:nvPr/>
        </p:nvSpPr>
        <p:spPr bwMode="auto">
          <a:xfrm>
            <a:off x="4438377" y="2771502"/>
            <a:ext cx="3151338" cy="177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0" marR="0" lvl="0" indent="0" algn="ctr" defTabSz="1216025" rtl="0" eaLnBrk="1" fontAlgn="auto" latinLnBrk="0" hangingPunct="1">
              <a:lnSpc>
                <a:spcPct val="150000"/>
              </a:lnSpc>
              <a:spcBef>
                <a:spcPts val="0"/>
              </a:spcBef>
              <a:spcAft>
                <a:spcPts val="0"/>
              </a:spcAft>
              <a:buClrTx/>
              <a:buSzTx/>
              <a:buFontTx/>
              <a:buNone/>
              <a:defRPr/>
            </a:pPr>
            <a:r>
              <a:rPr lang="zh-CN" altLang="en-US"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大模型能够高效快速的从大量文本中提取信息，将其整合为人类便于阅读和理解的内容</a:t>
            </a:r>
            <a:endParaRPr kumimoji="0" lang="zh-CN" altLang="en-US" sz="2000" b="0" i="0" u="none" strike="noStrike" kern="1200" cap="none" spc="0" normalizeH="0" baseline="0" noProof="0" dirty="0">
              <a:ln>
                <a:noFill/>
              </a:ln>
              <a:solidFill>
                <a:schemeClr val="bg1"/>
              </a:solidFill>
              <a:effectLst/>
              <a:uLnTx/>
              <a:uFillTx/>
              <a:latin typeface="楷体" panose="02010609060101010101" pitchFamily="49" charset="-122"/>
              <a:ea typeface="楷体" panose="02010609060101010101" pitchFamily="49" charset="-122"/>
              <a:cs typeface="思源宋体" panose="02020400000000000000" charset="-122"/>
              <a:sym typeface="+mn-ea"/>
            </a:endParaRPr>
          </a:p>
        </p:txBody>
      </p:sp>
      <p:sp>
        <p:nvSpPr>
          <p:cNvPr id="8" name="1"/>
          <p:cNvSpPr txBox="1">
            <a:spLocks noChangeArrowheads="1"/>
          </p:cNvSpPr>
          <p:nvPr/>
        </p:nvSpPr>
        <p:spPr bwMode="auto">
          <a:xfrm>
            <a:off x="8127852" y="2313203"/>
            <a:ext cx="29304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0" marR="0" lvl="0" indent="0" algn="ctr" defTabSz="1216025" rtl="0" eaLnBrk="1" fontAlgn="auto" latinLnBrk="0" hangingPunct="1">
              <a:lnSpc>
                <a:spcPct val="100000"/>
              </a:lnSpc>
              <a:spcBef>
                <a:spcPct val="2000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rPr>
              <a:t>辅助办公任务</a:t>
            </a:r>
            <a:endPar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endParaRPr>
          </a:p>
        </p:txBody>
      </p:sp>
      <p:sp>
        <p:nvSpPr>
          <p:cNvPr id="9" name="1"/>
          <p:cNvSpPr txBox="1">
            <a:spLocks noChangeArrowheads="1"/>
          </p:cNvSpPr>
          <p:nvPr/>
        </p:nvSpPr>
        <p:spPr bwMode="auto">
          <a:xfrm>
            <a:off x="8018387" y="2787000"/>
            <a:ext cx="3151338" cy="1312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0" marR="0" lvl="0" indent="0" algn="ctr" defTabSz="1216025" rtl="0" eaLnBrk="1" fontAlgn="auto" latinLnBrk="0" hangingPunct="1">
              <a:lnSpc>
                <a:spcPct val="150000"/>
              </a:lnSpc>
              <a:spcBef>
                <a:spcPts val="0"/>
              </a:spcBef>
              <a:spcAft>
                <a:spcPts val="0"/>
              </a:spcAft>
              <a:buClrTx/>
              <a:buSzTx/>
              <a:buFontTx/>
              <a:buNone/>
              <a:defRPr/>
            </a:pPr>
            <a:r>
              <a:rPr lang="zh-CN" altLang="en-US"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大模型能够辅助完成文档编写、数据分析及会议记录等办公任务，提升办公效率</a:t>
            </a:r>
            <a:endParaRPr kumimoji="0" lang="zh-CN" altLang="en-US" sz="2000" b="0" i="0" u="none" strike="noStrike" kern="1200" cap="none" spc="0" normalizeH="0" baseline="0" noProof="0" dirty="0">
              <a:ln>
                <a:noFill/>
              </a:ln>
              <a:solidFill>
                <a:schemeClr val="bg1"/>
              </a:solidFill>
              <a:effectLst/>
              <a:uLnTx/>
              <a:uFillTx/>
              <a:latin typeface="楷体" panose="02010609060101010101" pitchFamily="49" charset="-122"/>
              <a:ea typeface="楷体" panose="02010609060101010101" pitchFamily="49" charset="-122"/>
              <a:cs typeface="思源宋体" panose="02020400000000000000"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53"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3"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4"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 name="TextBox 6"/>
          <p:cNvSpPr txBox="1"/>
          <p:nvPr/>
        </p:nvSpPr>
        <p:spPr>
          <a:xfrm>
            <a:off x="265096" y="1026457"/>
            <a:ext cx="1999826" cy="466269"/>
          </a:xfrm>
          <a:prstGeom prst="rect">
            <a:avLst/>
          </a:prstGeom>
          <a:noFill/>
        </p:spPr>
        <p:txBody>
          <a:bodyPr wrap="square" lIns="0" tIns="48000" rIns="0" bIns="48000" rtlCol="0">
            <a:spAutoFit/>
          </a:bodyPr>
          <a:lstStyle/>
          <a:p>
            <a:pPr algn="ct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Qwen3</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5" name="组合 34"/>
          <p:cNvGrpSpPr/>
          <p:nvPr/>
        </p:nvGrpSpPr>
        <p:grpSpPr>
          <a:xfrm>
            <a:off x="944871" y="1727183"/>
            <a:ext cx="10302258" cy="4732228"/>
            <a:chOff x="1217750" y="1903936"/>
            <a:chExt cx="9611513" cy="4186892"/>
          </a:xfrm>
        </p:grpSpPr>
        <p:sp>
          <p:nvSpPr>
            <p:cNvPr id="27" name="矩形 26"/>
            <p:cNvSpPr/>
            <p:nvPr/>
          </p:nvSpPr>
          <p:spPr>
            <a:xfrm>
              <a:off x="1245664" y="1925639"/>
              <a:ext cx="9555685" cy="4134193"/>
            </a:xfrm>
            <a:prstGeom prst="rect">
              <a:avLst/>
            </a:prstGeom>
            <a:noFill/>
            <a:ln w="6350">
              <a:solidFill>
                <a:srgbClr val="9FAC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斜纹 29"/>
            <p:cNvSpPr/>
            <p:nvPr/>
          </p:nvSpPr>
          <p:spPr>
            <a:xfrm>
              <a:off x="1217750" y="190393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斜纹 30"/>
            <p:cNvSpPr/>
            <p:nvPr/>
          </p:nvSpPr>
          <p:spPr>
            <a:xfrm rot="10800000">
              <a:off x="10469490" y="5731055"/>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矩形 32"/>
            <p:cNvSpPr/>
            <p:nvPr/>
          </p:nvSpPr>
          <p:spPr>
            <a:xfrm>
              <a:off x="1559496" y="2073136"/>
              <a:ext cx="2975717" cy="426334"/>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en-US" altLang="zh-CN"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rPr>
                <a:t>Qwen3</a:t>
              </a:r>
              <a:r>
                <a:rPr lang="zh-CN" altLang="en-US"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rPr>
                <a:t>性能表现</a:t>
              </a:r>
              <a:endParaRPr lang="en-US"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endParaRPr>
            </a:p>
          </p:txBody>
        </p:sp>
      </p:grpSp>
      <p:pic>
        <p:nvPicPr>
          <p:cNvPr id="9" name="图片 8"/>
          <p:cNvPicPr>
            <a:picLocks noChangeAspect="1"/>
          </p:cNvPicPr>
          <p:nvPr/>
        </p:nvPicPr>
        <p:blipFill>
          <a:blip r:embed="rId2"/>
          <a:stretch>
            <a:fillRect/>
          </a:stretch>
        </p:blipFill>
        <p:spPr>
          <a:xfrm>
            <a:off x="1232194" y="2526740"/>
            <a:ext cx="5277395" cy="2642527"/>
          </a:xfrm>
          <a:prstGeom prst="rect">
            <a:avLst/>
          </a:prstGeom>
        </p:spPr>
      </p:pic>
      <p:pic>
        <p:nvPicPr>
          <p:cNvPr id="8" name="图片 7"/>
          <p:cNvPicPr>
            <a:picLocks noChangeAspect="1"/>
          </p:cNvPicPr>
          <p:nvPr/>
        </p:nvPicPr>
        <p:blipFill>
          <a:blip r:embed="rId3"/>
          <a:stretch>
            <a:fillRect/>
          </a:stretch>
        </p:blipFill>
        <p:spPr>
          <a:xfrm>
            <a:off x="5748749" y="3737816"/>
            <a:ext cx="5239253" cy="248758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53"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3"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4"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 name="TextBox 6"/>
          <p:cNvSpPr txBox="1"/>
          <p:nvPr/>
        </p:nvSpPr>
        <p:spPr>
          <a:xfrm>
            <a:off x="265096" y="1026457"/>
            <a:ext cx="1999826" cy="466269"/>
          </a:xfrm>
          <a:prstGeom prst="rect">
            <a:avLst/>
          </a:prstGeom>
          <a:noFill/>
        </p:spPr>
        <p:txBody>
          <a:bodyPr wrap="square" lIns="0" tIns="48000" rIns="0" bIns="48000" rtlCol="0">
            <a:spAutoFit/>
          </a:bodyPr>
          <a:lstStyle/>
          <a:p>
            <a:pPr algn="ct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Qwen3</a:t>
            </a:r>
            <a:endPar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35" name="组合 34"/>
          <p:cNvGrpSpPr/>
          <p:nvPr/>
        </p:nvGrpSpPr>
        <p:grpSpPr>
          <a:xfrm>
            <a:off x="944871" y="1727183"/>
            <a:ext cx="10302258" cy="4732228"/>
            <a:chOff x="1217750" y="1903936"/>
            <a:chExt cx="9611513" cy="4186892"/>
          </a:xfrm>
        </p:grpSpPr>
        <p:sp>
          <p:nvSpPr>
            <p:cNvPr id="27" name="矩形 26"/>
            <p:cNvSpPr/>
            <p:nvPr/>
          </p:nvSpPr>
          <p:spPr>
            <a:xfrm>
              <a:off x="1245664" y="1925639"/>
              <a:ext cx="9555685" cy="4134193"/>
            </a:xfrm>
            <a:prstGeom prst="rect">
              <a:avLst/>
            </a:prstGeom>
            <a:noFill/>
            <a:ln w="6350">
              <a:solidFill>
                <a:srgbClr val="9FAC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斜纹 29"/>
            <p:cNvSpPr/>
            <p:nvPr/>
          </p:nvSpPr>
          <p:spPr>
            <a:xfrm>
              <a:off x="1217750" y="190393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斜纹 30"/>
            <p:cNvSpPr/>
            <p:nvPr/>
          </p:nvSpPr>
          <p:spPr>
            <a:xfrm rot="10800000">
              <a:off x="10469490" y="5731055"/>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矩形 32"/>
            <p:cNvSpPr/>
            <p:nvPr/>
          </p:nvSpPr>
          <p:spPr>
            <a:xfrm>
              <a:off x="1559496" y="2073136"/>
              <a:ext cx="2975717" cy="834797"/>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en-US" altLang="zh-CN"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rPr>
                <a:t>Qwen3</a:t>
              </a:r>
              <a:r>
                <a:rPr lang="zh-CN" altLang="en-US"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rPr>
                <a:t>参数规模</a:t>
              </a:r>
              <a:endParaRPr lang="en-US" altLang="zh-CN"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endParaRPr>
            </a:p>
            <a:p>
              <a:pPr algn="just">
                <a:lnSpc>
                  <a:spcPct val="150000"/>
                </a:lnSpc>
              </a:pPr>
              <a:endParaRPr lang="en-US"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endParaRPr>
            </a:p>
          </p:txBody>
        </p:sp>
      </p:grpSp>
      <p:pic>
        <p:nvPicPr>
          <p:cNvPr id="26" name="图片 25"/>
          <p:cNvPicPr>
            <a:picLocks noChangeAspect="1"/>
          </p:cNvPicPr>
          <p:nvPr/>
        </p:nvPicPr>
        <p:blipFill>
          <a:blip r:embed="rId2"/>
          <a:stretch>
            <a:fillRect/>
          </a:stretch>
        </p:blipFill>
        <p:spPr>
          <a:xfrm>
            <a:off x="1330500" y="2683849"/>
            <a:ext cx="4706287" cy="3190496"/>
          </a:xfrm>
          <a:prstGeom prst="rect">
            <a:avLst/>
          </a:prstGeom>
        </p:spPr>
      </p:pic>
      <p:pic>
        <p:nvPicPr>
          <p:cNvPr id="36" name="图片 35"/>
          <p:cNvPicPr>
            <a:picLocks noChangeAspect="1"/>
          </p:cNvPicPr>
          <p:nvPr/>
        </p:nvPicPr>
        <p:blipFill>
          <a:blip r:embed="rId3"/>
          <a:stretch>
            <a:fillRect/>
          </a:stretch>
        </p:blipFill>
        <p:spPr>
          <a:xfrm>
            <a:off x="6778549" y="2683849"/>
            <a:ext cx="3759530" cy="3113721"/>
          </a:xfrm>
          <a:prstGeom prst="rect">
            <a:avLst/>
          </a:prstGeom>
        </p:spPr>
      </p:pic>
      <p:sp>
        <p:nvSpPr>
          <p:cNvPr id="37" name="矩形 36"/>
          <p:cNvSpPr/>
          <p:nvPr/>
        </p:nvSpPr>
        <p:spPr>
          <a:xfrm>
            <a:off x="6527763" y="1918421"/>
            <a:ext cx="3189571" cy="481863"/>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rPr>
              <a:t>推理模版</a:t>
            </a:r>
            <a:endParaRPr sz="2000" dirty="0">
              <a:solidFill>
                <a:srgbClr val="595959"/>
              </a:solidFill>
              <a:latin typeface="楷体" panose="02010609060101010101" pitchFamily="49" charset="-122"/>
              <a:ea typeface="楷体" panose="02010609060101010101" pitchFamily="49"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24" name="矩形 2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28"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34" name="直接连接符 33"/>
          <p:cNvCxnSpPr/>
          <p:nvPr/>
        </p:nvCxnSpPr>
        <p:spPr>
          <a:xfrm>
            <a:off x="425752" y="1528840"/>
            <a:ext cx="2400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0" y="6186450"/>
            <a:ext cx="12192000" cy="135835"/>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inpin heiti" charset="-122"/>
              <a:ea typeface="微软雅黑" panose="020B0503020204020204" pitchFamily="34" charset="-122"/>
              <a:cs typeface="+mn-cs"/>
            </a:endParaRPr>
          </a:p>
        </p:txBody>
      </p:sp>
      <p:sp>
        <p:nvSpPr>
          <p:cNvPr id="11" name="椭圆 10"/>
          <p:cNvSpPr/>
          <p:nvPr/>
        </p:nvSpPr>
        <p:spPr>
          <a:xfrm>
            <a:off x="1557128" y="5855146"/>
            <a:ext cx="762000" cy="762000"/>
          </a:xfrm>
          <a:prstGeom prst="ellipse">
            <a:avLst/>
          </a:prstGeom>
          <a:solidFill>
            <a:srgbClr val="9FACC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8" name="任意多边形 17"/>
          <p:cNvSpPr/>
          <p:nvPr/>
        </p:nvSpPr>
        <p:spPr bwMode="auto">
          <a:xfrm rot="10800000">
            <a:off x="580734" y="1860112"/>
            <a:ext cx="2811671" cy="3890571"/>
          </a:xfrm>
          <a:custGeom>
            <a:avLst/>
            <a:gdLst>
              <a:gd name="connsiteX0" fmla="*/ 1300901 w 2601802"/>
              <a:gd name="connsiteY0" fmla="*/ 2941630 h 2941630"/>
              <a:gd name="connsiteX1" fmla="*/ 1103231 w 2601802"/>
              <a:gd name="connsiteY1" fmla="*/ 2896090 h 2941630"/>
              <a:gd name="connsiteX2" fmla="*/ 244975 w 2601802"/>
              <a:gd name="connsiteY2" fmla="*/ 2467674 h 2941630"/>
              <a:gd name="connsiteX3" fmla="*/ 0 w 2601802"/>
              <a:gd name="connsiteY3" fmla="*/ 2072992 h 2941630"/>
              <a:gd name="connsiteX4" fmla="*/ 0 w 2601802"/>
              <a:gd name="connsiteY4" fmla="*/ 1531860 h 2941630"/>
              <a:gd name="connsiteX5" fmla="*/ 0 w 2601802"/>
              <a:gd name="connsiteY5" fmla="*/ 1470815 h 2941630"/>
              <a:gd name="connsiteX6" fmla="*/ 0 w 2601802"/>
              <a:gd name="connsiteY6" fmla="*/ 1361042 h 2941630"/>
              <a:gd name="connsiteX7" fmla="*/ 0 w 2601802"/>
              <a:gd name="connsiteY7" fmla="*/ 868638 h 2941630"/>
              <a:gd name="connsiteX8" fmla="*/ 244975 w 2601802"/>
              <a:gd name="connsiteY8" fmla="*/ 473956 h 2941630"/>
              <a:gd name="connsiteX9" fmla="*/ 1103232 w 2601802"/>
              <a:gd name="connsiteY9" fmla="*/ 45540 h 2941630"/>
              <a:gd name="connsiteX10" fmla="*/ 1300901 w 2601802"/>
              <a:gd name="connsiteY10" fmla="*/ 0 h 2941630"/>
              <a:gd name="connsiteX11" fmla="*/ 1498571 w 2601802"/>
              <a:gd name="connsiteY11" fmla="*/ 45540 h 2941630"/>
              <a:gd name="connsiteX12" fmla="*/ 2356827 w 2601802"/>
              <a:gd name="connsiteY12" fmla="*/ 473956 h 2941630"/>
              <a:gd name="connsiteX13" fmla="*/ 2601802 w 2601802"/>
              <a:gd name="connsiteY13" fmla="*/ 868638 h 2941630"/>
              <a:gd name="connsiteX14" fmla="*/ 2601802 w 2601802"/>
              <a:gd name="connsiteY14" fmla="*/ 1409770 h 2941630"/>
              <a:gd name="connsiteX15" fmla="*/ 2601802 w 2601802"/>
              <a:gd name="connsiteY15" fmla="*/ 1470815 h 2941630"/>
              <a:gd name="connsiteX16" fmla="*/ 2601802 w 2601802"/>
              <a:gd name="connsiteY16" fmla="*/ 1580588 h 2941630"/>
              <a:gd name="connsiteX17" fmla="*/ 2601802 w 2601802"/>
              <a:gd name="connsiteY17" fmla="*/ 2072992 h 2941630"/>
              <a:gd name="connsiteX18" fmla="*/ 2356827 w 2601802"/>
              <a:gd name="connsiteY18" fmla="*/ 2467674 h 2941630"/>
              <a:gd name="connsiteX19" fmla="*/ 1498570 w 2601802"/>
              <a:gd name="connsiteY19" fmla="*/ 2896090 h 2941630"/>
              <a:gd name="connsiteX20" fmla="*/ 1300901 w 2601802"/>
              <a:gd name="connsiteY20" fmla="*/ 2941630 h 294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01802" h="2941630">
                <a:moveTo>
                  <a:pt x="1300901" y="2941630"/>
                </a:moveTo>
                <a:cubicBezTo>
                  <a:pt x="1233321" y="2941630"/>
                  <a:pt x="1165742" y="2926450"/>
                  <a:pt x="1103231" y="2896090"/>
                </a:cubicBezTo>
                <a:cubicBezTo>
                  <a:pt x="244975" y="2467674"/>
                  <a:pt x="244975" y="2467674"/>
                  <a:pt x="244975" y="2467674"/>
                </a:cubicBezTo>
                <a:cubicBezTo>
                  <a:pt x="94611" y="2393460"/>
                  <a:pt x="0" y="2239972"/>
                  <a:pt x="0" y="2072992"/>
                </a:cubicBezTo>
                <a:cubicBezTo>
                  <a:pt x="0" y="1854145"/>
                  <a:pt x="0" y="1676333"/>
                  <a:pt x="0" y="1531860"/>
                </a:cubicBezTo>
                <a:lnTo>
                  <a:pt x="0" y="1470815"/>
                </a:lnTo>
                <a:lnTo>
                  <a:pt x="0" y="1361042"/>
                </a:lnTo>
                <a:cubicBezTo>
                  <a:pt x="0" y="868638"/>
                  <a:pt x="0" y="868638"/>
                  <a:pt x="0" y="868638"/>
                </a:cubicBezTo>
                <a:cubicBezTo>
                  <a:pt x="0" y="701658"/>
                  <a:pt x="94611" y="548170"/>
                  <a:pt x="244975" y="473956"/>
                </a:cubicBezTo>
                <a:cubicBezTo>
                  <a:pt x="1103232" y="45540"/>
                  <a:pt x="1103232" y="45540"/>
                  <a:pt x="1103232" y="45540"/>
                </a:cubicBezTo>
                <a:cubicBezTo>
                  <a:pt x="1165743" y="15180"/>
                  <a:pt x="1233322" y="0"/>
                  <a:pt x="1300901" y="0"/>
                </a:cubicBezTo>
                <a:cubicBezTo>
                  <a:pt x="1368481" y="0"/>
                  <a:pt x="1436060" y="15180"/>
                  <a:pt x="1498571" y="45540"/>
                </a:cubicBezTo>
                <a:cubicBezTo>
                  <a:pt x="2356827" y="473956"/>
                  <a:pt x="2356827" y="473956"/>
                  <a:pt x="2356827" y="473956"/>
                </a:cubicBezTo>
                <a:cubicBezTo>
                  <a:pt x="2507191" y="548170"/>
                  <a:pt x="2601802" y="701658"/>
                  <a:pt x="2601802" y="868638"/>
                </a:cubicBezTo>
                <a:cubicBezTo>
                  <a:pt x="2601802" y="1087485"/>
                  <a:pt x="2601802" y="1265297"/>
                  <a:pt x="2601802" y="1409770"/>
                </a:cubicBezTo>
                <a:lnTo>
                  <a:pt x="2601802" y="1470815"/>
                </a:lnTo>
                <a:lnTo>
                  <a:pt x="2601802" y="1580588"/>
                </a:lnTo>
                <a:cubicBezTo>
                  <a:pt x="2601802" y="2072992"/>
                  <a:pt x="2601802" y="2072992"/>
                  <a:pt x="2601802" y="2072992"/>
                </a:cubicBezTo>
                <a:cubicBezTo>
                  <a:pt x="2601802" y="2239972"/>
                  <a:pt x="2507191" y="2393460"/>
                  <a:pt x="2356827" y="2467674"/>
                </a:cubicBezTo>
                <a:cubicBezTo>
                  <a:pt x="1498570" y="2896090"/>
                  <a:pt x="1498570" y="2896090"/>
                  <a:pt x="1498570" y="2896090"/>
                </a:cubicBezTo>
                <a:cubicBezTo>
                  <a:pt x="1436059" y="2926450"/>
                  <a:pt x="1368480" y="2941630"/>
                  <a:pt x="1300901" y="2941630"/>
                </a:cubicBezTo>
                <a:close/>
              </a:path>
            </a:pathLst>
          </a:custGeom>
          <a:solidFill>
            <a:srgbClr val="557199"/>
          </a:solidFill>
          <a:ln>
            <a:noFill/>
          </a:ln>
          <a:effec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Shape 31318"/>
          <p:cNvSpPr/>
          <p:nvPr/>
        </p:nvSpPr>
        <p:spPr>
          <a:xfrm>
            <a:off x="1701782" y="6054011"/>
            <a:ext cx="509348" cy="394107"/>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3500" cap="all">
                <a:solidFill>
                  <a:srgbClr val="FFFFFF"/>
                </a:solidFill>
              </a:defRPr>
            </a:lvl1pPr>
          </a:lstStyle>
          <a:p>
            <a:pPr marL="0" marR="0" lvl="0" indent="0" algn="ctr" defTabSz="584200" rtl="0" eaLnBrk="1" fontAlgn="auto" latinLnBrk="0" hangingPunct="1">
              <a:lnSpc>
                <a:spcPct val="100000"/>
              </a:lnSpc>
              <a:spcBef>
                <a:spcPts val="0"/>
              </a:spcBef>
              <a:spcAft>
                <a:spcPts val="0"/>
              </a:spcAft>
              <a:buClrTx/>
              <a:buSzTx/>
              <a:buFontTx/>
              <a:buNone/>
              <a:defRPr/>
            </a:pPr>
            <a:r>
              <a:rPr kumimoji="0"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rPr>
              <a:t>01</a:t>
            </a:r>
            <a:endParaRPr kumimoji="0"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lt"/>
            </a:endParaRPr>
          </a:p>
        </p:txBody>
      </p:sp>
      <p:sp>
        <p:nvSpPr>
          <p:cNvPr id="12" name="椭圆 11"/>
          <p:cNvSpPr/>
          <p:nvPr/>
        </p:nvSpPr>
        <p:spPr>
          <a:xfrm>
            <a:off x="4368062" y="5855146"/>
            <a:ext cx="762000" cy="762000"/>
          </a:xfrm>
          <a:prstGeom prst="ellipse">
            <a:avLst/>
          </a:prstGeom>
          <a:solidFill>
            <a:srgbClr val="557199"/>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3" name="Shape 31318"/>
          <p:cNvSpPr/>
          <p:nvPr/>
        </p:nvSpPr>
        <p:spPr>
          <a:xfrm>
            <a:off x="4487315" y="6045544"/>
            <a:ext cx="509348" cy="394107"/>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3500" cap="all">
                <a:solidFill>
                  <a:srgbClr val="FFFFFF"/>
                </a:solidFill>
              </a:defRPr>
            </a:lvl1pPr>
          </a:lstStyle>
          <a:p>
            <a:pPr marL="0" marR="0" lvl="0" indent="0" algn="ctr" defTabSz="584200" rtl="0" eaLnBrk="1" fontAlgn="auto" latinLnBrk="0" hangingPunct="1">
              <a:lnSpc>
                <a:spcPct val="100000"/>
              </a:lnSpc>
              <a:spcBef>
                <a:spcPts val="0"/>
              </a:spcBef>
              <a:spcAft>
                <a:spcPts val="0"/>
              </a:spcAft>
              <a:buClrTx/>
              <a:buSzTx/>
              <a:buFontTx/>
              <a:buNone/>
              <a:defRPr/>
            </a:pPr>
            <a:r>
              <a:rPr kumimoji="0" lang="en-US" altLang="zh-CN"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02</a:t>
            </a:r>
            <a:endParaRPr kumimoji="0"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mn-lt"/>
            </a:endParaRPr>
          </a:p>
        </p:txBody>
      </p:sp>
      <p:sp>
        <p:nvSpPr>
          <p:cNvPr id="14" name="椭圆 13"/>
          <p:cNvSpPr/>
          <p:nvPr/>
        </p:nvSpPr>
        <p:spPr>
          <a:xfrm>
            <a:off x="7178995" y="5855146"/>
            <a:ext cx="762000" cy="762000"/>
          </a:xfrm>
          <a:prstGeom prst="ellipse">
            <a:avLst/>
          </a:prstGeom>
          <a:solidFill>
            <a:srgbClr val="9FACC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任意多边形 22"/>
          <p:cNvSpPr/>
          <p:nvPr/>
        </p:nvSpPr>
        <p:spPr bwMode="auto">
          <a:xfrm rot="10800000">
            <a:off x="6202601" y="1860112"/>
            <a:ext cx="2811671" cy="3890571"/>
          </a:xfrm>
          <a:custGeom>
            <a:avLst/>
            <a:gdLst>
              <a:gd name="connsiteX0" fmla="*/ 1300901 w 2601802"/>
              <a:gd name="connsiteY0" fmla="*/ 2941630 h 2941630"/>
              <a:gd name="connsiteX1" fmla="*/ 1103231 w 2601802"/>
              <a:gd name="connsiteY1" fmla="*/ 2896090 h 2941630"/>
              <a:gd name="connsiteX2" fmla="*/ 244975 w 2601802"/>
              <a:gd name="connsiteY2" fmla="*/ 2467674 h 2941630"/>
              <a:gd name="connsiteX3" fmla="*/ 0 w 2601802"/>
              <a:gd name="connsiteY3" fmla="*/ 2072992 h 2941630"/>
              <a:gd name="connsiteX4" fmla="*/ 0 w 2601802"/>
              <a:gd name="connsiteY4" fmla="*/ 1531860 h 2941630"/>
              <a:gd name="connsiteX5" fmla="*/ 0 w 2601802"/>
              <a:gd name="connsiteY5" fmla="*/ 1470815 h 2941630"/>
              <a:gd name="connsiteX6" fmla="*/ 0 w 2601802"/>
              <a:gd name="connsiteY6" fmla="*/ 1361042 h 2941630"/>
              <a:gd name="connsiteX7" fmla="*/ 0 w 2601802"/>
              <a:gd name="connsiteY7" fmla="*/ 868638 h 2941630"/>
              <a:gd name="connsiteX8" fmla="*/ 244975 w 2601802"/>
              <a:gd name="connsiteY8" fmla="*/ 473956 h 2941630"/>
              <a:gd name="connsiteX9" fmla="*/ 1103232 w 2601802"/>
              <a:gd name="connsiteY9" fmla="*/ 45540 h 2941630"/>
              <a:gd name="connsiteX10" fmla="*/ 1300901 w 2601802"/>
              <a:gd name="connsiteY10" fmla="*/ 0 h 2941630"/>
              <a:gd name="connsiteX11" fmla="*/ 1498571 w 2601802"/>
              <a:gd name="connsiteY11" fmla="*/ 45540 h 2941630"/>
              <a:gd name="connsiteX12" fmla="*/ 2356827 w 2601802"/>
              <a:gd name="connsiteY12" fmla="*/ 473956 h 2941630"/>
              <a:gd name="connsiteX13" fmla="*/ 2601802 w 2601802"/>
              <a:gd name="connsiteY13" fmla="*/ 868638 h 2941630"/>
              <a:gd name="connsiteX14" fmla="*/ 2601802 w 2601802"/>
              <a:gd name="connsiteY14" fmla="*/ 1409770 h 2941630"/>
              <a:gd name="connsiteX15" fmla="*/ 2601802 w 2601802"/>
              <a:gd name="connsiteY15" fmla="*/ 1470815 h 2941630"/>
              <a:gd name="connsiteX16" fmla="*/ 2601802 w 2601802"/>
              <a:gd name="connsiteY16" fmla="*/ 1580588 h 2941630"/>
              <a:gd name="connsiteX17" fmla="*/ 2601802 w 2601802"/>
              <a:gd name="connsiteY17" fmla="*/ 2072992 h 2941630"/>
              <a:gd name="connsiteX18" fmla="*/ 2356827 w 2601802"/>
              <a:gd name="connsiteY18" fmla="*/ 2467674 h 2941630"/>
              <a:gd name="connsiteX19" fmla="*/ 1498570 w 2601802"/>
              <a:gd name="connsiteY19" fmla="*/ 2896090 h 2941630"/>
              <a:gd name="connsiteX20" fmla="*/ 1300901 w 2601802"/>
              <a:gd name="connsiteY20" fmla="*/ 2941630 h 294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01802" h="2941630">
                <a:moveTo>
                  <a:pt x="1300901" y="2941630"/>
                </a:moveTo>
                <a:cubicBezTo>
                  <a:pt x="1233321" y="2941630"/>
                  <a:pt x="1165742" y="2926450"/>
                  <a:pt x="1103231" y="2896090"/>
                </a:cubicBezTo>
                <a:cubicBezTo>
                  <a:pt x="244975" y="2467674"/>
                  <a:pt x="244975" y="2467674"/>
                  <a:pt x="244975" y="2467674"/>
                </a:cubicBezTo>
                <a:cubicBezTo>
                  <a:pt x="94611" y="2393460"/>
                  <a:pt x="0" y="2239972"/>
                  <a:pt x="0" y="2072992"/>
                </a:cubicBezTo>
                <a:cubicBezTo>
                  <a:pt x="0" y="1854145"/>
                  <a:pt x="0" y="1676333"/>
                  <a:pt x="0" y="1531860"/>
                </a:cubicBezTo>
                <a:lnTo>
                  <a:pt x="0" y="1470815"/>
                </a:lnTo>
                <a:lnTo>
                  <a:pt x="0" y="1361042"/>
                </a:lnTo>
                <a:cubicBezTo>
                  <a:pt x="0" y="868638"/>
                  <a:pt x="0" y="868638"/>
                  <a:pt x="0" y="868638"/>
                </a:cubicBezTo>
                <a:cubicBezTo>
                  <a:pt x="0" y="701658"/>
                  <a:pt x="94611" y="548170"/>
                  <a:pt x="244975" y="473956"/>
                </a:cubicBezTo>
                <a:cubicBezTo>
                  <a:pt x="1103232" y="45540"/>
                  <a:pt x="1103232" y="45540"/>
                  <a:pt x="1103232" y="45540"/>
                </a:cubicBezTo>
                <a:cubicBezTo>
                  <a:pt x="1165743" y="15180"/>
                  <a:pt x="1233322" y="0"/>
                  <a:pt x="1300901" y="0"/>
                </a:cubicBezTo>
                <a:cubicBezTo>
                  <a:pt x="1368481" y="0"/>
                  <a:pt x="1436060" y="15180"/>
                  <a:pt x="1498571" y="45540"/>
                </a:cubicBezTo>
                <a:cubicBezTo>
                  <a:pt x="2356827" y="473956"/>
                  <a:pt x="2356827" y="473956"/>
                  <a:pt x="2356827" y="473956"/>
                </a:cubicBezTo>
                <a:cubicBezTo>
                  <a:pt x="2507191" y="548170"/>
                  <a:pt x="2601802" y="701658"/>
                  <a:pt x="2601802" y="868638"/>
                </a:cubicBezTo>
                <a:cubicBezTo>
                  <a:pt x="2601802" y="1087485"/>
                  <a:pt x="2601802" y="1265297"/>
                  <a:pt x="2601802" y="1409770"/>
                </a:cubicBezTo>
                <a:lnTo>
                  <a:pt x="2601802" y="1470815"/>
                </a:lnTo>
                <a:lnTo>
                  <a:pt x="2601802" y="1580588"/>
                </a:lnTo>
                <a:cubicBezTo>
                  <a:pt x="2601802" y="2072992"/>
                  <a:pt x="2601802" y="2072992"/>
                  <a:pt x="2601802" y="2072992"/>
                </a:cubicBezTo>
                <a:cubicBezTo>
                  <a:pt x="2601802" y="2239972"/>
                  <a:pt x="2507191" y="2393460"/>
                  <a:pt x="2356827" y="2467674"/>
                </a:cubicBezTo>
                <a:cubicBezTo>
                  <a:pt x="1498570" y="2896090"/>
                  <a:pt x="1498570" y="2896090"/>
                  <a:pt x="1498570" y="2896090"/>
                </a:cubicBezTo>
                <a:cubicBezTo>
                  <a:pt x="1436059" y="2926450"/>
                  <a:pt x="1368480" y="2941630"/>
                  <a:pt x="1300901" y="2941630"/>
                </a:cubicBezTo>
                <a:close/>
              </a:path>
            </a:pathLst>
          </a:custGeom>
          <a:solidFill>
            <a:srgbClr val="557199"/>
          </a:solidFill>
          <a:ln>
            <a:noFill/>
          </a:ln>
          <a:effec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2" name="Shape 31318"/>
          <p:cNvSpPr/>
          <p:nvPr/>
        </p:nvSpPr>
        <p:spPr>
          <a:xfrm>
            <a:off x="7298248" y="6045544"/>
            <a:ext cx="509348" cy="394107"/>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3500" cap="all">
                <a:solidFill>
                  <a:srgbClr val="FFFFFF"/>
                </a:solidFill>
              </a:defRPr>
            </a:lvl1pPr>
          </a:lstStyle>
          <a:p>
            <a:pPr marL="0" marR="0" lvl="0" indent="0" algn="ctr" defTabSz="584200" rtl="0" eaLnBrk="1" fontAlgn="auto" latinLnBrk="0" hangingPunct="1">
              <a:lnSpc>
                <a:spcPct val="100000"/>
              </a:lnSpc>
              <a:spcBef>
                <a:spcPts val="0"/>
              </a:spcBef>
              <a:spcAft>
                <a:spcPts val="0"/>
              </a:spcAft>
              <a:buClrTx/>
              <a:buSzTx/>
              <a:buFontTx/>
              <a:buNone/>
              <a:defRPr/>
            </a:pPr>
            <a:r>
              <a:rPr kumimoji="0" lang="en-US" altLang="zh-CN"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03</a:t>
            </a:r>
            <a:endParaRPr kumimoji="0"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mn-lt"/>
            </a:endParaRPr>
          </a:p>
        </p:txBody>
      </p:sp>
      <p:sp>
        <p:nvSpPr>
          <p:cNvPr id="36" name="椭圆 35"/>
          <p:cNvSpPr/>
          <p:nvPr/>
        </p:nvSpPr>
        <p:spPr>
          <a:xfrm>
            <a:off x="9989929" y="5855146"/>
            <a:ext cx="762000" cy="762000"/>
          </a:xfrm>
          <a:prstGeom prst="ellipse">
            <a:avLst/>
          </a:prstGeom>
          <a:solidFill>
            <a:srgbClr val="557199"/>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7" name="任意多边形 36"/>
          <p:cNvSpPr/>
          <p:nvPr/>
        </p:nvSpPr>
        <p:spPr bwMode="auto">
          <a:xfrm rot="10800000">
            <a:off x="9013535" y="1860112"/>
            <a:ext cx="2811671" cy="3890571"/>
          </a:xfrm>
          <a:custGeom>
            <a:avLst/>
            <a:gdLst>
              <a:gd name="connsiteX0" fmla="*/ 1300901 w 2601802"/>
              <a:gd name="connsiteY0" fmla="*/ 2941630 h 2941630"/>
              <a:gd name="connsiteX1" fmla="*/ 1103231 w 2601802"/>
              <a:gd name="connsiteY1" fmla="*/ 2896090 h 2941630"/>
              <a:gd name="connsiteX2" fmla="*/ 244975 w 2601802"/>
              <a:gd name="connsiteY2" fmla="*/ 2467674 h 2941630"/>
              <a:gd name="connsiteX3" fmla="*/ 0 w 2601802"/>
              <a:gd name="connsiteY3" fmla="*/ 2072992 h 2941630"/>
              <a:gd name="connsiteX4" fmla="*/ 0 w 2601802"/>
              <a:gd name="connsiteY4" fmla="*/ 1531860 h 2941630"/>
              <a:gd name="connsiteX5" fmla="*/ 0 w 2601802"/>
              <a:gd name="connsiteY5" fmla="*/ 1470815 h 2941630"/>
              <a:gd name="connsiteX6" fmla="*/ 0 w 2601802"/>
              <a:gd name="connsiteY6" fmla="*/ 1361042 h 2941630"/>
              <a:gd name="connsiteX7" fmla="*/ 0 w 2601802"/>
              <a:gd name="connsiteY7" fmla="*/ 868638 h 2941630"/>
              <a:gd name="connsiteX8" fmla="*/ 244975 w 2601802"/>
              <a:gd name="connsiteY8" fmla="*/ 473956 h 2941630"/>
              <a:gd name="connsiteX9" fmla="*/ 1103232 w 2601802"/>
              <a:gd name="connsiteY9" fmla="*/ 45540 h 2941630"/>
              <a:gd name="connsiteX10" fmla="*/ 1300901 w 2601802"/>
              <a:gd name="connsiteY10" fmla="*/ 0 h 2941630"/>
              <a:gd name="connsiteX11" fmla="*/ 1498571 w 2601802"/>
              <a:gd name="connsiteY11" fmla="*/ 45540 h 2941630"/>
              <a:gd name="connsiteX12" fmla="*/ 2356827 w 2601802"/>
              <a:gd name="connsiteY12" fmla="*/ 473956 h 2941630"/>
              <a:gd name="connsiteX13" fmla="*/ 2601802 w 2601802"/>
              <a:gd name="connsiteY13" fmla="*/ 868638 h 2941630"/>
              <a:gd name="connsiteX14" fmla="*/ 2601802 w 2601802"/>
              <a:gd name="connsiteY14" fmla="*/ 1409770 h 2941630"/>
              <a:gd name="connsiteX15" fmla="*/ 2601802 w 2601802"/>
              <a:gd name="connsiteY15" fmla="*/ 1470815 h 2941630"/>
              <a:gd name="connsiteX16" fmla="*/ 2601802 w 2601802"/>
              <a:gd name="connsiteY16" fmla="*/ 1580588 h 2941630"/>
              <a:gd name="connsiteX17" fmla="*/ 2601802 w 2601802"/>
              <a:gd name="connsiteY17" fmla="*/ 2072992 h 2941630"/>
              <a:gd name="connsiteX18" fmla="*/ 2356827 w 2601802"/>
              <a:gd name="connsiteY18" fmla="*/ 2467674 h 2941630"/>
              <a:gd name="connsiteX19" fmla="*/ 1498570 w 2601802"/>
              <a:gd name="connsiteY19" fmla="*/ 2896090 h 2941630"/>
              <a:gd name="connsiteX20" fmla="*/ 1300901 w 2601802"/>
              <a:gd name="connsiteY20" fmla="*/ 2941630 h 294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01802" h="2941630">
                <a:moveTo>
                  <a:pt x="1300901" y="2941630"/>
                </a:moveTo>
                <a:cubicBezTo>
                  <a:pt x="1233321" y="2941630"/>
                  <a:pt x="1165742" y="2926450"/>
                  <a:pt x="1103231" y="2896090"/>
                </a:cubicBezTo>
                <a:cubicBezTo>
                  <a:pt x="244975" y="2467674"/>
                  <a:pt x="244975" y="2467674"/>
                  <a:pt x="244975" y="2467674"/>
                </a:cubicBezTo>
                <a:cubicBezTo>
                  <a:pt x="94611" y="2393460"/>
                  <a:pt x="0" y="2239972"/>
                  <a:pt x="0" y="2072992"/>
                </a:cubicBezTo>
                <a:cubicBezTo>
                  <a:pt x="0" y="1854145"/>
                  <a:pt x="0" y="1676333"/>
                  <a:pt x="0" y="1531860"/>
                </a:cubicBezTo>
                <a:lnTo>
                  <a:pt x="0" y="1470815"/>
                </a:lnTo>
                <a:lnTo>
                  <a:pt x="0" y="1361042"/>
                </a:lnTo>
                <a:cubicBezTo>
                  <a:pt x="0" y="868638"/>
                  <a:pt x="0" y="868638"/>
                  <a:pt x="0" y="868638"/>
                </a:cubicBezTo>
                <a:cubicBezTo>
                  <a:pt x="0" y="701658"/>
                  <a:pt x="94611" y="548170"/>
                  <a:pt x="244975" y="473956"/>
                </a:cubicBezTo>
                <a:cubicBezTo>
                  <a:pt x="1103232" y="45540"/>
                  <a:pt x="1103232" y="45540"/>
                  <a:pt x="1103232" y="45540"/>
                </a:cubicBezTo>
                <a:cubicBezTo>
                  <a:pt x="1165743" y="15180"/>
                  <a:pt x="1233322" y="0"/>
                  <a:pt x="1300901" y="0"/>
                </a:cubicBezTo>
                <a:cubicBezTo>
                  <a:pt x="1368481" y="0"/>
                  <a:pt x="1436060" y="15180"/>
                  <a:pt x="1498571" y="45540"/>
                </a:cubicBezTo>
                <a:cubicBezTo>
                  <a:pt x="2356827" y="473956"/>
                  <a:pt x="2356827" y="473956"/>
                  <a:pt x="2356827" y="473956"/>
                </a:cubicBezTo>
                <a:cubicBezTo>
                  <a:pt x="2507191" y="548170"/>
                  <a:pt x="2601802" y="701658"/>
                  <a:pt x="2601802" y="868638"/>
                </a:cubicBezTo>
                <a:cubicBezTo>
                  <a:pt x="2601802" y="1087485"/>
                  <a:pt x="2601802" y="1265297"/>
                  <a:pt x="2601802" y="1409770"/>
                </a:cubicBezTo>
                <a:lnTo>
                  <a:pt x="2601802" y="1470815"/>
                </a:lnTo>
                <a:lnTo>
                  <a:pt x="2601802" y="1580588"/>
                </a:lnTo>
                <a:cubicBezTo>
                  <a:pt x="2601802" y="2072992"/>
                  <a:pt x="2601802" y="2072992"/>
                  <a:pt x="2601802" y="2072992"/>
                </a:cubicBezTo>
                <a:cubicBezTo>
                  <a:pt x="2601802" y="2239972"/>
                  <a:pt x="2507191" y="2393460"/>
                  <a:pt x="2356827" y="2467674"/>
                </a:cubicBezTo>
                <a:cubicBezTo>
                  <a:pt x="1498570" y="2896090"/>
                  <a:pt x="1498570" y="2896090"/>
                  <a:pt x="1498570" y="2896090"/>
                </a:cubicBezTo>
                <a:cubicBezTo>
                  <a:pt x="1436059" y="2926450"/>
                  <a:pt x="1368480" y="2941630"/>
                  <a:pt x="1300901" y="2941630"/>
                </a:cubicBezTo>
                <a:close/>
              </a:path>
            </a:pathLst>
          </a:custGeom>
          <a:solidFill>
            <a:srgbClr val="9FACC3"/>
          </a:solidFill>
          <a:ln>
            <a:noFill/>
          </a:ln>
          <a:effec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0" name="Shape 31318"/>
          <p:cNvSpPr/>
          <p:nvPr/>
        </p:nvSpPr>
        <p:spPr>
          <a:xfrm>
            <a:off x="10109182" y="6045544"/>
            <a:ext cx="509348" cy="394107"/>
          </a:xfrm>
          <a:prstGeom prst="rect">
            <a:avLst/>
          </a:prstGeom>
          <a:noFill/>
          <a:ln w="12700" cap="flat">
            <a:noFill/>
            <a:miter lim="400000"/>
          </a:ln>
          <a:effectLst/>
        </p:spPr>
        <p:txBody>
          <a:bodyPr wrap="square" lIns="0" tIns="0" rIns="0" bIns="0" numCol="1" anchor="ctr">
            <a:noAutofit/>
          </a:bodyPr>
          <a:lstStyle>
            <a:lvl1pPr defTabSz="584200">
              <a:lnSpc>
                <a:spcPct val="100000"/>
              </a:lnSpc>
              <a:spcBef>
                <a:spcPts val="0"/>
              </a:spcBef>
              <a:defRPr sz="3500" cap="all">
                <a:solidFill>
                  <a:srgbClr val="FFFFFF"/>
                </a:solidFill>
              </a:defRPr>
            </a:lvl1pPr>
          </a:lstStyle>
          <a:p>
            <a:pPr marL="0" marR="0" lvl="0" indent="0" algn="ctr" defTabSz="584200" rtl="0" eaLnBrk="1" fontAlgn="auto" latinLnBrk="0" hangingPunct="1">
              <a:lnSpc>
                <a:spcPct val="100000"/>
              </a:lnSpc>
              <a:spcBef>
                <a:spcPts val="0"/>
              </a:spcBef>
              <a:spcAft>
                <a:spcPts val="0"/>
              </a:spcAft>
              <a:buClrTx/>
              <a:buSzTx/>
              <a:buFontTx/>
              <a:buNone/>
              <a:defRPr/>
            </a:pPr>
            <a:r>
              <a:rPr kumimoji="0" lang="en-US" altLang="zh-CN"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04</a:t>
            </a:r>
            <a:endParaRPr kumimoji="0" sz="2000" b="0" i="0" u="none" strike="noStrike" kern="1200" cap="all"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sym typeface="+mn-lt"/>
            </a:endParaRPr>
          </a:p>
        </p:txBody>
      </p:sp>
      <p:sp>
        <p:nvSpPr>
          <p:cNvPr id="41" name="任意多边形 40"/>
          <p:cNvSpPr/>
          <p:nvPr/>
        </p:nvSpPr>
        <p:spPr bwMode="auto">
          <a:xfrm rot="10800000">
            <a:off x="3390398" y="1860112"/>
            <a:ext cx="2811671" cy="3890571"/>
          </a:xfrm>
          <a:custGeom>
            <a:avLst/>
            <a:gdLst>
              <a:gd name="connsiteX0" fmla="*/ 1300901 w 2601802"/>
              <a:gd name="connsiteY0" fmla="*/ 2941630 h 2941630"/>
              <a:gd name="connsiteX1" fmla="*/ 1103231 w 2601802"/>
              <a:gd name="connsiteY1" fmla="*/ 2896090 h 2941630"/>
              <a:gd name="connsiteX2" fmla="*/ 244975 w 2601802"/>
              <a:gd name="connsiteY2" fmla="*/ 2467674 h 2941630"/>
              <a:gd name="connsiteX3" fmla="*/ 0 w 2601802"/>
              <a:gd name="connsiteY3" fmla="*/ 2072992 h 2941630"/>
              <a:gd name="connsiteX4" fmla="*/ 0 w 2601802"/>
              <a:gd name="connsiteY4" fmla="*/ 1531860 h 2941630"/>
              <a:gd name="connsiteX5" fmla="*/ 0 w 2601802"/>
              <a:gd name="connsiteY5" fmla="*/ 1470815 h 2941630"/>
              <a:gd name="connsiteX6" fmla="*/ 0 w 2601802"/>
              <a:gd name="connsiteY6" fmla="*/ 1361042 h 2941630"/>
              <a:gd name="connsiteX7" fmla="*/ 0 w 2601802"/>
              <a:gd name="connsiteY7" fmla="*/ 868638 h 2941630"/>
              <a:gd name="connsiteX8" fmla="*/ 244975 w 2601802"/>
              <a:gd name="connsiteY8" fmla="*/ 473956 h 2941630"/>
              <a:gd name="connsiteX9" fmla="*/ 1103232 w 2601802"/>
              <a:gd name="connsiteY9" fmla="*/ 45540 h 2941630"/>
              <a:gd name="connsiteX10" fmla="*/ 1300901 w 2601802"/>
              <a:gd name="connsiteY10" fmla="*/ 0 h 2941630"/>
              <a:gd name="connsiteX11" fmla="*/ 1498571 w 2601802"/>
              <a:gd name="connsiteY11" fmla="*/ 45540 h 2941630"/>
              <a:gd name="connsiteX12" fmla="*/ 2356827 w 2601802"/>
              <a:gd name="connsiteY12" fmla="*/ 473956 h 2941630"/>
              <a:gd name="connsiteX13" fmla="*/ 2601802 w 2601802"/>
              <a:gd name="connsiteY13" fmla="*/ 868638 h 2941630"/>
              <a:gd name="connsiteX14" fmla="*/ 2601802 w 2601802"/>
              <a:gd name="connsiteY14" fmla="*/ 1409770 h 2941630"/>
              <a:gd name="connsiteX15" fmla="*/ 2601802 w 2601802"/>
              <a:gd name="connsiteY15" fmla="*/ 1470815 h 2941630"/>
              <a:gd name="connsiteX16" fmla="*/ 2601802 w 2601802"/>
              <a:gd name="connsiteY16" fmla="*/ 1580588 h 2941630"/>
              <a:gd name="connsiteX17" fmla="*/ 2601802 w 2601802"/>
              <a:gd name="connsiteY17" fmla="*/ 2072992 h 2941630"/>
              <a:gd name="connsiteX18" fmla="*/ 2356827 w 2601802"/>
              <a:gd name="connsiteY18" fmla="*/ 2467674 h 2941630"/>
              <a:gd name="connsiteX19" fmla="*/ 1498570 w 2601802"/>
              <a:gd name="connsiteY19" fmla="*/ 2896090 h 2941630"/>
              <a:gd name="connsiteX20" fmla="*/ 1300901 w 2601802"/>
              <a:gd name="connsiteY20" fmla="*/ 2941630 h 2941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01802" h="2941630">
                <a:moveTo>
                  <a:pt x="1300901" y="2941630"/>
                </a:moveTo>
                <a:cubicBezTo>
                  <a:pt x="1233321" y="2941630"/>
                  <a:pt x="1165742" y="2926450"/>
                  <a:pt x="1103231" y="2896090"/>
                </a:cubicBezTo>
                <a:cubicBezTo>
                  <a:pt x="244975" y="2467674"/>
                  <a:pt x="244975" y="2467674"/>
                  <a:pt x="244975" y="2467674"/>
                </a:cubicBezTo>
                <a:cubicBezTo>
                  <a:pt x="94611" y="2393460"/>
                  <a:pt x="0" y="2239972"/>
                  <a:pt x="0" y="2072992"/>
                </a:cubicBezTo>
                <a:cubicBezTo>
                  <a:pt x="0" y="1854145"/>
                  <a:pt x="0" y="1676333"/>
                  <a:pt x="0" y="1531860"/>
                </a:cubicBezTo>
                <a:lnTo>
                  <a:pt x="0" y="1470815"/>
                </a:lnTo>
                <a:lnTo>
                  <a:pt x="0" y="1361042"/>
                </a:lnTo>
                <a:cubicBezTo>
                  <a:pt x="0" y="868638"/>
                  <a:pt x="0" y="868638"/>
                  <a:pt x="0" y="868638"/>
                </a:cubicBezTo>
                <a:cubicBezTo>
                  <a:pt x="0" y="701658"/>
                  <a:pt x="94611" y="548170"/>
                  <a:pt x="244975" y="473956"/>
                </a:cubicBezTo>
                <a:cubicBezTo>
                  <a:pt x="1103232" y="45540"/>
                  <a:pt x="1103232" y="45540"/>
                  <a:pt x="1103232" y="45540"/>
                </a:cubicBezTo>
                <a:cubicBezTo>
                  <a:pt x="1165743" y="15180"/>
                  <a:pt x="1233322" y="0"/>
                  <a:pt x="1300901" y="0"/>
                </a:cubicBezTo>
                <a:cubicBezTo>
                  <a:pt x="1368481" y="0"/>
                  <a:pt x="1436060" y="15180"/>
                  <a:pt x="1498571" y="45540"/>
                </a:cubicBezTo>
                <a:cubicBezTo>
                  <a:pt x="2356827" y="473956"/>
                  <a:pt x="2356827" y="473956"/>
                  <a:pt x="2356827" y="473956"/>
                </a:cubicBezTo>
                <a:cubicBezTo>
                  <a:pt x="2507191" y="548170"/>
                  <a:pt x="2601802" y="701658"/>
                  <a:pt x="2601802" y="868638"/>
                </a:cubicBezTo>
                <a:cubicBezTo>
                  <a:pt x="2601802" y="1087485"/>
                  <a:pt x="2601802" y="1265297"/>
                  <a:pt x="2601802" y="1409770"/>
                </a:cubicBezTo>
                <a:lnTo>
                  <a:pt x="2601802" y="1470815"/>
                </a:lnTo>
                <a:lnTo>
                  <a:pt x="2601802" y="1580588"/>
                </a:lnTo>
                <a:cubicBezTo>
                  <a:pt x="2601802" y="2072992"/>
                  <a:pt x="2601802" y="2072992"/>
                  <a:pt x="2601802" y="2072992"/>
                </a:cubicBezTo>
                <a:cubicBezTo>
                  <a:pt x="2601802" y="2239972"/>
                  <a:pt x="2507191" y="2393460"/>
                  <a:pt x="2356827" y="2467674"/>
                </a:cubicBezTo>
                <a:cubicBezTo>
                  <a:pt x="1498570" y="2896090"/>
                  <a:pt x="1498570" y="2896090"/>
                  <a:pt x="1498570" y="2896090"/>
                </a:cubicBezTo>
                <a:cubicBezTo>
                  <a:pt x="1436059" y="2926450"/>
                  <a:pt x="1368480" y="2941630"/>
                  <a:pt x="1300901" y="2941630"/>
                </a:cubicBezTo>
                <a:close/>
              </a:path>
            </a:pathLst>
          </a:custGeom>
          <a:solidFill>
            <a:srgbClr val="9FACC3"/>
          </a:solidFill>
          <a:ln>
            <a:noFill/>
          </a:ln>
          <a:effectLst/>
        </p:spPr>
        <p:txBody>
          <a:bodyPr vert="horz" wrap="square" lIns="91440" tIns="45720" rIns="91440" bIns="45720" numCol="1"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153"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3"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4"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 name="TextBox 6"/>
          <p:cNvSpPr txBox="1"/>
          <p:nvPr/>
        </p:nvSpPr>
        <p:spPr>
          <a:xfrm>
            <a:off x="265096" y="1026457"/>
            <a:ext cx="1999826"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垂直领域</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 name="1"/>
          <p:cNvSpPr txBox="1">
            <a:spLocks noChangeArrowheads="1"/>
          </p:cNvSpPr>
          <p:nvPr/>
        </p:nvSpPr>
        <p:spPr bwMode="auto">
          <a:xfrm>
            <a:off x="913494" y="2376144"/>
            <a:ext cx="21564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0" marR="0" lvl="0" indent="0" algn="ctr" defTabSz="1216025" rtl="0" eaLnBrk="1" fontAlgn="auto" latinLnBrk="0" hangingPunct="1">
              <a:lnSpc>
                <a:spcPct val="100000"/>
              </a:lnSpc>
              <a:spcBef>
                <a:spcPct val="2000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rPr>
              <a:t>医学领域</a:t>
            </a:r>
            <a:endPar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endParaRPr>
          </a:p>
        </p:txBody>
      </p:sp>
      <p:sp>
        <p:nvSpPr>
          <p:cNvPr id="7" name="1"/>
          <p:cNvSpPr txBox="1">
            <a:spLocks noChangeArrowheads="1"/>
          </p:cNvSpPr>
          <p:nvPr/>
        </p:nvSpPr>
        <p:spPr bwMode="auto">
          <a:xfrm>
            <a:off x="621590" y="2877915"/>
            <a:ext cx="2811671" cy="2236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342900" marR="0" lvl="0" indent="-342900" defTabSz="1216025" rtl="0" eaLnBrk="1" fontAlgn="auto" latinLnBrk="0" hangingPunct="1">
              <a:lnSpc>
                <a:spcPct val="150000"/>
              </a:lnSpc>
              <a:spcBef>
                <a:spcPts val="0"/>
              </a:spcBef>
              <a:spcAft>
                <a:spcPts val="0"/>
              </a:spcAft>
              <a:buClrTx/>
              <a:buSzTx/>
              <a:buFont typeface="Wingdings" panose="05000000000000000000" pitchFamily="2" charset="2"/>
              <a:buChar char="l"/>
              <a:defRPr/>
            </a:pPr>
            <a:r>
              <a:rPr lang="zh-CN" altLang="en-US"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扁鹊、华佗、神农等</a:t>
            </a:r>
            <a:endParaRPr lang="en-US" altLang="zh-CN"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endParaRPr>
          </a:p>
          <a:p>
            <a:pPr marL="342900" indent="-342900">
              <a:lnSpc>
                <a:spcPct val="150000"/>
              </a:lnSpc>
              <a:buFont typeface="Wingdings" panose="05000000000000000000" pitchFamily="2" charset="2"/>
              <a:buChar char="l"/>
              <a:defRPr/>
            </a:pPr>
            <a:r>
              <a:rPr lang="zh-CN" altLang="zh-CN" sz="2000" dirty="0">
                <a:solidFill>
                  <a:schemeClr val="bg1"/>
                </a:solidFill>
                <a:latin typeface="楷体" panose="02010609060101010101" pitchFamily="49" charset="-122"/>
                <a:ea typeface="楷体" panose="02010609060101010101" pitchFamily="49" charset="-122"/>
              </a:rPr>
              <a:t>具备诊断能力，对话丝滑</a:t>
            </a:r>
            <a:r>
              <a:rPr lang="zh-CN" altLang="en-US" sz="2000" dirty="0">
                <a:solidFill>
                  <a:schemeClr val="bg1"/>
                </a:solidFill>
                <a:latin typeface="楷体" panose="02010609060101010101" pitchFamily="49" charset="-122"/>
                <a:ea typeface="楷体" panose="02010609060101010101" pitchFamily="49" charset="-122"/>
              </a:rPr>
              <a:t>，</a:t>
            </a:r>
            <a:r>
              <a:rPr lang="zh-CN" altLang="zh-CN" sz="2000" dirty="0">
                <a:solidFill>
                  <a:schemeClr val="bg1"/>
                </a:solidFill>
                <a:latin typeface="楷体" panose="02010609060101010101" pitchFamily="49" charset="-122"/>
                <a:ea typeface="楷体" panose="02010609060101010101" pitchFamily="49" charset="-122"/>
              </a:rPr>
              <a:t>提升模型在</a:t>
            </a:r>
            <a:r>
              <a:rPr lang="zh-CN" altLang="en-US" sz="2000" dirty="0">
                <a:solidFill>
                  <a:schemeClr val="bg1"/>
                </a:solidFill>
                <a:latin typeface="楷体" panose="02010609060101010101" pitchFamily="49" charset="-122"/>
                <a:ea typeface="楷体" panose="02010609060101010101" pitchFamily="49" charset="-122"/>
              </a:rPr>
              <a:t>医学</a:t>
            </a:r>
            <a:r>
              <a:rPr lang="zh-CN" altLang="zh-CN" sz="2000" dirty="0">
                <a:solidFill>
                  <a:schemeClr val="bg1"/>
                </a:solidFill>
                <a:latin typeface="楷体" panose="02010609060101010101" pitchFamily="49" charset="-122"/>
                <a:ea typeface="楷体" panose="02010609060101010101" pitchFamily="49" charset="-122"/>
              </a:rPr>
              <a:t>方面的知识与回答医学咨询的能力 </a:t>
            </a:r>
            <a:endParaRPr lang="en-US" altLang="zh-CN" sz="2000" dirty="0">
              <a:solidFill>
                <a:schemeClr val="bg1"/>
              </a:solidFill>
              <a:latin typeface="楷体" panose="02010609060101010101" pitchFamily="49" charset="-122"/>
              <a:ea typeface="楷体" panose="02010609060101010101" pitchFamily="49" charset="-122"/>
              <a:sym typeface="+mn-ea"/>
            </a:endParaRPr>
          </a:p>
        </p:txBody>
      </p:sp>
      <p:sp>
        <p:nvSpPr>
          <p:cNvPr id="8" name="1"/>
          <p:cNvSpPr txBox="1">
            <a:spLocks noChangeArrowheads="1"/>
          </p:cNvSpPr>
          <p:nvPr/>
        </p:nvSpPr>
        <p:spPr bwMode="auto">
          <a:xfrm>
            <a:off x="3740368" y="2362774"/>
            <a:ext cx="21564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0" marR="0" lvl="0" indent="0" algn="ctr" defTabSz="1216025" rtl="0" eaLnBrk="1" fontAlgn="auto" latinLnBrk="0" hangingPunct="1">
              <a:lnSpc>
                <a:spcPct val="100000"/>
              </a:lnSpc>
              <a:spcBef>
                <a:spcPct val="20000"/>
              </a:spcBef>
              <a:spcAft>
                <a:spcPts val="0"/>
              </a:spcAft>
              <a:buClrTx/>
              <a:buSzTx/>
              <a:buFontTx/>
              <a:buNone/>
              <a:defRPr/>
            </a:pPr>
            <a:r>
              <a:rPr lang="zh-CN" altLang="en-US" sz="2400" b="1" dirty="0">
                <a:solidFill>
                  <a:prstClr val="white"/>
                </a:solidFill>
                <a:latin typeface="宋体" pitchFamily="2" charset="-122"/>
                <a:ea typeface="宋体" pitchFamily="2" charset="-122"/>
                <a:cs typeface="+mn-ea"/>
                <a:sym typeface="+mn-lt"/>
              </a:rPr>
              <a:t>法律</a:t>
            </a:r>
            <a:r>
              <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rPr>
              <a:t>领域</a:t>
            </a:r>
            <a:endPar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endParaRPr>
          </a:p>
        </p:txBody>
      </p:sp>
      <p:sp>
        <p:nvSpPr>
          <p:cNvPr id="9" name="1"/>
          <p:cNvSpPr txBox="1">
            <a:spLocks noChangeArrowheads="1"/>
          </p:cNvSpPr>
          <p:nvPr/>
        </p:nvSpPr>
        <p:spPr bwMode="auto">
          <a:xfrm>
            <a:off x="3412127" y="2833549"/>
            <a:ext cx="2768806" cy="2236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342900" marR="0" lvl="0" indent="-342900" defTabSz="1216025" rtl="0" eaLnBrk="1" fontAlgn="auto" latinLnBrk="0" hangingPunct="1">
              <a:lnSpc>
                <a:spcPct val="150000"/>
              </a:lnSpc>
              <a:spcBef>
                <a:spcPts val="0"/>
              </a:spcBef>
              <a:spcAft>
                <a:spcPts val="0"/>
              </a:spcAft>
              <a:buClrTx/>
              <a:buSzTx/>
              <a:buFont typeface="Wingdings" panose="05000000000000000000" pitchFamily="2" charset="2"/>
              <a:buChar char="l"/>
              <a:defRPr/>
            </a:pPr>
            <a:r>
              <a:rPr lang="en-GB" altLang="zh-CN"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ChatLaw</a:t>
            </a:r>
            <a:r>
              <a:rPr lang="zh-CN" altLang="en-GB"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a:t>
            </a:r>
            <a:r>
              <a:rPr lang="en-GB" altLang="zh-CN"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HanFei</a:t>
            </a:r>
            <a:r>
              <a:rPr lang="zh-CN" altLang="en-US"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a:t>
            </a:r>
            <a:r>
              <a:rPr lang="en-GB" altLang="zh-CN"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LaWGPT</a:t>
            </a:r>
            <a:r>
              <a:rPr lang="zh-CN" altLang="en-GB"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等</a:t>
            </a:r>
            <a:endParaRPr lang="en-US" altLang="zh-CN"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endParaRPr>
          </a:p>
          <a:p>
            <a:pPr marL="342900" indent="-342900">
              <a:lnSpc>
                <a:spcPct val="150000"/>
              </a:lnSpc>
              <a:buFont typeface="Wingdings" panose="05000000000000000000" pitchFamily="2" charset="2"/>
              <a:buChar char="l"/>
              <a:defRPr/>
            </a:pPr>
            <a:r>
              <a:rPr lang="zh-CN" altLang="en-US" sz="2000" dirty="0">
                <a:solidFill>
                  <a:schemeClr val="bg1"/>
                </a:solidFill>
                <a:latin typeface="楷体" panose="02010609060101010101" pitchFamily="49" charset="-122"/>
                <a:ea typeface="楷体" panose="02010609060101010101" pitchFamily="49" charset="-122"/>
              </a:rPr>
              <a:t>帮助解决法律问题，提升了模型对法律内容的理解和执行能力</a:t>
            </a:r>
            <a:endParaRPr lang="en-US" altLang="zh-CN" sz="2000" dirty="0">
              <a:solidFill>
                <a:schemeClr val="bg1"/>
              </a:solidFill>
              <a:latin typeface="楷体" panose="02010609060101010101" pitchFamily="49" charset="-122"/>
              <a:ea typeface="楷体" panose="02010609060101010101" pitchFamily="49" charset="-122"/>
              <a:sym typeface="+mn-ea"/>
            </a:endParaRPr>
          </a:p>
        </p:txBody>
      </p:sp>
      <p:sp>
        <p:nvSpPr>
          <p:cNvPr id="26" name="1"/>
          <p:cNvSpPr txBox="1">
            <a:spLocks noChangeArrowheads="1"/>
          </p:cNvSpPr>
          <p:nvPr/>
        </p:nvSpPr>
        <p:spPr bwMode="auto">
          <a:xfrm>
            <a:off x="6551566" y="2370973"/>
            <a:ext cx="21564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0" marR="0" lvl="0" indent="0" algn="ctr" defTabSz="1216025" rtl="0" eaLnBrk="1" fontAlgn="auto" latinLnBrk="0" hangingPunct="1">
              <a:lnSpc>
                <a:spcPct val="100000"/>
              </a:lnSpc>
              <a:spcBef>
                <a:spcPct val="2000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rPr>
              <a:t>金融领域</a:t>
            </a:r>
            <a:endPar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endParaRPr>
          </a:p>
        </p:txBody>
      </p:sp>
      <p:sp>
        <p:nvSpPr>
          <p:cNvPr id="27" name="1"/>
          <p:cNvSpPr txBox="1">
            <a:spLocks noChangeArrowheads="1"/>
          </p:cNvSpPr>
          <p:nvPr/>
        </p:nvSpPr>
        <p:spPr bwMode="auto">
          <a:xfrm>
            <a:off x="6223325" y="2841748"/>
            <a:ext cx="2768806" cy="2520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342900" marR="0" lvl="0" indent="-342900" defTabSz="1216025" rtl="0" eaLnBrk="1" fontAlgn="auto" latinLnBrk="0" hangingPunct="1">
              <a:lnSpc>
                <a:spcPct val="150000"/>
              </a:lnSpc>
              <a:spcBef>
                <a:spcPts val="0"/>
              </a:spcBef>
              <a:spcAft>
                <a:spcPts val="0"/>
              </a:spcAft>
              <a:buClrTx/>
              <a:buSzTx/>
              <a:buFont typeface="Wingdings" panose="05000000000000000000" pitchFamily="2" charset="2"/>
              <a:buChar char="l"/>
              <a:defRPr/>
            </a:pPr>
            <a:r>
              <a:rPr lang="en-GB" altLang="zh-CN"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Cornucopia </a:t>
            </a:r>
            <a:r>
              <a:rPr lang="en-GB" altLang="zh-CN"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a:t>
            </a:r>
            <a:r>
              <a:rPr lang="zh-CN" altLang="en-US"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聚宝盆）</a:t>
            </a:r>
            <a:r>
              <a:rPr lang="zh-CN" altLang="en-US"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a:t>
            </a:r>
            <a:r>
              <a:rPr lang="en-GB" altLang="zh-CN"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XuanYuan (</a:t>
            </a:r>
            <a:r>
              <a:rPr lang="zh-CN" altLang="en-US"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轩辕）</a:t>
            </a:r>
            <a:r>
              <a:rPr lang="zh-CN" altLang="en-GB"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等</a:t>
            </a:r>
            <a:endParaRPr lang="en-US" altLang="zh-CN"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endParaRPr>
          </a:p>
          <a:p>
            <a:pPr marL="342900" indent="-342900">
              <a:lnSpc>
                <a:spcPct val="150000"/>
              </a:lnSpc>
              <a:buFont typeface="Wingdings" panose="05000000000000000000" pitchFamily="2" charset="2"/>
              <a:buChar char="l"/>
              <a:defRPr/>
            </a:pPr>
            <a:r>
              <a:rPr lang="zh-CN" altLang="en-US" dirty="0">
                <a:solidFill>
                  <a:schemeClr val="bg1"/>
                </a:solidFill>
                <a:latin typeface="楷体" panose="02010609060101010101" pitchFamily="49" charset="-122"/>
                <a:ea typeface="楷体" panose="02010609060101010101" pitchFamily="49" charset="-122"/>
              </a:rPr>
              <a:t>提高了</a:t>
            </a:r>
            <a:r>
              <a:rPr lang="en-GB" altLang="zh-CN" dirty="0">
                <a:solidFill>
                  <a:schemeClr val="bg1"/>
                </a:solidFill>
                <a:latin typeface="楷体" panose="02010609060101010101" pitchFamily="49" charset="-122"/>
                <a:ea typeface="楷体" panose="02010609060101010101" pitchFamily="49" charset="-122"/>
              </a:rPr>
              <a:t>Llama</a:t>
            </a:r>
            <a:r>
              <a:rPr lang="zh-CN" altLang="en-US" dirty="0">
                <a:solidFill>
                  <a:schemeClr val="bg1"/>
                </a:solidFill>
                <a:latin typeface="楷体" panose="02010609060101010101" pitchFamily="49" charset="-122"/>
                <a:ea typeface="楷体" panose="02010609060101010101" pitchFamily="49" charset="-122"/>
              </a:rPr>
              <a:t>在金融领域的问答效果，可应用于金融新闻自动化、市场             </a:t>
            </a:r>
            <a:endParaRPr lang="en-US" altLang="zh-CN" dirty="0">
              <a:solidFill>
                <a:schemeClr val="bg1"/>
              </a:solidFill>
              <a:latin typeface="楷体" panose="02010609060101010101" pitchFamily="49" charset="-122"/>
              <a:ea typeface="楷体" panose="02010609060101010101" pitchFamily="49" charset="-122"/>
            </a:endParaRPr>
          </a:p>
          <a:p>
            <a:pPr>
              <a:lnSpc>
                <a:spcPct val="150000"/>
              </a:lnSpc>
              <a:defRPr/>
            </a:pPr>
            <a:r>
              <a:rPr lang="zh-CN" altLang="en-US" dirty="0">
                <a:solidFill>
                  <a:schemeClr val="bg1"/>
                </a:solidFill>
                <a:latin typeface="楷体" panose="02010609060101010101" pitchFamily="49" charset="-122"/>
                <a:ea typeface="楷体" panose="02010609060101010101" pitchFamily="49" charset="-122"/>
              </a:rPr>
              <a:t>         分析报告</a:t>
            </a:r>
            <a:endParaRPr lang="en-US" altLang="zh-CN" dirty="0">
              <a:solidFill>
                <a:schemeClr val="bg1"/>
              </a:solidFill>
              <a:latin typeface="楷体" panose="02010609060101010101" pitchFamily="49" charset="-122"/>
              <a:ea typeface="楷体" panose="02010609060101010101" pitchFamily="49" charset="-122"/>
              <a:sym typeface="+mn-ea"/>
            </a:endParaRPr>
          </a:p>
        </p:txBody>
      </p:sp>
      <p:sp>
        <p:nvSpPr>
          <p:cNvPr id="30" name="1"/>
          <p:cNvSpPr txBox="1">
            <a:spLocks noChangeArrowheads="1"/>
          </p:cNvSpPr>
          <p:nvPr/>
        </p:nvSpPr>
        <p:spPr bwMode="auto">
          <a:xfrm>
            <a:off x="9417439" y="2371710"/>
            <a:ext cx="21564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0" marR="0" lvl="0" indent="0" algn="ctr" defTabSz="1216025" rtl="0" eaLnBrk="1" fontAlgn="auto" latinLnBrk="0" hangingPunct="1">
              <a:lnSpc>
                <a:spcPct val="100000"/>
              </a:lnSpc>
              <a:spcBef>
                <a:spcPct val="20000"/>
              </a:spcBef>
              <a:spcAft>
                <a:spcPts val="0"/>
              </a:spcAft>
              <a:buClrTx/>
              <a:buSzTx/>
              <a:buFontTx/>
              <a:buNone/>
              <a:defRPr/>
            </a:pPr>
            <a:r>
              <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rPr>
              <a:t>古籍领域</a:t>
            </a:r>
            <a:endParaRPr kumimoji="0" lang="zh-CN" altLang="en-US" sz="2400" b="1" i="0" u="none" strike="noStrike" kern="1200" cap="none" spc="0" normalizeH="0" baseline="0" noProof="0" dirty="0">
              <a:ln>
                <a:noFill/>
              </a:ln>
              <a:solidFill>
                <a:prstClr val="white"/>
              </a:solidFill>
              <a:effectLst/>
              <a:uLnTx/>
              <a:uFillTx/>
              <a:latin typeface="宋体" pitchFamily="2" charset="-122"/>
              <a:ea typeface="宋体" pitchFamily="2" charset="-122"/>
              <a:cs typeface="+mn-ea"/>
              <a:sym typeface="+mn-lt"/>
            </a:endParaRPr>
          </a:p>
        </p:txBody>
      </p:sp>
      <p:sp>
        <p:nvSpPr>
          <p:cNvPr id="33" name="1"/>
          <p:cNvSpPr txBox="1">
            <a:spLocks noChangeArrowheads="1"/>
          </p:cNvSpPr>
          <p:nvPr/>
        </p:nvSpPr>
        <p:spPr bwMode="auto">
          <a:xfrm>
            <a:off x="9089198" y="2842485"/>
            <a:ext cx="2768806" cy="2236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90204" pitchFamily="34" charset="0"/>
                <a:ea typeface="微软雅黑" panose="020B0503020204020204" pitchFamily="34" charset="-122"/>
              </a:defRPr>
            </a:lvl1pPr>
            <a:lvl2pPr marL="742950" indent="-285750" defTabSz="1216025">
              <a:defRPr>
                <a:solidFill>
                  <a:schemeClr val="tx1"/>
                </a:solidFill>
                <a:latin typeface="Arial" panose="020B0604020202090204" pitchFamily="34" charset="0"/>
                <a:ea typeface="微软雅黑" panose="020B0503020204020204" pitchFamily="34" charset="-122"/>
              </a:defRPr>
            </a:lvl2pPr>
            <a:lvl3pPr marL="1143000" indent="-228600" defTabSz="1216025">
              <a:defRPr>
                <a:solidFill>
                  <a:schemeClr val="tx1"/>
                </a:solidFill>
                <a:latin typeface="Arial" panose="020B0604020202090204" pitchFamily="34" charset="0"/>
                <a:ea typeface="微软雅黑" panose="020B0503020204020204" pitchFamily="34" charset="-122"/>
              </a:defRPr>
            </a:lvl3pPr>
            <a:lvl4pPr marL="1600200" indent="-228600" defTabSz="1216025">
              <a:defRPr>
                <a:solidFill>
                  <a:schemeClr val="tx1"/>
                </a:solidFill>
                <a:latin typeface="Arial" panose="020B0604020202090204" pitchFamily="34" charset="0"/>
                <a:ea typeface="微软雅黑" panose="020B0503020204020204" pitchFamily="34" charset="-122"/>
              </a:defRPr>
            </a:lvl4pPr>
            <a:lvl5pPr marL="2057400" indent="-228600" defTabSz="1216025">
              <a:defRPr>
                <a:solidFill>
                  <a:schemeClr val="tx1"/>
                </a:solidFill>
                <a:latin typeface="Arial" panose="020B060402020209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90204" pitchFamily="34" charset="0"/>
              <a:defRPr>
                <a:solidFill>
                  <a:schemeClr val="tx1"/>
                </a:solidFill>
                <a:latin typeface="Arial" panose="020B0604020202090204" pitchFamily="34" charset="0"/>
                <a:ea typeface="微软雅黑" panose="020B0503020204020204" pitchFamily="34" charset="-122"/>
              </a:defRPr>
            </a:lvl9pPr>
          </a:lstStyle>
          <a:p>
            <a:pPr marL="342900" marR="0" lvl="0" indent="-342900" defTabSz="1216025" rtl="0" eaLnBrk="1" fontAlgn="auto" latinLnBrk="0" hangingPunct="1">
              <a:lnSpc>
                <a:spcPct val="150000"/>
              </a:lnSpc>
              <a:spcBef>
                <a:spcPts val="0"/>
              </a:spcBef>
              <a:spcAft>
                <a:spcPts val="0"/>
              </a:spcAft>
              <a:buClrTx/>
              <a:buSzTx/>
              <a:buFont typeface="Wingdings" panose="05000000000000000000" pitchFamily="2" charset="2"/>
              <a:buChar char="l"/>
              <a:defRPr/>
            </a:pPr>
            <a:r>
              <a:rPr lang="en-GB" altLang="zh-CN"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Xunzi</a:t>
            </a:r>
            <a:r>
              <a:rPr lang="zh-CN" altLang="en-US"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a:t>
            </a:r>
            <a:r>
              <a:rPr lang="en-GB" altLang="zh-CN"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AI</a:t>
            </a:r>
            <a:r>
              <a:rPr lang="zh-CN" altLang="en-US"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rPr>
              <a:t>太炎等</a:t>
            </a:r>
            <a:endParaRPr lang="en-US" altLang="zh-CN" sz="2000" dirty="0">
              <a:solidFill>
                <a:schemeClr val="bg1"/>
              </a:solidFill>
              <a:latin typeface="楷体" panose="02010609060101010101" pitchFamily="49" charset="-122"/>
              <a:ea typeface="楷体" panose="02010609060101010101" pitchFamily="49" charset="-122"/>
              <a:cs typeface="思源宋体" panose="02020400000000000000" charset="-122"/>
              <a:sym typeface="+mn-ea"/>
            </a:endParaRPr>
          </a:p>
          <a:p>
            <a:pPr marL="342900" marR="0" lvl="0" indent="-342900" defTabSz="1216025" rtl="0" eaLnBrk="1" fontAlgn="auto" latinLnBrk="0" hangingPunct="1">
              <a:lnSpc>
                <a:spcPct val="150000"/>
              </a:lnSpc>
              <a:spcBef>
                <a:spcPts val="0"/>
              </a:spcBef>
              <a:spcAft>
                <a:spcPts val="0"/>
              </a:spcAft>
              <a:buClrTx/>
              <a:buSzTx/>
              <a:buFont typeface="Wingdings" panose="05000000000000000000" pitchFamily="2" charset="2"/>
              <a:buChar char="l"/>
              <a:defRPr/>
            </a:pPr>
            <a:r>
              <a:rPr lang="zh-CN" altLang="en-US" sz="2000" dirty="0">
                <a:solidFill>
                  <a:schemeClr val="bg1"/>
                </a:solidFill>
                <a:latin typeface="楷体" panose="02010609060101010101" pitchFamily="49" charset="-122"/>
                <a:ea typeface="楷体" panose="02010609060101010101" pitchFamily="49" charset="-122"/>
                <a:sym typeface="+mn-ea"/>
              </a:rPr>
              <a:t>可用于古籍智能处理与研究，功能包括：</a:t>
            </a:r>
            <a:r>
              <a:rPr lang="zh-CN" altLang="zh-CN" sz="2000" dirty="0">
                <a:solidFill>
                  <a:schemeClr val="bg1"/>
                </a:solidFill>
                <a:latin typeface="楷体" panose="02010609060101010101" pitchFamily="49" charset="-122"/>
                <a:ea typeface="楷体" panose="02010609060101010101" pitchFamily="49" charset="-122"/>
              </a:rPr>
              <a:t>智能标引、信息抽取、诗歌生成</a:t>
            </a:r>
            <a:r>
              <a:rPr lang="zh-CN" altLang="en-US" sz="2000" dirty="0">
                <a:solidFill>
                  <a:schemeClr val="bg1"/>
                </a:solidFill>
                <a:latin typeface="楷体" panose="02010609060101010101" pitchFamily="49" charset="-122"/>
                <a:ea typeface="楷体" panose="02010609060101010101" pitchFamily="49" charset="-122"/>
              </a:rPr>
              <a:t>等</a:t>
            </a:r>
            <a:endParaRPr lang="en-US" altLang="zh-CN" sz="2000" dirty="0">
              <a:solidFill>
                <a:schemeClr val="bg1"/>
              </a:solidFill>
              <a:latin typeface="楷体" panose="02010609060101010101" pitchFamily="49" charset="-122"/>
              <a:ea typeface="楷体" panose="02010609060101010101" pitchFamily="49"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4" name="矩形 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5"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2"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3"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学论网-矩形 1"/>
          <p:cNvSpPr/>
          <p:nvPr/>
        </p:nvSpPr>
        <p:spPr>
          <a:xfrm>
            <a:off x="846679" y="1567819"/>
            <a:ext cx="10124711" cy="4134193"/>
          </a:xfrm>
          <a:prstGeom prst="rect">
            <a:avLst/>
          </a:prstGeom>
          <a:noFill/>
          <a:ln w="12700" cap="flat" cmpd="sng" algn="ctr">
            <a:solidFill>
              <a:srgbClr val="557199"/>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16" name="学论网-www.xuelun.me"/>
          <p:cNvSpPr txBox="1"/>
          <p:nvPr/>
        </p:nvSpPr>
        <p:spPr>
          <a:xfrm>
            <a:off x="892508" y="1905889"/>
            <a:ext cx="10180539" cy="3351367"/>
          </a:xfrm>
          <a:prstGeom prst="rect">
            <a:avLst/>
          </a:prstGeom>
          <a:noFill/>
          <a:ln>
            <a:noFill/>
          </a:ln>
        </p:spPr>
        <p:txBody>
          <a:bodyPr wrap="square" lIns="0" tIns="0" rIns="0" bIns="0" rtlCol="0">
            <a:spAutoFit/>
          </a:bodyPr>
          <a:lstStyle/>
          <a:p>
            <a:pPr marL="539750" indent="-342900" fontAlgn="auto">
              <a:lnSpc>
                <a:spcPct val="150000"/>
              </a:lnSpc>
              <a:buFont typeface="Arial" panose="020B0604020202090204" pitchFamily="34" charset="0"/>
              <a:buChar char="•"/>
            </a:pPr>
            <a:r>
              <a:rPr lang="zh-CN" altLang="en-US" sz="2000" dirty="0">
                <a:solidFill>
                  <a:srgbClr val="595959"/>
                </a:solidFill>
                <a:latin typeface="楷体" panose="02010609060101010101" pitchFamily="49" charset="-122"/>
                <a:ea typeface="楷体" panose="02010609060101010101" pitchFamily="49" charset="-122"/>
                <a:sym typeface="+mn-ea"/>
              </a:rPr>
              <a:t>古籍研究通常涉及大量的文本分析、信息提取和知识整合工作。</a:t>
            </a:r>
            <a:endParaRPr lang="en-US" altLang="zh-CN" sz="2000" dirty="0">
              <a:solidFill>
                <a:srgbClr val="595959"/>
              </a:solidFill>
              <a:latin typeface="楷体" panose="02010609060101010101" pitchFamily="49" charset="-122"/>
              <a:ea typeface="楷体" panose="02010609060101010101" pitchFamily="49" charset="-122"/>
              <a:sym typeface="+mn-ea"/>
            </a:endParaRPr>
          </a:p>
          <a:p>
            <a:pPr marL="996950" lvl="1" indent="-342900">
              <a:lnSpc>
                <a:spcPct val="150000"/>
              </a:lnSpc>
              <a:buFont typeface="Arial" panose="020B0604020202090204" pitchFamily="34" charset="0"/>
              <a:buChar char="•"/>
            </a:pPr>
            <a:r>
              <a:rPr lang="zh-CN" altLang="en-US" dirty="0">
                <a:solidFill>
                  <a:srgbClr val="595959"/>
                </a:solidFill>
                <a:latin typeface="楷体" panose="02010609060101010101" pitchFamily="49" charset="-122"/>
                <a:ea typeface="楷体" panose="02010609060101010101" pitchFamily="49" charset="-122"/>
                <a:sym typeface="+mn-ea"/>
              </a:rPr>
              <a:t>传统方法依赖于人工，效率低下且容易出现错误；</a:t>
            </a:r>
            <a:endParaRPr lang="en-US" altLang="zh-CN" dirty="0">
              <a:solidFill>
                <a:srgbClr val="595959"/>
              </a:solidFill>
              <a:latin typeface="楷体" panose="02010609060101010101" pitchFamily="49" charset="-122"/>
              <a:ea typeface="楷体" panose="02010609060101010101" pitchFamily="49" charset="-122"/>
              <a:sym typeface="+mn-ea"/>
            </a:endParaRPr>
          </a:p>
          <a:p>
            <a:pPr marL="996950" lvl="1" indent="-342900">
              <a:lnSpc>
                <a:spcPct val="150000"/>
              </a:lnSpc>
              <a:buFont typeface="Arial" panose="020B0604020202090204" pitchFamily="34" charset="0"/>
              <a:buChar char="•"/>
            </a:pPr>
            <a:r>
              <a:rPr lang="zh-CN" altLang="en-US" dirty="0">
                <a:solidFill>
                  <a:srgbClr val="595959"/>
                </a:solidFill>
                <a:latin typeface="楷体" panose="02010609060101010101" pitchFamily="49" charset="-122"/>
                <a:ea typeface="楷体" panose="02010609060101010101" pitchFamily="49" charset="-122"/>
                <a:sym typeface="+mn-ea"/>
              </a:rPr>
              <a:t>古文中使用的词汇、句式和语法结构难以理解；</a:t>
            </a:r>
            <a:endParaRPr lang="en-US" altLang="zh-CN" dirty="0">
              <a:solidFill>
                <a:srgbClr val="595959"/>
              </a:solidFill>
              <a:latin typeface="楷体" panose="02010609060101010101" pitchFamily="49" charset="-122"/>
              <a:ea typeface="楷体" panose="02010609060101010101" pitchFamily="49" charset="-122"/>
              <a:sym typeface="+mn-ea"/>
            </a:endParaRPr>
          </a:p>
          <a:p>
            <a:pPr marL="996950" lvl="1" indent="-342900">
              <a:lnSpc>
                <a:spcPct val="150000"/>
              </a:lnSpc>
              <a:buFont typeface="Arial" panose="020B0604020202090204" pitchFamily="34" charset="0"/>
              <a:buChar char="•"/>
            </a:pPr>
            <a:r>
              <a:rPr lang="zh-CN" altLang="en-US" dirty="0">
                <a:solidFill>
                  <a:srgbClr val="595959"/>
                </a:solidFill>
                <a:latin typeface="楷体" panose="02010609060101010101" pitchFamily="49" charset="-122"/>
                <a:ea typeface="楷体" panose="02010609060101010101" pitchFamily="49" charset="-122"/>
                <a:sym typeface="+mn-ea"/>
              </a:rPr>
              <a:t>且古籍数量庞大，缺乏系统化的数字化管理。</a:t>
            </a:r>
            <a:endParaRPr lang="en-US" altLang="zh-CN" dirty="0">
              <a:solidFill>
                <a:srgbClr val="595959"/>
              </a:solidFill>
              <a:latin typeface="楷体" panose="02010609060101010101" pitchFamily="49" charset="-122"/>
              <a:ea typeface="楷体" panose="02010609060101010101" pitchFamily="49" charset="-122"/>
              <a:sym typeface="+mn-ea"/>
            </a:endParaRPr>
          </a:p>
          <a:p>
            <a:pPr marL="539750" indent="-342900" fontAlgn="auto">
              <a:lnSpc>
                <a:spcPct val="150000"/>
              </a:lnSpc>
              <a:buFont typeface="Arial" panose="020B0604020202090204" pitchFamily="34" charset="0"/>
              <a:buChar char="•"/>
            </a:pPr>
            <a:r>
              <a:rPr lang="zh-CN" altLang="en-US" sz="2000" dirty="0">
                <a:solidFill>
                  <a:srgbClr val="595959"/>
                </a:solidFill>
                <a:latin typeface="楷体" panose="02010609060101010101" pitchFamily="49" charset="-122"/>
                <a:ea typeface="楷体" panose="02010609060101010101" pitchFamily="49" charset="-122"/>
                <a:sym typeface="+mn-ea"/>
              </a:rPr>
              <a:t>大模型在古籍处理领域的应用。</a:t>
            </a:r>
            <a:endParaRPr lang="zh-CN" altLang="en-US" sz="2000" dirty="0">
              <a:solidFill>
                <a:srgbClr val="595959"/>
              </a:solidFill>
              <a:latin typeface="楷体" panose="02010609060101010101" pitchFamily="49" charset="-122"/>
              <a:ea typeface="楷体" panose="02010609060101010101" pitchFamily="49" charset="-122"/>
              <a:sym typeface="+mn-ea"/>
            </a:endParaRPr>
          </a:p>
          <a:p>
            <a:pPr marL="996950" lvl="1" indent="-342900" fontAlgn="auto">
              <a:lnSpc>
                <a:spcPct val="150000"/>
              </a:lnSpc>
              <a:buFont typeface="Arial" panose="020B0604020202090204" pitchFamily="34" charset="0"/>
              <a:buChar char="•"/>
            </a:pPr>
            <a:r>
              <a:rPr lang="zh-CN" altLang="en-US" dirty="0">
                <a:solidFill>
                  <a:srgbClr val="595959"/>
                </a:solidFill>
                <a:latin typeface="楷体" panose="02010609060101010101" pitchFamily="49" charset="-122"/>
                <a:ea typeface="楷体" panose="02010609060101010101" pitchFamily="49" charset="-122"/>
                <a:sym typeface="+mn-ea"/>
              </a:rPr>
              <a:t>古籍文本数字化与高精度识别，使用多模态模型处理扫描图像；</a:t>
            </a:r>
            <a:endParaRPr lang="en-US" altLang="zh-CN" dirty="0">
              <a:solidFill>
                <a:srgbClr val="595959"/>
              </a:solidFill>
              <a:latin typeface="楷体" panose="02010609060101010101" pitchFamily="49" charset="-122"/>
              <a:ea typeface="楷体" panose="02010609060101010101" pitchFamily="49" charset="-122"/>
              <a:sym typeface="+mn-ea"/>
            </a:endParaRPr>
          </a:p>
          <a:p>
            <a:pPr marL="996950" lvl="1" indent="-342900" fontAlgn="auto">
              <a:lnSpc>
                <a:spcPct val="150000"/>
              </a:lnSpc>
              <a:buFont typeface="Arial" panose="020B0604020202090204" pitchFamily="34" charset="0"/>
              <a:buChar char="•"/>
            </a:pPr>
            <a:r>
              <a:rPr lang="zh-CN" altLang="en-US" dirty="0">
                <a:solidFill>
                  <a:srgbClr val="595959"/>
                </a:solidFill>
                <a:latin typeface="楷体" panose="02010609060101010101" pitchFamily="49" charset="-122"/>
                <a:ea typeface="楷体" panose="02010609060101010101" pitchFamily="49" charset="-122"/>
                <a:sym typeface="+mn-ea"/>
              </a:rPr>
              <a:t>古籍内容翻译与语义解析；</a:t>
            </a:r>
            <a:endParaRPr lang="en-US" altLang="zh-CN" dirty="0">
              <a:solidFill>
                <a:srgbClr val="595959"/>
              </a:solidFill>
              <a:latin typeface="楷体" panose="02010609060101010101" pitchFamily="49" charset="-122"/>
              <a:ea typeface="楷体" panose="02010609060101010101" pitchFamily="49" charset="-122"/>
              <a:sym typeface="+mn-ea"/>
            </a:endParaRPr>
          </a:p>
          <a:p>
            <a:pPr marL="996950" lvl="1" indent="-342900" fontAlgn="auto">
              <a:lnSpc>
                <a:spcPct val="150000"/>
              </a:lnSpc>
              <a:buFont typeface="Arial" panose="020B0604020202090204" pitchFamily="34" charset="0"/>
              <a:buChar char="•"/>
            </a:pPr>
            <a:r>
              <a:rPr lang="zh-CN" altLang="en-US" dirty="0">
                <a:solidFill>
                  <a:srgbClr val="595959"/>
                </a:solidFill>
                <a:latin typeface="楷体" panose="02010609060101010101" pitchFamily="49" charset="-122"/>
                <a:ea typeface="楷体" panose="02010609060101010101" pitchFamily="49" charset="-122"/>
                <a:sym typeface="+mn-ea"/>
              </a:rPr>
              <a:t>古籍知识挖掘与知识图谱构建。</a:t>
            </a:r>
            <a:endParaRPr lang="en-US" altLang="zh-CN" dirty="0">
              <a:solidFill>
                <a:srgbClr val="595959"/>
              </a:solidFill>
              <a:latin typeface="楷体" panose="02010609060101010101" pitchFamily="49" charset="-122"/>
              <a:ea typeface="楷体" panose="02010609060101010101" pitchFamily="49" charset="-122"/>
              <a:sym typeface="+mn-ea"/>
            </a:endParaRPr>
          </a:p>
        </p:txBody>
      </p:sp>
      <p:sp>
        <p:nvSpPr>
          <p:cNvPr id="17" name="矩形 16"/>
          <p:cNvSpPr/>
          <p:nvPr/>
        </p:nvSpPr>
        <p:spPr>
          <a:xfrm>
            <a:off x="846679" y="1567819"/>
            <a:ext cx="10152625" cy="4134193"/>
          </a:xfrm>
          <a:prstGeom prst="rect">
            <a:avLst/>
          </a:prstGeom>
          <a:noFill/>
          <a:ln w="6350">
            <a:solidFill>
              <a:srgbClr val="9FAC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斜纹 17"/>
          <p:cNvSpPr/>
          <p:nvPr/>
        </p:nvSpPr>
        <p:spPr>
          <a:xfrm>
            <a:off x="818765" y="154611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斜纹 18"/>
          <p:cNvSpPr/>
          <p:nvPr/>
        </p:nvSpPr>
        <p:spPr>
          <a:xfrm rot="10800000">
            <a:off x="10639531" y="534383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1713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245664" y="1925639"/>
            <a:ext cx="9939171" cy="4647267"/>
          </a:xfrm>
          <a:prstGeom prst="rect">
            <a:avLst/>
          </a:prstGeom>
          <a:noFill/>
          <a:ln w="6350">
            <a:solidFill>
              <a:srgbClr val="9FAC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斜纹 19"/>
          <p:cNvSpPr/>
          <p:nvPr/>
        </p:nvSpPr>
        <p:spPr>
          <a:xfrm>
            <a:off x="1217750" y="190393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斜纹 20"/>
          <p:cNvSpPr/>
          <p:nvPr/>
        </p:nvSpPr>
        <p:spPr>
          <a:xfrm rot="10800000">
            <a:off x="10801328" y="6213133"/>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矩形 22"/>
          <p:cNvSpPr/>
          <p:nvPr/>
        </p:nvSpPr>
        <p:spPr>
          <a:xfrm>
            <a:off x="1559495" y="2073138"/>
            <a:ext cx="9573691" cy="4175182"/>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zh-CN" altLang="zh-CN"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信息抽取</a:t>
            </a:r>
            <a:r>
              <a:rPr lang="zh-CN" altLang="en-US"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：旨在从非结构化或半结构化文本中识别出结构化的信息。</a:t>
            </a:r>
            <a:r>
              <a:rPr lang="zh-CN" altLang="zh-CN"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这对于古籍研究尤为重要，因为古籍中的信息往往</a:t>
            </a:r>
            <a:r>
              <a:rPr lang="zh-CN" altLang="zh-CN" sz="2000" b="1"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分散</a:t>
            </a:r>
            <a:r>
              <a:rPr lang="zh-CN" altLang="zh-CN"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且</a:t>
            </a:r>
            <a:r>
              <a:rPr lang="zh-CN" altLang="zh-CN" sz="2000" b="1"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难以获取</a:t>
            </a:r>
            <a:r>
              <a:rPr lang="zh-CN" altLang="en-US" sz="2000" b="1"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a:t>
            </a:r>
            <a:r>
              <a:rPr lang="zh-CN" altLang="en-US"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古籍中的</a:t>
            </a:r>
            <a:r>
              <a:rPr lang="zh-CN" altLang="en-US" sz="2000" b="1"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关键信息</a:t>
            </a:r>
            <a:r>
              <a:rPr lang="zh-CN" altLang="en-US"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很多时候是</a:t>
            </a:r>
            <a:r>
              <a:rPr lang="zh-CN" altLang="en-US" sz="2000" b="1"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省略</a:t>
            </a:r>
            <a:r>
              <a:rPr lang="zh-CN" altLang="en-US"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的</a:t>
            </a:r>
            <a:r>
              <a:rPr lang="zh-CN" altLang="en-US"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rPr>
              <a:t>。</a:t>
            </a:r>
            <a:endParaRPr lang="en-US" altLang="zh-CN"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endParaRPr>
          </a:p>
          <a:p>
            <a:pPr marL="342900" indent="-342900" algn="just">
              <a:lnSpc>
                <a:spcPct val="150000"/>
              </a:lnSpc>
              <a:buFont typeface="Wingdings" panose="05000000000000000000" pitchFamily="2" charset="2"/>
              <a:buChar char="l"/>
            </a:pPr>
            <a:r>
              <a:rPr lang="en-US" altLang="zh-CN" sz="2000" dirty="0">
                <a:solidFill>
                  <a:srgbClr val="595959"/>
                </a:solidFill>
                <a:latin typeface="楷体" panose="02010609060101010101" pitchFamily="49" charset="-122"/>
                <a:ea typeface="楷体" panose="02010609060101010101" pitchFamily="49" charset="-122"/>
              </a:rPr>
              <a:t>LLMs</a:t>
            </a:r>
            <a:r>
              <a:rPr lang="zh-CN" altLang="en-US" sz="2000" dirty="0">
                <a:solidFill>
                  <a:srgbClr val="595959"/>
                </a:solidFill>
                <a:latin typeface="楷体" panose="02010609060101010101" pitchFamily="49" charset="-122"/>
                <a:ea typeface="楷体" panose="02010609060101010101" pitchFamily="49" charset="-122"/>
              </a:rPr>
              <a:t>通过捕捉任务间的相互依赖关系，并通过指导性提示实现的效果。在命名实体识别（</a:t>
            </a:r>
            <a:r>
              <a:rPr lang="en-US" altLang="zh-CN" sz="2000" dirty="0">
                <a:solidFill>
                  <a:srgbClr val="595959"/>
                </a:solidFill>
                <a:latin typeface="楷体" panose="02010609060101010101" pitchFamily="49" charset="-122"/>
                <a:ea typeface="楷体" panose="02010609060101010101" pitchFamily="49" charset="-122"/>
              </a:rPr>
              <a:t>NER</a:t>
            </a:r>
            <a:r>
              <a:rPr lang="zh-CN" altLang="en-US" sz="2000" dirty="0">
                <a:solidFill>
                  <a:srgbClr val="595959"/>
                </a:solidFill>
                <a:latin typeface="楷体" panose="02010609060101010101" pitchFamily="49" charset="-122"/>
                <a:ea typeface="楷体" panose="02010609060101010101" pitchFamily="49" charset="-122"/>
              </a:rPr>
              <a:t>）、关系抽取（</a:t>
            </a:r>
            <a:r>
              <a:rPr lang="en-US" altLang="zh-CN" sz="2000" dirty="0">
                <a:solidFill>
                  <a:srgbClr val="595959"/>
                </a:solidFill>
                <a:latin typeface="楷体" panose="02010609060101010101" pitchFamily="49" charset="-122"/>
                <a:ea typeface="楷体" panose="02010609060101010101" pitchFamily="49" charset="-122"/>
              </a:rPr>
              <a:t>RE</a:t>
            </a:r>
            <a:r>
              <a:rPr lang="zh-CN" altLang="en-US" sz="2000" dirty="0">
                <a:solidFill>
                  <a:srgbClr val="595959"/>
                </a:solidFill>
                <a:latin typeface="楷体" panose="02010609060101010101" pitchFamily="49" charset="-122"/>
                <a:ea typeface="楷体" panose="02010609060101010101" pitchFamily="49" charset="-122"/>
              </a:rPr>
              <a:t>）和事件抽取（</a:t>
            </a:r>
            <a:r>
              <a:rPr lang="en-US" altLang="zh-CN" sz="2000" dirty="0">
                <a:solidFill>
                  <a:srgbClr val="595959"/>
                </a:solidFill>
                <a:latin typeface="楷体" panose="02010609060101010101" pitchFamily="49" charset="-122"/>
                <a:ea typeface="楷体" panose="02010609060101010101" pitchFamily="49" charset="-122"/>
              </a:rPr>
              <a:t>EE</a:t>
            </a:r>
            <a:r>
              <a:rPr lang="zh-CN" altLang="en-US" sz="2000" dirty="0">
                <a:solidFill>
                  <a:srgbClr val="595959"/>
                </a:solidFill>
                <a:latin typeface="楷体" panose="02010609060101010101" pitchFamily="49" charset="-122"/>
                <a:ea typeface="楷体" panose="02010609060101010101" pitchFamily="49" charset="-122"/>
              </a:rPr>
              <a:t>）等单个</a:t>
            </a:r>
            <a:r>
              <a:rPr lang="en-US" altLang="zh-CN" sz="2000" dirty="0">
                <a:solidFill>
                  <a:srgbClr val="595959"/>
                </a:solidFill>
                <a:latin typeface="楷体" panose="02010609060101010101" pitchFamily="49" charset="-122"/>
                <a:ea typeface="楷体" panose="02010609060101010101" pitchFamily="49" charset="-122"/>
              </a:rPr>
              <a:t>IE</a:t>
            </a:r>
            <a:r>
              <a:rPr lang="zh-CN" altLang="en-US" sz="2000" dirty="0">
                <a:solidFill>
                  <a:srgbClr val="595959"/>
                </a:solidFill>
                <a:latin typeface="楷体" panose="02010609060101010101" pitchFamily="49" charset="-122"/>
                <a:ea typeface="楷体" panose="02010609060101010101" pitchFamily="49" charset="-122"/>
              </a:rPr>
              <a:t>任务中表现出色。</a:t>
            </a:r>
            <a:endParaRPr lang="en-US" altLang="zh-CN" sz="2000" dirty="0">
              <a:solidFill>
                <a:srgbClr val="595959"/>
              </a:solidFill>
              <a:latin typeface="楷体" panose="02010609060101010101" pitchFamily="49" charset="-122"/>
              <a:ea typeface="楷体" panose="02010609060101010101" pitchFamily="49" charset="-122"/>
            </a:endParaRPr>
          </a:p>
          <a:p>
            <a:pPr marL="342900" indent="-342900" algn="just">
              <a:lnSpc>
                <a:spcPct val="150000"/>
              </a:lnSpc>
              <a:buFont typeface="Wingdings" panose="05000000000000000000" pitchFamily="2" charset="2"/>
              <a:buChar char="l"/>
            </a:pPr>
            <a:r>
              <a:rPr lang="en-US" altLang="zh-CN" sz="2000" dirty="0">
                <a:solidFill>
                  <a:srgbClr val="595959"/>
                </a:solidFill>
                <a:latin typeface="楷体" panose="02010609060101010101" pitchFamily="49" charset="-122"/>
                <a:ea typeface="楷体" panose="02010609060101010101" pitchFamily="49" charset="-122"/>
              </a:rPr>
              <a:t>LLMs</a:t>
            </a:r>
            <a:r>
              <a:rPr lang="zh-CN" altLang="en-US" sz="2000" dirty="0">
                <a:solidFill>
                  <a:srgbClr val="595959"/>
                </a:solidFill>
                <a:latin typeface="楷体" panose="02010609060101010101" pitchFamily="49" charset="-122"/>
                <a:ea typeface="楷体" panose="02010609060101010101" pitchFamily="49" charset="-122"/>
              </a:rPr>
              <a:t>不仅可以通过微调从</a:t>
            </a:r>
            <a:r>
              <a:rPr lang="en-US" altLang="zh-CN" sz="2000" dirty="0">
                <a:solidFill>
                  <a:srgbClr val="595959"/>
                </a:solidFill>
                <a:latin typeface="楷体" panose="02010609060101010101" pitchFamily="49" charset="-122"/>
                <a:ea typeface="楷体" panose="02010609060101010101" pitchFamily="49" charset="-122"/>
              </a:rPr>
              <a:t>IE</a:t>
            </a:r>
            <a:r>
              <a:rPr lang="zh-CN" altLang="en-US" sz="2000" dirty="0">
                <a:solidFill>
                  <a:srgbClr val="595959"/>
                </a:solidFill>
                <a:latin typeface="楷体" panose="02010609060101010101" pitchFamily="49" charset="-122"/>
                <a:ea typeface="楷体" panose="02010609060101010101" pitchFamily="49" charset="-122"/>
              </a:rPr>
              <a:t>训练数据中学习，还可以在少样本甚至零样本的情况下，仅依靠上下文示例或指令来提取信息。</a:t>
            </a:r>
            <a:endParaRPr lang="en-US" altLang="zh-CN" sz="2000" dirty="0">
              <a:solidFill>
                <a:srgbClr val="595959"/>
              </a:solidFill>
              <a:latin typeface="楷体" panose="02010609060101010101" pitchFamily="49" charset="-122"/>
              <a:ea typeface="楷体" panose="02010609060101010101" pitchFamily="49" charset="-122"/>
            </a:endParaRPr>
          </a:p>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大语言模型能够快速处理大量文本数据，显著降低人工整理和分析的工作量。使其在理解和提取古籍信息时显著提升信息抽取的准确性</a:t>
            </a:r>
            <a:endParaRPr sz="2000" dirty="0">
              <a:solidFill>
                <a:srgbClr val="595959"/>
              </a:solidFill>
              <a:latin typeface="楷体" panose="02010609060101010101" pitchFamily="49" charset="-122"/>
              <a:ea typeface="楷体" panose="02010609060101010101" pitchFamily="49" charset="-122"/>
            </a:endParaRPr>
          </a:p>
        </p:txBody>
      </p:sp>
      <p:sp>
        <p:nvSpPr>
          <p:cNvPr id="2" name="TextBox 6"/>
          <p:cNvSpPr txBox="1"/>
          <p:nvPr/>
        </p:nvSpPr>
        <p:spPr>
          <a:xfrm>
            <a:off x="265095" y="1026457"/>
            <a:ext cx="187367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信息抽取</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4" name="矩形 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5"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2"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3"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1245664" y="1925639"/>
            <a:ext cx="9555685" cy="4134193"/>
          </a:xfrm>
          <a:prstGeom prst="rect">
            <a:avLst/>
          </a:prstGeom>
          <a:noFill/>
          <a:ln w="6350">
            <a:solidFill>
              <a:srgbClr val="9FAC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斜纹 19"/>
          <p:cNvSpPr/>
          <p:nvPr/>
        </p:nvSpPr>
        <p:spPr>
          <a:xfrm>
            <a:off x="1217750" y="190393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斜纹 20"/>
          <p:cNvSpPr/>
          <p:nvPr/>
        </p:nvSpPr>
        <p:spPr>
          <a:xfrm rot="10800000">
            <a:off x="10469490" y="5731055"/>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4" name="矩形 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5"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2"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3"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15" name="图片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30849" y="2077466"/>
            <a:ext cx="7772400" cy="383053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1713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245664" y="1925639"/>
            <a:ext cx="9555685" cy="4647269"/>
          </a:xfrm>
          <a:prstGeom prst="rect">
            <a:avLst/>
          </a:prstGeom>
          <a:noFill/>
          <a:ln w="6350">
            <a:solidFill>
              <a:srgbClr val="9FAC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斜纹 19"/>
          <p:cNvSpPr/>
          <p:nvPr/>
        </p:nvSpPr>
        <p:spPr>
          <a:xfrm>
            <a:off x="1217750" y="190393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斜纹 20"/>
          <p:cNvSpPr/>
          <p:nvPr/>
        </p:nvSpPr>
        <p:spPr>
          <a:xfrm rot="10800000">
            <a:off x="10441555" y="6195543"/>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矩形 22"/>
          <p:cNvSpPr/>
          <p:nvPr/>
        </p:nvSpPr>
        <p:spPr>
          <a:xfrm>
            <a:off x="1559496" y="2073138"/>
            <a:ext cx="8928000" cy="4175182"/>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大语言模型在古籍处理中的语法标注应用，主要体现在词法分析、自动分词和词性标注等方面。在古籍研究中，准确的语法标注对于后续的信息提取、翻译和文本分析至关重要</a:t>
            </a:r>
            <a:endParaRPr lang="en-US" altLang="zh-CN" sz="2000" dirty="0">
              <a:solidFill>
                <a:srgbClr val="595959"/>
              </a:solidFill>
              <a:latin typeface="楷体" panose="02010609060101010101" pitchFamily="49" charset="-122"/>
              <a:ea typeface="楷体" panose="02010609060101010101" pitchFamily="49" charset="-122"/>
            </a:endParaRPr>
          </a:p>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通过大规模文本预训练，学习词语的上下文依赖关系，具备处理复杂语言结构的能力。在语法标注任务中，只需少量标注数据微调即可获得较高精度。相比传统</a:t>
            </a:r>
            <a:r>
              <a:rPr lang="en-US" altLang="zh-CN" sz="2000" dirty="0">
                <a:solidFill>
                  <a:srgbClr val="595959"/>
                </a:solidFill>
                <a:latin typeface="楷体" panose="02010609060101010101" pitchFamily="49" charset="-122"/>
                <a:ea typeface="楷体" panose="02010609060101010101" pitchFamily="49" charset="-122"/>
              </a:rPr>
              <a:t>HMM</a:t>
            </a:r>
            <a:r>
              <a:rPr lang="zh-CN" altLang="en-US" sz="2000" dirty="0">
                <a:solidFill>
                  <a:srgbClr val="595959"/>
                </a:solidFill>
                <a:latin typeface="楷体" panose="02010609060101010101" pitchFamily="49" charset="-122"/>
                <a:ea typeface="楷体" panose="02010609060101010101" pitchFamily="49" charset="-122"/>
              </a:rPr>
              <a:t>、</a:t>
            </a:r>
            <a:r>
              <a:rPr lang="en-US" altLang="zh-CN" sz="2000" dirty="0">
                <a:solidFill>
                  <a:srgbClr val="595959"/>
                </a:solidFill>
                <a:latin typeface="楷体" panose="02010609060101010101" pitchFamily="49" charset="-122"/>
                <a:ea typeface="楷体" panose="02010609060101010101" pitchFamily="49" charset="-122"/>
              </a:rPr>
              <a:t>CRF</a:t>
            </a:r>
            <a:r>
              <a:rPr lang="zh-CN" altLang="en-US" sz="2000" dirty="0">
                <a:solidFill>
                  <a:srgbClr val="595959"/>
                </a:solidFill>
                <a:latin typeface="楷体" panose="02010609060101010101" pitchFamily="49" charset="-122"/>
                <a:ea typeface="楷体" panose="02010609060101010101" pitchFamily="49" charset="-122"/>
              </a:rPr>
              <a:t>等方法，</a:t>
            </a:r>
            <a:r>
              <a:rPr lang="en-US" altLang="zh-CN" sz="2000" dirty="0">
                <a:solidFill>
                  <a:srgbClr val="595959"/>
                </a:solidFill>
                <a:latin typeface="楷体" panose="02010609060101010101" pitchFamily="49" charset="-122"/>
                <a:ea typeface="楷体" panose="02010609060101010101" pitchFamily="49" charset="-122"/>
              </a:rPr>
              <a:t>LLMs</a:t>
            </a:r>
            <a:r>
              <a:rPr lang="zh-CN" altLang="en-US" sz="2000" dirty="0">
                <a:solidFill>
                  <a:srgbClr val="595959"/>
                </a:solidFill>
                <a:latin typeface="楷体" panose="02010609060101010101" pitchFamily="49" charset="-122"/>
                <a:ea typeface="楷体" panose="02010609060101010101" pitchFamily="49" charset="-122"/>
              </a:rPr>
              <a:t>能够理解长距离依赖关系</a:t>
            </a:r>
            <a:endParaRPr lang="en-US" altLang="zh-CN" sz="2000" dirty="0">
              <a:solidFill>
                <a:srgbClr val="595959"/>
              </a:solidFill>
              <a:latin typeface="楷体" panose="02010609060101010101" pitchFamily="49" charset="-122"/>
              <a:ea typeface="楷体" panose="02010609060101010101" pitchFamily="49" charset="-122"/>
            </a:endParaRPr>
          </a:p>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通过准确的语法标注可以进行更深入的文本分析，如通过识别名词、动词、介词等词性，帮助识别主谓宾等语法结构，实现事件元素抽取、有助于限定实体类型和边界等，从而推动古籍研究的新进展。</a:t>
            </a:r>
            <a:endParaRPr sz="2000" dirty="0">
              <a:solidFill>
                <a:srgbClr val="595959"/>
              </a:solidFill>
              <a:latin typeface="楷体" panose="02010609060101010101" pitchFamily="49" charset="-122"/>
              <a:ea typeface="楷体" panose="02010609060101010101" pitchFamily="49" charset="-122"/>
            </a:endParaRPr>
          </a:p>
        </p:txBody>
      </p:sp>
      <p:sp>
        <p:nvSpPr>
          <p:cNvPr id="2" name="TextBox 6"/>
          <p:cNvSpPr txBox="1"/>
          <p:nvPr/>
        </p:nvSpPr>
        <p:spPr>
          <a:xfrm>
            <a:off x="265095" y="1026457"/>
            <a:ext cx="187367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语法标注</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4" name="矩形 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5"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2"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3"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80609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245664" y="1925640"/>
            <a:ext cx="9555685" cy="2925330"/>
          </a:xfrm>
          <a:prstGeom prst="rect">
            <a:avLst/>
          </a:prstGeom>
          <a:noFill/>
          <a:ln w="6350">
            <a:solidFill>
              <a:srgbClr val="9FAC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斜纹 19"/>
          <p:cNvSpPr/>
          <p:nvPr/>
        </p:nvSpPr>
        <p:spPr>
          <a:xfrm>
            <a:off x="1217750" y="190393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斜纹 20"/>
          <p:cNvSpPr/>
          <p:nvPr/>
        </p:nvSpPr>
        <p:spPr>
          <a:xfrm rot="10800000">
            <a:off x="10469490" y="4512901"/>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矩形 22"/>
          <p:cNvSpPr/>
          <p:nvPr/>
        </p:nvSpPr>
        <p:spPr>
          <a:xfrm>
            <a:off x="1559496" y="2073138"/>
            <a:ext cx="8928000" cy="2328523"/>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zh-CN" altLang="en-US" sz="2000" b="1"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语内翻译</a:t>
            </a:r>
            <a:r>
              <a:rPr lang="zh-CN" altLang="en-US"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：同一语言内部的翻译（如古汉语和现代汉语）</a:t>
            </a:r>
            <a:endParaRPr lang="en-US" altLang="zh-CN"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endParaRPr>
          </a:p>
          <a:p>
            <a:pPr marL="342900" indent="-342900" algn="just">
              <a:lnSpc>
                <a:spcPct val="150000"/>
              </a:lnSpc>
              <a:buFont typeface="Wingdings" panose="05000000000000000000" pitchFamily="2" charset="2"/>
              <a:buChar char="l"/>
            </a:pPr>
            <a:r>
              <a:rPr lang="zh-CN" altLang="en-US" sz="2000" b="1"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语际翻译</a:t>
            </a:r>
            <a:r>
              <a:rPr lang="zh-CN" altLang="en-US"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：不同语言之间的翻译（如古汉语和英语）</a:t>
            </a:r>
            <a:endParaRPr lang="en-US" altLang="zh-CN"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endParaRPr>
          </a:p>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大语言模型能够将古文文本自动翻译成现代汉语、英语、法语等语言。这一过程涉及对古文中复杂句式和词汇的理解，模型通过训练能够识别古汉语的词义及其在特定上下文中的用法，从而生成准确且流畅的翻译内容。</a:t>
            </a:r>
            <a:endParaRPr lang="en-US" altLang="zh-CN" sz="2000" dirty="0">
              <a:solidFill>
                <a:srgbClr val="595959"/>
              </a:solidFill>
              <a:latin typeface="楷体" panose="02010609060101010101" pitchFamily="49" charset="-122"/>
              <a:ea typeface="楷体" panose="02010609060101010101" pitchFamily="49" charset="-122"/>
            </a:endParaRPr>
          </a:p>
        </p:txBody>
      </p:sp>
      <p:sp>
        <p:nvSpPr>
          <p:cNvPr id="2" name="TextBox 6"/>
          <p:cNvSpPr txBox="1"/>
          <p:nvPr/>
        </p:nvSpPr>
        <p:spPr>
          <a:xfrm>
            <a:off x="265095" y="1026457"/>
            <a:ext cx="2966755"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语内翻译与语际翻译</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4" name="矩形 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5"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2"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3"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1713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245664" y="1925639"/>
            <a:ext cx="9555685" cy="4491880"/>
          </a:xfrm>
          <a:prstGeom prst="rect">
            <a:avLst/>
          </a:prstGeom>
          <a:noFill/>
          <a:ln w="6350">
            <a:solidFill>
              <a:srgbClr val="9FAC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斜纹 19"/>
          <p:cNvSpPr/>
          <p:nvPr/>
        </p:nvSpPr>
        <p:spPr>
          <a:xfrm>
            <a:off x="1217750" y="190393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斜纹 20"/>
          <p:cNvSpPr/>
          <p:nvPr/>
        </p:nvSpPr>
        <p:spPr>
          <a:xfrm rot="10800000">
            <a:off x="10469490" y="6035851"/>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矩形 22"/>
          <p:cNvSpPr/>
          <p:nvPr/>
        </p:nvSpPr>
        <p:spPr>
          <a:xfrm>
            <a:off x="1559496" y="2073138"/>
            <a:ext cx="8928000" cy="4175182"/>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zh-CN" altLang="en-US" sz="2000" b="1"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文献标引</a:t>
            </a:r>
            <a:r>
              <a:rPr lang="zh-CN" altLang="en-US"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：文献标引是一种对文献内容进行主题分析和分类的技术，目的是为文献建立规范的主题标签或标识，使用户能够通过主题词或分类号快速检索相关文献。</a:t>
            </a:r>
            <a:endParaRPr lang="en-US" altLang="zh-CN"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endParaRPr>
          </a:p>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模型通过分析输入的古籍文本，提取关键信息，如主要观点、事件和人物等，基于提取信息生成简洁的文本摘要，确保保留原文的重要内容和结构。</a:t>
            </a:r>
            <a:endParaRPr lang="en-US" altLang="zh-CN" sz="2000" dirty="0">
              <a:solidFill>
                <a:srgbClr val="595959"/>
              </a:solidFill>
              <a:latin typeface="楷体" panose="02010609060101010101" pitchFamily="49" charset="-122"/>
              <a:ea typeface="楷体" panose="02010609060101010101" pitchFamily="49" charset="-122"/>
            </a:endParaRPr>
          </a:p>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结合外部文献数据库的检索功能，</a:t>
            </a:r>
            <a:r>
              <a:rPr lang="en-US" altLang="zh-CN" sz="2000" dirty="0">
                <a:solidFill>
                  <a:srgbClr val="595959"/>
                </a:solidFill>
                <a:latin typeface="楷体" panose="02010609060101010101" pitchFamily="49" charset="-122"/>
                <a:ea typeface="楷体" panose="02010609060101010101" pitchFamily="49" charset="-122"/>
              </a:rPr>
              <a:t>LLM</a:t>
            </a:r>
            <a:r>
              <a:rPr lang="zh-CN" altLang="en-US" sz="2000" dirty="0">
                <a:solidFill>
                  <a:srgbClr val="595959"/>
                </a:solidFill>
                <a:latin typeface="楷体" panose="02010609060101010101" pitchFamily="49" charset="-122"/>
                <a:ea typeface="楷体" panose="02010609060101010101" pitchFamily="49" charset="-122"/>
              </a:rPr>
              <a:t>可以先检索相关文献，再基于检索结果进行内容生成和标引，提高信息的准确性和覆盖面。通过设计统一的输出格式（如</a:t>
            </a:r>
            <a:r>
              <a:rPr lang="en-US" altLang="zh-CN" sz="2000" dirty="0">
                <a:solidFill>
                  <a:srgbClr val="595959"/>
                </a:solidFill>
                <a:latin typeface="楷体" panose="02010609060101010101" pitchFamily="49" charset="-122"/>
                <a:ea typeface="楷体" panose="02010609060101010101" pitchFamily="49" charset="-122"/>
              </a:rPr>
              <a:t>JSON</a:t>
            </a:r>
            <a:r>
              <a:rPr lang="zh-CN" altLang="en-US" sz="2000" dirty="0">
                <a:solidFill>
                  <a:srgbClr val="595959"/>
                </a:solidFill>
                <a:latin typeface="楷体" panose="02010609060101010101" pitchFamily="49" charset="-122"/>
                <a:ea typeface="楷体" panose="02010609060101010101" pitchFamily="49" charset="-122"/>
              </a:rPr>
              <a:t>、</a:t>
            </a:r>
            <a:r>
              <a:rPr lang="en-US" altLang="zh-CN" sz="2000" dirty="0">
                <a:solidFill>
                  <a:srgbClr val="595959"/>
                </a:solidFill>
                <a:latin typeface="楷体" panose="02010609060101010101" pitchFamily="49" charset="-122"/>
                <a:ea typeface="楷体" panose="02010609060101010101" pitchFamily="49" charset="-122"/>
              </a:rPr>
              <a:t>XML</a:t>
            </a:r>
            <a:r>
              <a:rPr lang="zh-CN" altLang="en-US" sz="2000" dirty="0">
                <a:solidFill>
                  <a:srgbClr val="595959"/>
                </a:solidFill>
                <a:latin typeface="楷体" panose="02010609060101010101" pitchFamily="49" charset="-122"/>
                <a:ea typeface="楷体" panose="02010609060101010101" pitchFamily="49" charset="-122"/>
              </a:rPr>
              <a:t>），</a:t>
            </a:r>
            <a:r>
              <a:rPr lang="en-US" altLang="zh-CN" sz="2000" dirty="0">
                <a:solidFill>
                  <a:srgbClr val="595959"/>
                </a:solidFill>
                <a:latin typeface="楷体" panose="02010609060101010101" pitchFamily="49" charset="-122"/>
                <a:ea typeface="楷体" panose="02010609060101010101" pitchFamily="49" charset="-122"/>
              </a:rPr>
              <a:t>LLM</a:t>
            </a:r>
            <a:r>
              <a:rPr lang="zh-CN" altLang="en-US" sz="2000" dirty="0">
                <a:solidFill>
                  <a:srgbClr val="595959"/>
                </a:solidFill>
                <a:latin typeface="楷体" panose="02010609060101010101" pitchFamily="49" charset="-122"/>
                <a:ea typeface="楷体" panose="02010609060101010101" pitchFamily="49" charset="-122"/>
              </a:rPr>
              <a:t>能够将文献中的关键信息（作者、机构、关键词、主题分类等）结构化提取，方便后续的文献管理和索引</a:t>
            </a:r>
            <a:endParaRPr sz="2000" dirty="0">
              <a:solidFill>
                <a:srgbClr val="595959"/>
              </a:solidFill>
              <a:latin typeface="楷体" panose="02010609060101010101" pitchFamily="49" charset="-122"/>
              <a:ea typeface="楷体" panose="02010609060101010101" pitchFamily="49" charset="-122"/>
            </a:endParaRPr>
          </a:p>
        </p:txBody>
      </p:sp>
      <p:sp>
        <p:nvSpPr>
          <p:cNvPr id="2" name="TextBox 6"/>
          <p:cNvSpPr txBox="1"/>
          <p:nvPr/>
        </p:nvSpPr>
        <p:spPr>
          <a:xfrm>
            <a:off x="265095" y="1026457"/>
            <a:ext cx="2214634"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文献总结与标引</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4" name="矩形 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5"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2"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3"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rotWithShape="1">
          <a:blip r:embed="rId2" cstate="print">
            <a:extLst>
              <a:ext uri="{28A0092B-C50C-407E-A947-70E740481C1C}">
                <a14:useLocalDpi xmlns:a14="http://schemas.microsoft.com/office/drawing/2010/main" val="0"/>
              </a:ext>
            </a:extLst>
          </a:blip>
          <a:srcRect b="51990"/>
          <a:stretch>
            <a:fillRect/>
          </a:stretch>
        </p:blipFill>
        <p:spPr>
          <a:xfrm>
            <a:off x="6217763" y="785934"/>
            <a:ext cx="5974237" cy="141358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1713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245664" y="1925639"/>
            <a:ext cx="9555685" cy="4491881"/>
          </a:xfrm>
          <a:prstGeom prst="rect">
            <a:avLst/>
          </a:prstGeom>
          <a:noFill/>
          <a:ln w="6350">
            <a:solidFill>
              <a:srgbClr val="9FAC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斜纹 19"/>
          <p:cNvSpPr/>
          <p:nvPr/>
        </p:nvSpPr>
        <p:spPr>
          <a:xfrm>
            <a:off x="1217750" y="190393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斜纹 20"/>
          <p:cNvSpPr/>
          <p:nvPr/>
        </p:nvSpPr>
        <p:spPr>
          <a:xfrm rot="10800000">
            <a:off x="10469490" y="6062361"/>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矩形 22"/>
          <p:cNvSpPr/>
          <p:nvPr/>
        </p:nvSpPr>
        <p:spPr>
          <a:xfrm>
            <a:off x="1559496" y="2073138"/>
            <a:ext cx="8928000" cy="4175182"/>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rPr>
              <a:t>大语言模型通过大规模无监督预训练，学习语言的内在规律，具备强大的语义表示和复杂推理能力，能够理解多样化的问句，并生成符合上下文的精准答案。</a:t>
            </a:r>
            <a:endParaRPr lang="en-US" altLang="zh-CN"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endParaRPr>
          </a:p>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rPr>
              <a:t>大语言模型能够理解用户提出的问题，并根据上下文进行意图判断。根据问题类型，从古籍数据库中提取相关信息，确保回答的准确性</a:t>
            </a:r>
            <a:endParaRPr lang="en-US"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endParaRPr>
          </a:p>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cs typeface="Times New Roman" panose="02020503050405090304" pitchFamily="18" charset="0"/>
              </a:rPr>
              <a:t>利用参数高效微调策略，快速适配特定垂直领域需求，提高模型在专业问答中的表现，同时降低计算资源消耗。通过设计合理的提示语，引导模型聚焦问题核心，扩展模型对复杂、多步推理问题的处理能力，提升问答效果和生成内容的可控性</a:t>
            </a:r>
            <a:endParaRPr sz="2000" dirty="0">
              <a:solidFill>
                <a:srgbClr val="595959"/>
              </a:solidFill>
              <a:latin typeface="楷体" panose="02010609060101010101" pitchFamily="49" charset="-122"/>
              <a:ea typeface="楷体" panose="02010609060101010101" pitchFamily="49" charset="-122"/>
            </a:endParaRPr>
          </a:p>
        </p:txBody>
      </p:sp>
      <p:sp>
        <p:nvSpPr>
          <p:cNvPr id="2" name="TextBox 6"/>
          <p:cNvSpPr txBox="1"/>
          <p:nvPr/>
        </p:nvSpPr>
        <p:spPr>
          <a:xfrm>
            <a:off x="265095" y="1026457"/>
            <a:ext cx="187367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智能问答</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4" name="矩形 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5"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2"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3"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1713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245664" y="1925639"/>
            <a:ext cx="9555685" cy="4134193"/>
          </a:xfrm>
          <a:prstGeom prst="rect">
            <a:avLst/>
          </a:prstGeom>
          <a:noFill/>
          <a:ln w="6350">
            <a:solidFill>
              <a:srgbClr val="9FAC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斜纹 19"/>
          <p:cNvSpPr/>
          <p:nvPr/>
        </p:nvSpPr>
        <p:spPr>
          <a:xfrm>
            <a:off x="1217750" y="190393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斜纹 20"/>
          <p:cNvSpPr/>
          <p:nvPr/>
        </p:nvSpPr>
        <p:spPr>
          <a:xfrm rot="10800000">
            <a:off x="10469490" y="5731055"/>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矩形 22"/>
          <p:cNvSpPr/>
          <p:nvPr/>
        </p:nvSpPr>
        <p:spPr>
          <a:xfrm>
            <a:off x="1559496" y="2073138"/>
            <a:ext cx="8928000" cy="3713517"/>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多模态模型通常结合语言模型与视觉</a:t>
            </a:r>
            <a:r>
              <a:rPr lang="en-US" altLang="zh-CN" sz="2000" dirty="0">
                <a:solidFill>
                  <a:srgbClr val="595959"/>
                </a:solidFill>
                <a:latin typeface="楷体" panose="02010609060101010101" pitchFamily="49" charset="-122"/>
                <a:ea typeface="楷体" panose="02010609060101010101" pitchFamily="49" charset="-122"/>
              </a:rPr>
              <a:t>/</a:t>
            </a:r>
            <a:r>
              <a:rPr lang="zh-CN" altLang="en-US" sz="2000" dirty="0">
                <a:solidFill>
                  <a:srgbClr val="595959"/>
                </a:solidFill>
                <a:latin typeface="楷体" panose="02010609060101010101" pitchFamily="49" charset="-122"/>
                <a:ea typeface="楷体" panose="02010609060101010101" pitchFamily="49" charset="-122"/>
              </a:rPr>
              <a:t>音频模型。通过跨模态注意力机制或模态融合模块，实现不同模态信息的整合。</a:t>
            </a:r>
            <a:endParaRPr lang="en-US" altLang="zh-CN" sz="2000" dirty="0">
              <a:solidFill>
                <a:srgbClr val="595959"/>
              </a:solidFill>
              <a:latin typeface="楷体" panose="02010609060101010101" pitchFamily="49" charset="-122"/>
              <a:ea typeface="楷体" panose="02010609060101010101" pitchFamily="49" charset="-122"/>
            </a:endParaRPr>
          </a:p>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利用计算机视觉技术，模型能够识别古籍中的插图、书法等</a:t>
            </a:r>
            <a:endParaRPr lang="en-US" altLang="zh-CN" sz="2000" dirty="0">
              <a:solidFill>
                <a:srgbClr val="595959"/>
              </a:solidFill>
              <a:latin typeface="楷体" panose="02010609060101010101" pitchFamily="49" charset="-122"/>
              <a:ea typeface="楷体" panose="02010609060101010101" pitchFamily="49" charset="-122"/>
            </a:endParaRPr>
          </a:p>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模型可以进行语音识别，将其转化为可编辑文本，并进行分析</a:t>
            </a:r>
            <a:endParaRPr lang="en-US" altLang="zh-CN" sz="2000" dirty="0">
              <a:solidFill>
                <a:srgbClr val="595959"/>
              </a:solidFill>
              <a:latin typeface="楷体" panose="02010609060101010101" pitchFamily="49" charset="-122"/>
              <a:ea typeface="楷体" panose="02010609060101010101" pitchFamily="49" charset="-122"/>
            </a:endParaRPr>
          </a:p>
          <a:p>
            <a:pPr marL="342900" indent="-342900" algn="just">
              <a:lnSpc>
                <a:spcPct val="150000"/>
              </a:lnSpc>
              <a:buFont typeface="Wingdings" panose="05000000000000000000" pitchFamily="2" charset="2"/>
              <a:buChar char="l"/>
            </a:pPr>
            <a:r>
              <a:rPr lang="en-US" altLang="zh-CN" sz="2000" dirty="0" err="1">
                <a:solidFill>
                  <a:srgbClr val="595959"/>
                </a:solidFill>
                <a:latin typeface="楷体" panose="02010609060101010101" pitchFamily="49" charset="-122"/>
                <a:ea typeface="楷体" panose="02010609060101010101" pitchFamily="49" charset="-122"/>
              </a:rPr>
              <a:t>PaliGemma</a:t>
            </a:r>
            <a:r>
              <a:rPr lang="zh-CN" altLang="en-US" sz="2000" dirty="0">
                <a:solidFill>
                  <a:srgbClr val="595959"/>
                </a:solidFill>
                <a:latin typeface="楷体" panose="02010609060101010101" pitchFamily="49" charset="-122"/>
                <a:ea typeface="楷体" panose="02010609060101010101" pitchFamily="49" charset="-122"/>
              </a:rPr>
              <a:t>、</a:t>
            </a:r>
            <a:r>
              <a:rPr lang="en-US" altLang="zh-CN" sz="2000" dirty="0" err="1">
                <a:solidFill>
                  <a:srgbClr val="595959"/>
                </a:solidFill>
                <a:latin typeface="楷体" panose="02010609060101010101" pitchFamily="49" charset="-122"/>
                <a:ea typeface="楷体" panose="02010609060101010101" pitchFamily="49" charset="-122"/>
              </a:rPr>
              <a:t>MiniCPM</a:t>
            </a:r>
            <a:r>
              <a:rPr lang="en-US" altLang="zh-CN" sz="2000" dirty="0">
                <a:solidFill>
                  <a:srgbClr val="595959"/>
                </a:solidFill>
                <a:latin typeface="楷体" panose="02010609060101010101" pitchFamily="49" charset="-122"/>
                <a:ea typeface="楷体" panose="02010609060101010101" pitchFamily="49" charset="-122"/>
              </a:rPr>
              <a:t>-V</a:t>
            </a:r>
            <a:r>
              <a:rPr lang="zh-CN" altLang="en-US" sz="2000" dirty="0">
                <a:solidFill>
                  <a:srgbClr val="595959"/>
                </a:solidFill>
                <a:latin typeface="楷体" panose="02010609060101010101" pitchFamily="49" charset="-122"/>
                <a:ea typeface="楷体" panose="02010609060101010101" pitchFamily="49" charset="-122"/>
              </a:rPr>
              <a:t>、</a:t>
            </a:r>
            <a:r>
              <a:rPr lang="en-US" altLang="zh-CN" sz="2000" dirty="0">
                <a:solidFill>
                  <a:srgbClr val="595959"/>
                </a:solidFill>
                <a:latin typeface="楷体" panose="02010609060101010101" pitchFamily="49" charset="-122"/>
                <a:ea typeface="楷体" panose="02010609060101010101" pitchFamily="49" charset="-122"/>
              </a:rPr>
              <a:t>Florence-2</a:t>
            </a:r>
            <a:r>
              <a:rPr lang="zh-CN" altLang="en-US" sz="2000" dirty="0">
                <a:solidFill>
                  <a:srgbClr val="595959"/>
                </a:solidFill>
                <a:latin typeface="楷体" panose="02010609060101010101" pitchFamily="49" charset="-122"/>
                <a:ea typeface="楷体" panose="02010609060101010101" pitchFamily="49" charset="-122"/>
              </a:rPr>
              <a:t>、</a:t>
            </a:r>
            <a:r>
              <a:rPr lang="en-US" altLang="zh-CN" sz="2000" dirty="0">
                <a:solidFill>
                  <a:srgbClr val="595959"/>
                </a:solidFill>
                <a:latin typeface="楷体" panose="02010609060101010101" pitchFamily="49" charset="-122"/>
                <a:ea typeface="楷体" panose="02010609060101010101" pitchFamily="49" charset="-122"/>
              </a:rPr>
              <a:t>Qwen-VL-Chat</a:t>
            </a:r>
            <a:r>
              <a:rPr lang="zh-CN" altLang="en-US" sz="2000" dirty="0">
                <a:solidFill>
                  <a:srgbClr val="595959"/>
                </a:solidFill>
                <a:latin typeface="楷体" panose="02010609060101010101" pitchFamily="49" charset="-122"/>
                <a:ea typeface="楷体" panose="02010609060101010101" pitchFamily="49" charset="-122"/>
              </a:rPr>
              <a:t>、</a:t>
            </a:r>
            <a:r>
              <a:rPr lang="en-US" altLang="zh-CN" sz="2000" dirty="0">
                <a:solidFill>
                  <a:srgbClr val="595959"/>
                </a:solidFill>
                <a:latin typeface="楷体" panose="02010609060101010101" pitchFamily="49" charset="-122"/>
                <a:ea typeface="楷体" panose="02010609060101010101" pitchFamily="49" charset="-122"/>
              </a:rPr>
              <a:t>Yi-VL</a:t>
            </a:r>
            <a:r>
              <a:rPr lang="zh-CN" altLang="en-US" sz="2000" dirty="0">
                <a:solidFill>
                  <a:srgbClr val="595959"/>
                </a:solidFill>
                <a:latin typeface="楷体" panose="02010609060101010101" pitchFamily="49" charset="-122"/>
                <a:ea typeface="楷体" panose="02010609060101010101" pitchFamily="49" charset="-122"/>
              </a:rPr>
              <a:t>、</a:t>
            </a:r>
            <a:r>
              <a:rPr lang="en-US" altLang="zh-CN" sz="2000" dirty="0">
                <a:solidFill>
                  <a:srgbClr val="595959"/>
                </a:solidFill>
                <a:latin typeface="楷体" panose="02010609060101010101" pitchFamily="49" charset="-122"/>
                <a:ea typeface="楷体" panose="02010609060101010101" pitchFamily="49" charset="-122"/>
              </a:rPr>
              <a:t>DeepSeek-VL</a:t>
            </a:r>
            <a:r>
              <a:rPr lang="zh-CN" altLang="en-US" sz="2000" dirty="0">
                <a:solidFill>
                  <a:srgbClr val="595959"/>
                </a:solidFill>
                <a:latin typeface="楷体" panose="02010609060101010101" pitchFamily="49" charset="-122"/>
                <a:ea typeface="楷体" panose="02010609060101010101" pitchFamily="49" charset="-122"/>
              </a:rPr>
              <a:t>、</a:t>
            </a:r>
            <a:r>
              <a:rPr lang="en-US" altLang="zh-CN" sz="2000" dirty="0" err="1">
                <a:solidFill>
                  <a:srgbClr val="595959"/>
                </a:solidFill>
                <a:latin typeface="楷体" panose="02010609060101010101" pitchFamily="49" charset="-122"/>
                <a:ea typeface="楷体" panose="02010609060101010101" pitchFamily="49" charset="-122"/>
              </a:rPr>
              <a:t>InternVL</a:t>
            </a:r>
            <a:r>
              <a:rPr lang="zh-CN" altLang="en-US" sz="2000" dirty="0">
                <a:solidFill>
                  <a:srgbClr val="595959"/>
                </a:solidFill>
                <a:latin typeface="楷体" panose="02010609060101010101" pitchFamily="49" charset="-122"/>
                <a:ea typeface="楷体" panose="02010609060101010101" pitchFamily="49" charset="-122"/>
              </a:rPr>
              <a:t>等模型通过将先进的视觉编码器与大语言模型结合，实现了图像和文本的高效协同处理，支持从图像描述到复杂推理的多种任务。</a:t>
            </a:r>
            <a:endParaRPr lang="en-US" altLang="zh-CN" sz="2000" dirty="0">
              <a:solidFill>
                <a:srgbClr val="595959"/>
              </a:solidFill>
              <a:latin typeface="楷体" panose="02010609060101010101" pitchFamily="49" charset="-122"/>
              <a:ea typeface="楷体" panose="02010609060101010101" pitchFamily="49" charset="-122"/>
            </a:endParaRPr>
          </a:p>
          <a:p>
            <a:pPr marL="342900" indent="-342900" algn="just">
              <a:lnSpc>
                <a:spcPct val="150000"/>
              </a:lnSpc>
              <a:buFont typeface="Wingdings" panose="05000000000000000000" pitchFamily="2" charset="2"/>
              <a:buChar char="l"/>
            </a:pPr>
            <a:endParaRPr sz="2000" dirty="0">
              <a:solidFill>
                <a:srgbClr val="595959"/>
              </a:solidFill>
              <a:latin typeface="楷体" panose="02010609060101010101" pitchFamily="49" charset="-122"/>
              <a:ea typeface="楷体" panose="02010609060101010101" pitchFamily="49" charset="-122"/>
            </a:endParaRPr>
          </a:p>
        </p:txBody>
      </p:sp>
      <p:sp>
        <p:nvSpPr>
          <p:cNvPr id="2" name="TextBox 6"/>
          <p:cNvSpPr txBox="1"/>
          <p:nvPr/>
        </p:nvSpPr>
        <p:spPr>
          <a:xfrm>
            <a:off x="265095" y="1026457"/>
            <a:ext cx="187367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多模态任务</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4" name="矩形 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5"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2"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3"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1713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245664" y="1925639"/>
            <a:ext cx="9555685" cy="4134193"/>
          </a:xfrm>
          <a:prstGeom prst="rect">
            <a:avLst/>
          </a:prstGeom>
          <a:noFill/>
          <a:ln w="6350">
            <a:solidFill>
              <a:srgbClr val="9FAC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斜纹 19"/>
          <p:cNvSpPr/>
          <p:nvPr/>
        </p:nvSpPr>
        <p:spPr>
          <a:xfrm>
            <a:off x="1217750" y="190393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1" name="斜纹 20"/>
          <p:cNvSpPr/>
          <p:nvPr/>
        </p:nvSpPr>
        <p:spPr>
          <a:xfrm rot="10800000">
            <a:off x="10469490" y="5731055"/>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矩形 22"/>
          <p:cNvSpPr/>
          <p:nvPr/>
        </p:nvSpPr>
        <p:spPr>
          <a:xfrm>
            <a:off x="1559496" y="2073138"/>
            <a:ext cx="8928000" cy="3713517"/>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zh-CN" altLang="en-US" sz="2000" b="1"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古籍内容的深度理解与推理</a:t>
            </a:r>
            <a:r>
              <a:rPr lang="zh-CN" altLang="en-US"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rPr>
              <a:t>：通过大语言模型对古籍文本的解析，模型可以推理出人物之间的关系，在历史事件中的角色及作用，揭示事件之间的关联</a:t>
            </a:r>
            <a:endParaRPr lang="en-US" altLang="zh-CN" sz="2000" dirty="0">
              <a:solidFill>
                <a:srgbClr val="595959"/>
              </a:solidFill>
              <a:effectLst/>
              <a:latin typeface="楷体" panose="02010609060101010101" pitchFamily="49" charset="-122"/>
              <a:ea typeface="楷体" panose="02010609060101010101" pitchFamily="49" charset="-122"/>
              <a:cs typeface="Times New Roman" panose="02020503050405090304" pitchFamily="18" charset="0"/>
            </a:endParaRPr>
          </a:p>
          <a:p>
            <a:pPr marL="342900" indent="-342900" algn="just">
              <a:lnSpc>
                <a:spcPct val="150000"/>
              </a:lnSpc>
              <a:buFont typeface="Wingdings" panose="05000000000000000000" pitchFamily="2" charset="2"/>
              <a:buChar char="l"/>
            </a:pPr>
            <a:r>
              <a:rPr lang="zh-CN" altLang="en-US" sz="2000" b="1" dirty="0">
                <a:solidFill>
                  <a:srgbClr val="595959"/>
                </a:solidFill>
                <a:latin typeface="楷体" panose="02010609060101010101" pitchFamily="49" charset="-122"/>
                <a:ea typeface="楷体" panose="02010609060101010101" pitchFamily="49" charset="-122"/>
              </a:rPr>
              <a:t>知识图谱推理：</a:t>
            </a:r>
            <a:r>
              <a:rPr lang="zh-CN" altLang="en-US" sz="2000" dirty="0">
                <a:solidFill>
                  <a:srgbClr val="595959"/>
                </a:solidFill>
                <a:latin typeface="楷体" panose="02010609060101010101" pitchFamily="49" charset="-122"/>
                <a:ea typeface="楷体" panose="02010609060101010101" pitchFamily="49" charset="-122"/>
              </a:rPr>
              <a:t>大语言模型能够从古籍文本中提取出人物、事件、时间等实体，并通过强化推理，构建一个具有因果关系和时序顺序的历史知识图谱。</a:t>
            </a:r>
            <a:endParaRPr lang="en-US" altLang="zh-CN" sz="2000" dirty="0">
              <a:solidFill>
                <a:srgbClr val="595959"/>
              </a:solidFill>
              <a:latin typeface="楷体" panose="02010609060101010101" pitchFamily="49" charset="-122"/>
              <a:ea typeface="楷体" panose="02010609060101010101" pitchFamily="49" charset="-122"/>
            </a:endParaRPr>
          </a:p>
          <a:p>
            <a:pPr marL="342900" indent="-342900" algn="just">
              <a:lnSpc>
                <a:spcPct val="150000"/>
              </a:lnSpc>
              <a:buFont typeface="Wingdings" panose="05000000000000000000" pitchFamily="2" charset="2"/>
              <a:buChar char="l"/>
            </a:pPr>
            <a:r>
              <a:rPr lang="zh-CN" altLang="en-US" sz="2000" b="1" dirty="0">
                <a:solidFill>
                  <a:srgbClr val="595959"/>
                </a:solidFill>
                <a:latin typeface="楷体" panose="02010609060101010101" pitchFamily="49" charset="-122"/>
                <a:ea typeface="楷体" panose="02010609060101010101" pitchFamily="49" charset="-122"/>
              </a:rPr>
              <a:t>隐性信息挖掘与推理：</a:t>
            </a:r>
            <a:r>
              <a:rPr lang="zh-CN" altLang="en-US" sz="2000" dirty="0">
                <a:solidFill>
                  <a:srgbClr val="595959"/>
                </a:solidFill>
                <a:latin typeface="楷体" panose="02010609060101010101" pitchFamily="49" charset="-122"/>
                <a:ea typeface="楷体" panose="02010609060101010101" pitchFamily="49" charset="-122"/>
              </a:rPr>
              <a:t>古籍的语言结构复杂，且存在较多模糊、隐含的语义信息。大语言模型可以通过推理技术，识别文中的隐性信息。</a:t>
            </a:r>
            <a:endParaRPr lang="en-US" altLang="zh-CN" sz="2000" dirty="0">
              <a:solidFill>
                <a:srgbClr val="595959"/>
              </a:solidFill>
              <a:latin typeface="楷体" panose="02010609060101010101" pitchFamily="49" charset="-122"/>
              <a:ea typeface="楷体" panose="02010609060101010101" pitchFamily="49" charset="-122"/>
            </a:endParaRPr>
          </a:p>
          <a:p>
            <a:pPr marL="342900" indent="-342900" algn="just">
              <a:lnSpc>
                <a:spcPct val="150000"/>
              </a:lnSpc>
              <a:buFont typeface="Wingdings" panose="05000000000000000000" pitchFamily="2" charset="2"/>
              <a:buChar char="l"/>
            </a:pPr>
            <a:r>
              <a:rPr lang="zh-CN" altLang="en-US" sz="2000" b="1" dirty="0">
                <a:solidFill>
                  <a:srgbClr val="595959"/>
                </a:solidFill>
                <a:latin typeface="楷体" panose="02010609060101010101" pitchFamily="49" charset="-122"/>
                <a:ea typeface="楷体" panose="02010609060101010101" pitchFamily="49" charset="-122"/>
              </a:rPr>
              <a:t>多模态推理与图文结合：</a:t>
            </a:r>
            <a:r>
              <a:rPr lang="zh-CN" altLang="en-US" sz="2000" dirty="0">
                <a:solidFill>
                  <a:srgbClr val="595959"/>
                </a:solidFill>
                <a:latin typeface="楷体" panose="02010609060101010101" pitchFamily="49" charset="-122"/>
                <a:ea typeface="楷体" panose="02010609060101010101" pitchFamily="49" charset="-122"/>
              </a:rPr>
              <a:t>许多古籍包含插图、地图等辅助信息。大语言模型在进行古籍推理时可以将图像信息与文本内容相结合，进行跨模态推理。</a:t>
            </a:r>
            <a:endParaRPr lang="en-US" altLang="zh-CN" sz="2000" dirty="0">
              <a:solidFill>
                <a:srgbClr val="595959"/>
              </a:solidFill>
              <a:latin typeface="楷体" panose="02010609060101010101" pitchFamily="49" charset="-122"/>
              <a:ea typeface="楷体" panose="02010609060101010101" pitchFamily="49" charset="-122"/>
            </a:endParaRPr>
          </a:p>
        </p:txBody>
      </p:sp>
      <p:sp>
        <p:nvSpPr>
          <p:cNvPr id="2" name="TextBox 6"/>
          <p:cNvSpPr txBox="1"/>
          <p:nvPr/>
        </p:nvSpPr>
        <p:spPr>
          <a:xfrm>
            <a:off x="265095" y="1026457"/>
            <a:ext cx="187367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古籍推理</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4" name="矩形 3"/>
          <p:cNvSpPr/>
          <p:nvPr/>
        </p:nvSpPr>
        <p:spPr>
          <a:xfrm>
            <a:off x="8337248" y="0"/>
            <a:ext cx="1666001"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5"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6"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chemeClr val="bg1"/>
                </a:solidFill>
                <a:latin typeface="微软雅黑" panose="020B0503020204020204" pitchFamily="34" charset="-122"/>
                <a:ea typeface="微软雅黑" panose="020B0503020204020204" pitchFamily="34" charset="-122"/>
              </a:rPr>
              <a:t>LLM</a:t>
            </a:r>
            <a:r>
              <a:rPr lang="zh-CN" altLang="en-US" sz="1600" b="1" dirty="0">
                <a:solidFill>
                  <a:schemeClr val="bg1"/>
                </a:solidFill>
                <a:latin typeface="微软雅黑" panose="020B0503020204020204" pitchFamily="34" charset="-122"/>
                <a:ea typeface="微软雅黑" panose="020B0503020204020204" pitchFamily="34" charset="-122"/>
              </a:rPr>
              <a:t>的应用</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2"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3" name="TextBox 11"/>
          <p:cNvSpPr txBox="1"/>
          <p:nvPr/>
        </p:nvSpPr>
        <p:spPr>
          <a:xfrm>
            <a:off x="10182150" y="215903"/>
            <a:ext cx="1847915"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rot="5400000">
            <a:off x="4617872" y="-4617869"/>
            <a:ext cx="2956264" cy="12192002"/>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5321300" y="2266814"/>
            <a:ext cx="1549400" cy="1378900"/>
            <a:chOff x="5127859" y="2518592"/>
            <a:chExt cx="1936282" cy="1723208"/>
          </a:xfrm>
        </p:grpSpPr>
        <p:sp>
          <p:nvSpPr>
            <p:cNvPr id="6" name="任意多边形 5"/>
            <p:cNvSpPr/>
            <p:nvPr/>
          </p:nvSpPr>
          <p:spPr>
            <a:xfrm>
              <a:off x="5127859" y="2518592"/>
              <a:ext cx="1936282" cy="1723208"/>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sp>
          <p:nvSpPr>
            <p:cNvPr id="7" name="任意多边形 6"/>
            <p:cNvSpPr/>
            <p:nvPr/>
          </p:nvSpPr>
          <p:spPr>
            <a:xfrm>
              <a:off x="5257193" y="2633694"/>
              <a:ext cx="1677614" cy="1493004"/>
            </a:xfrm>
            <a:custGeom>
              <a:avLst/>
              <a:gdLst>
                <a:gd name="connsiteX0" fmla="*/ 576168 w 1961391"/>
                <a:gd name="connsiteY0" fmla="*/ 0 h 1745551"/>
                <a:gd name="connsiteX1" fmla="*/ 863600 w 1961391"/>
                <a:gd name="connsiteY1" fmla="*/ 0 h 1745551"/>
                <a:gd name="connsiteX2" fmla="*/ 1097791 w 1961391"/>
                <a:gd name="connsiteY2" fmla="*/ 0 h 1745551"/>
                <a:gd name="connsiteX3" fmla="*/ 1385223 w 1961391"/>
                <a:gd name="connsiteY3" fmla="*/ 0 h 1745551"/>
                <a:gd name="connsiteX4" fmla="*/ 1539918 w 1961391"/>
                <a:gd name="connsiteY4" fmla="*/ 88854 h 1745551"/>
                <a:gd name="connsiteX5" fmla="*/ 1940980 w 1961391"/>
                <a:gd name="connsiteY5" fmla="*/ 783921 h 1745551"/>
                <a:gd name="connsiteX6" fmla="*/ 1961391 w 1961391"/>
                <a:gd name="connsiteY6" fmla="*/ 872775 h 1745551"/>
                <a:gd name="connsiteX7" fmla="*/ 1940980 w 1961391"/>
                <a:gd name="connsiteY7" fmla="*/ 961629 h 1745551"/>
                <a:gd name="connsiteX8" fmla="*/ 1539918 w 1961391"/>
                <a:gd name="connsiteY8" fmla="*/ 1656697 h 1745551"/>
                <a:gd name="connsiteX9" fmla="*/ 1385223 w 1961391"/>
                <a:gd name="connsiteY9" fmla="*/ 1745551 h 1745551"/>
                <a:gd name="connsiteX10" fmla="*/ 1120460 w 1961391"/>
                <a:gd name="connsiteY10" fmla="*/ 1745551 h 1745551"/>
                <a:gd name="connsiteX11" fmla="*/ 1097791 w 1961391"/>
                <a:gd name="connsiteY11" fmla="*/ 1745551 h 1745551"/>
                <a:gd name="connsiteX12" fmla="*/ 1039896 w 1961391"/>
                <a:gd name="connsiteY12" fmla="*/ 1745551 h 1745551"/>
                <a:gd name="connsiteX13" fmla="*/ 1013340 w 1961391"/>
                <a:gd name="connsiteY13" fmla="*/ 1745551 h 1745551"/>
                <a:gd name="connsiteX14" fmla="*/ 948051 w 1961391"/>
                <a:gd name="connsiteY14" fmla="*/ 1745551 h 1745551"/>
                <a:gd name="connsiteX15" fmla="*/ 921495 w 1961391"/>
                <a:gd name="connsiteY15" fmla="*/ 1745551 h 1745551"/>
                <a:gd name="connsiteX16" fmla="*/ 863600 w 1961391"/>
                <a:gd name="connsiteY16" fmla="*/ 1745551 h 1745551"/>
                <a:gd name="connsiteX17" fmla="*/ 840931 w 1961391"/>
                <a:gd name="connsiteY17" fmla="*/ 1745551 h 1745551"/>
                <a:gd name="connsiteX18" fmla="*/ 576168 w 1961391"/>
                <a:gd name="connsiteY18" fmla="*/ 1745551 h 1745551"/>
                <a:gd name="connsiteX19" fmla="*/ 421473 w 1961391"/>
                <a:gd name="connsiteY19" fmla="*/ 1656697 h 1745551"/>
                <a:gd name="connsiteX20" fmla="*/ 20411 w 1961391"/>
                <a:gd name="connsiteY20" fmla="*/ 961629 h 1745551"/>
                <a:gd name="connsiteX21" fmla="*/ 0 w 1961391"/>
                <a:gd name="connsiteY21" fmla="*/ 872775 h 1745551"/>
                <a:gd name="connsiteX22" fmla="*/ 20411 w 1961391"/>
                <a:gd name="connsiteY22" fmla="*/ 783921 h 1745551"/>
                <a:gd name="connsiteX23" fmla="*/ 421473 w 1961391"/>
                <a:gd name="connsiteY23" fmla="*/ 88854 h 1745551"/>
                <a:gd name="connsiteX24" fmla="*/ 576168 w 1961391"/>
                <a:gd name="connsiteY24" fmla="*/ 0 h 1745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961391" h="1745551">
                  <a:moveTo>
                    <a:pt x="576168" y="0"/>
                  </a:moveTo>
                  <a:lnTo>
                    <a:pt x="863600" y="0"/>
                  </a:lnTo>
                  <a:lnTo>
                    <a:pt x="1097791" y="0"/>
                  </a:lnTo>
                  <a:lnTo>
                    <a:pt x="1385223" y="0"/>
                  </a:lnTo>
                  <a:cubicBezTo>
                    <a:pt x="1441086" y="0"/>
                    <a:pt x="1511271" y="40128"/>
                    <a:pt x="1539918" y="88854"/>
                  </a:cubicBezTo>
                  <a:cubicBezTo>
                    <a:pt x="1940980" y="783921"/>
                    <a:pt x="1940980" y="783921"/>
                    <a:pt x="1940980" y="783921"/>
                  </a:cubicBezTo>
                  <a:cubicBezTo>
                    <a:pt x="1954587" y="808285"/>
                    <a:pt x="1961391" y="840530"/>
                    <a:pt x="1961391" y="872775"/>
                  </a:cubicBezTo>
                  <a:cubicBezTo>
                    <a:pt x="1961391" y="905021"/>
                    <a:pt x="1954587" y="937267"/>
                    <a:pt x="1940980" y="961629"/>
                  </a:cubicBezTo>
                  <a:cubicBezTo>
                    <a:pt x="1539918" y="1656697"/>
                    <a:pt x="1539918" y="1656697"/>
                    <a:pt x="1539918" y="1656697"/>
                  </a:cubicBezTo>
                  <a:cubicBezTo>
                    <a:pt x="1511271" y="1705424"/>
                    <a:pt x="1441086" y="1745551"/>
                    <a:pt x="1385223" y="1745551"/>
                  </a:cubicBezTo>
                  <a:cubicBezTo>
                    <a:pt x="1284958" y="1745551"/>
                    <a:pt x="1197225" y="1745551"/>
                    <a:pt x="1120460" y="1745551"/>
                  </a:cubicBezTo>
                  <a:lnTo>
                    <a:pt x="1097791" y="1745551"/>
                  </a:lnTo>
                  <a:lnTo>
                    <a:pt x="1039896" y="1745551"/>
                  </a:lnTo>
                  <a:lnTo>
                    <a:pt x="1013340" y="1745551"/>
                  </a:lnTo>
                  <a:lnTo>
                    <a:pt x="948051" y="1745551"/>
                  </a:lnTo>
                  <a:lnTo>
                    <a:pt x="921495" y="1745551"/>
                  </a:lnTo>
                  <a:lnTo>
                    <a:pt x="863600" y="1745551"/>
                  </a:lnTo>
                  <a:lnTo>
                    <a:pt x="840931" y="1745551"/>
                  </a:lnTo>
                  <a:cubicBezTo>
                    <a:pt x="764166" y="1745551"/>
                    <a:pt x="676433" y="1745551"/>
                    <a:pt x="576168" y="1745551"/>
                  </a:cubicBezTo>
                  <a:cubicBezTo>
                    <a:pt x="520305" y="1745551"/>
                    <a:pt x="450120" y="1705424"/>
                    <a:pt x="421473" y="1656697"/>
                  </a:cubicBezTo>
                  <a:cubicBezTo>
                    <a:pt x="421473" y="1656697"/>
                    <a:pt x="421473" y="1656697"/>
                    <a:pt x="20411" y="961629"/>
                  </a:cubicBezTo>
                  <a:cubicBezTo>
                    <a:pt x="6804" y="937267"/>
                    <a:pt x="0" y="905021"/>
                    <a:pt x="0" y="872775"/>
                  </a:cubicBezTo>
                  <a:cubicBezTo>
                    <a:pt x="0" y="840530"/>
                    <a:pt x="6804" y="808285"/>
                    <a:pt x="20411" y="783921"/>
                  </a:cubicBezTo>
                  <a:cubicBezTo>
                    <a:pt x="20411" y="783921"/>
                    <a:pt x="20411" y="783921"/>
                    <a:pt x="421473" y="88854"/>
                  </a:cubicBezTo>
                  <a:cubicBezTo>
                    <a:pt x="450120" y="40128"/>
                    <a:pt x="520305" y="0"/>
                    <a:pt x="576168" y="0"/>
                  </a:cubicBezTo>
                  <a:close/>
                </a:path>
              </a:pathLst>
            </a:custGeom>
            <a:solidFill>
              <a:srgbClr val="9FAC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590"/>
            </a:p>
          </p:txBody>
        </p:sp>
      </p:grpSp>
      <p:sp>
        <p:nvSpPr>
          <p:cNvPr id="8" name="文本框 7"/>
          <p:cNvSpPr txBox="1"/>
          <p:nvPr/>
        </p:nvSpPr>
        <p:spPr>
          <a:xfrm>
            <a:off x="5491220" y="2726076"/>
            <a:ext cx="1209562" cy="461665"/>
          </a:xfrm>
          <a:prstGeom prst="rect">
            <a:avLst/>
          </a:prstGeom>
          <a:noFill/>
        </p:spPr>
        <p:txBody>
          <a:bodyPr wrap="none" rtlCol="0">
            <a:spAutoFit/>
          </a:bodyPr>
          <a:lstStyle/>
          <a:p>
            <a:r>
              <a:rPr lang="en-US" altLang="zh-CN" sz="2400" dirty="0">
                <a:solidFill>
                  <a:srgbClr val="557199"/>
                </a:solidFill>
                <a:latin typeface="微软雅黑" panose="020B0503020204020204" pitchFamily="34" charset="-122"/>
                <a:ea typeface="微软雅黑" panose="020B0503020204020204" pitchFamily="34" charset="-122"/>
              </a:rPr>
              <a:t>Part.05</a:t>
            </a:r>
            <a:endParaRPr lang="en-US" altLang="zh-CN" sz="2400" dirty="0">
              <a:solidFill>
                <a:srgbClr val="557199"/>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130511" y="4515192"/>
            <a:ext cx="7930978" cy="707886"/>
          </a:xfrm>
          <a:prstGeom prst="rect">
            <a:avLst/>
          </a:prstGeom>
          <a:noFill/>
          <a:ln>
            <a:noFill/>
          </a:ln>
        </p:spPr>
        <p:txBody>
          <a:bodyPr wrap="square" rtlCol="0">
            <a:spAutoFit/>
          </a:bodyPr>
          <a:lstStyle/>
          <a:p>
            <a:pPr algn="ctr"/>
            <a:r>
              <a:rPr lang="zh-CN" altLang="en-US" sz="4000" b="1" spc="600" dirty="0">
                <a:solidFill>
                  <a:srgbClr val="557199"/>
                </a:solidFill>
                <a:latin typeface="微软雅黑" panose="020B0503020204020204" pitchFamily="34" charset="-122"/>
                <a:ea typeface="微软雅黑" panose="020B0503020204020204" pitchFamily="34" charset="-122"/>
              </a:rPr>
              <a:t>代码获取与代码运行环境配置</a:t>
            </a:r>
            <a:endParaRPr lang="zh-CN" altLang="en-US" sz="4000" b="1" spc="600" dirty="0">
              <a:solidFill>
                <a:srgbClr val="557199"/>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直接连接符 33"/>
          <p:cNvCxnSpPr/>
          <p:nvPr/>
        </p:nvCxnSpPr>
        <p:spPr>
          <a:xfrm>
            <a:off x="425752" y="1528840"/>
            <a:ext cx="2379441"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245664" y="1925640"/>
            <a:ext cx="9555685" cy="2103920"/>
          </a:xfrm>
          <a:prstGeom prst="rect">
            <a:avLst/>
          </a:prstGeom>
          <a:noFill/>
          <a:ln w="6350">
            <a:solidFill>
              <a:srgbClr val="9FACC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斜纹 19"/>
          <p:cNvSpPr/>
          <p:nvPr/>
        </p:nvSpPr>
        <p:spPr>
          <a:xfrm>
            <a:off x="1217750" y="1903936"/>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3" name="矩形 22"/>
          <p:cNvSpPr/>
          <p:nvPr/>
        </p:nvSpPr>
        <p:spPr>
          <a:xfrm>
            <a:off x="1559496" y="2073138"/>
            <a:ext cx="8928000" cy="1405193"/>
          </a:xfrm>
          <a:prstGeom prst="rect">
            <a:avLst/>
          </a:prstGeom>
        </p:spPr>
        <p:txBody>
          <a:bodyPr wrap="square">
            <a:spAutoFit/>
          </a:bodyPr>
          <a:lstStyle/>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本书代码可以使用</a:t>
            </a:r>
            <a:r>
              <a:rPr lang="en-GB" altLang="zh-CN" sz="2000" dirty="0">
                <a:solidFill>
                  <a:srgbClr val="595959"/>
                </a:solidFill>
                <a:latin typeface="楷体" panose="02010609060101010101" pitchFamily="49" charset="-122"/>
                <a:ea typeface="楷体" panose="02010609060101010101" pitchFamily="49" charset="-122"/>
              </a:rPr>
              <a:t>Visual Studio Code</a:t>
            </a:r>
            <a:r>
              <a:rPr lang="zh-CN" altLang="en-GB" sz="2000" dirty="0">
                <a:solidFill>
                  <a:srgbClr val="595959"/>
                </a:solidFill>
                <a:latin typeface="楷体" panose="02010609060101010101" pitchFamily="49" charset="-122"/>
                <a:ea typeface="楷体" panose="02010609060101010101" pitchFamily="49" charset="-122"/>
              </a:rPr>
              <a:t>（</a:t>
            </a:r>
            <a:r>
              <a:rPr lang="zh-CN" altLang="en-US" sz="2000" dirty="0">
                <a:solidFill>
                  <a:srgbClr val="595959"/>
                </a:solidFill>
                <a:latin typeface="楷体" panose="02010609060101010101" pitchFamily="49" charset="-122"/>
                <a:ea typeface="楷体" panose="02010609060101010101" pitchFamily="49" charset="-122"/>
              </a:rPr>
              <a:t>以下简称</a:t>
            </a:r>
            <a:r>
              <a:rPr lang="en-GB" altLang="zh-CN" sz="2000" dirty="0">
                <a:solidFill>
                  <a:srgbClr val="595959"/>
                </a:solidFill>
                <a:latin typeface="楷体" panose="02010609060101010101" pitchFamily="49" charset="-122"/>
                <a:ea typeface="楷体" panose="02010609060101010101" pitchFamily="49" charset="-122"/>
              </a:rPr>
              <a:t>Vscode</a:t>
            </a:r>
            <a:r>
              <a:rPr lang="zh-CN" altLang="en-GB" sz="2000" dirty="0">
                <a:solidFill>
                  <a:srgbClr val="595959"/>
                </a:solidFill>
                <a:latin typeface="楷体" panose="02010609060101010101" pitchFamily="49" charset="-122"/>
                <a:ea typeface="楷体" panose="02010609060101010101" pitchFamily="49" charset="-122"/>
              </a:rPr>
              <a:t>）</a:t>
            </a:r>
            <a:r>
              <a:rPr lang="zh-CN" altLang="en-US" sz="2000" dirty="0">
                <a:solidFill>
                  <a:srgbClr val="595959"/>
                </a:solidFill>
                <a:latin typeface="楷体" panose="02010609060101010101" pitchFamily="49" charset="-122"/>
                <a:ea typeface="楷体" panose="02010609060101010101" pitchFamily="49" charset="-122"/>
              </a:rPr>
              <a:t>或</a:t>
            </a:r>
            <a:r>
              <a:rPr lang="en-GB" altLang="zh-CN" sz="2000" dirty="0">
                <a:solidFill>
                  <a:srgbClr val="595959"/>
                </a:solidFill>
                <a:latin typeface="楷体" panose="02010609060101010101" pitchFamily="49" charset="-122"/>
                <a:ea typeface="楷体" panose="02010609060101010101" pitchFamily="49" charset="-122"/>
              </a:rPr>
              <a:t>PyCharm</a:t>
            </a:r>
            <a:r>
              <a:rPr lang="zh-CN" altLang="en-US" sz="2000" dirty="0">
                <a:solidFill>
                  <a:srgbClr val="595959"/>
                </a:solidFill>
                <a:latin typeface="楷体" panose="02010609060101010101" pitchFamily="49" charset="-122"/>
                <a:ea typeface="楷体" panose="02010609060101010101" pitchFamily="49" charset="-122"/>
              </a:rPr>
              <a:t>两个软件运行</a:t>
            </a:r>
            <a:endParaRPr lang="en-US" altLang="zh-CN" sz="2000" dirty="0">
              <a:solidFill>
                <a:srgbClr val="595959"/>
              </a:solidFill>
              <a:latin typeface="楷体" panose="02010609060101010101" pitchFamily="49" charset="-122"/>
              <a:ea typeface="楷体" panose="02010609060101010101" pitchFamily="49" charset="-122"/>
            </a:endParaRPr>
          </a:p>
          <a:p>
            <a:pPr marL="342900" indent="-342900" algn="just">
              <a:lnSpc>
                <a:spcPct val="150000"/>
              </a:lnSpc>
              <a:buFont typeface="Wingdings" panose="05000000000000000000" pitchFamily="2" charset="2"/>
              <a:buChar char="l"/>
            </a:pPr>
            <a:r>
              <a:rPr lang="zh-CN" altLang="en-US" sz="2000" dirty="0">
                <a:solidFill>
                  <a:srgbClr val="595959"/>
                </a:solidFill>
                <a:latin typeface="楷体" panose="02010609060101010101" pitchFamily="49" charset="-122"/>
                <a:ea typeface="楷体" panose="02010609060101010101" pitchFamily="49" charset="-122"/>
              </a:rPr>
              <a:t>本节分别演示两种软件下运行模型的前置准备</a:t>
            </a:r>
            <a:endParaRPr lang="en-US" altLang="zh-CN" sz="2000" dirty="0">
              <a:solidFill>
                <a:srgbClr val="595959"/>
              </a:solidFill>
              <a:latin typeface="楷体" panose="02010609060101010101" pitchFamily="49" charset="-122"/>
              <a:ea typeface="楷体" panose="02010609060101010101" pitchFamily="49" charset="-122"/>
            </a:endParaRPr>
          </a:p>
        </p:txBody>
      </p:sp>
      <p:sp>
        <p:nvSpPr>
          <p:cNvPr id="21" name="斜纹 20"/>
          <p:cNvSpPr/>
          <p:nvPr/>
        </p:nvSpPr>
        <p:spPr>
          <a:xfrm rot="10800000">
            <a:off x="10456500" y="3691491"/>
            <a:ext cx="359773" cy="359773"/>
          </a:xfrm>
          <a:prstGeom prst="diagStripe">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 name="TextBox 6"/>
          <p:cNvSpPr txBox="1"/>
          <p:nvPr/>
        </p:nvSpPr>
        <p:spPr>
          <a:xfrm>
            <a:off x="265096" y="1054433"/>
            <a:ext cx="2730301" cy="466269"/>
          </a:xfrm>
          <a:prstGeom prst="rect">
            <a:avLst/>
          </a:prstGeom>
          <a:noFill/>
        </p:spPr>
        <p:txBody>
          <a:bodyPr wrap="square" lIns="0" tIns="48000" rIns="0" bIns="48000" rtlCol="0">
            <a:sp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本书代码运行环境</a:t>
            </a:r>
            <a:endPar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4"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sp>
        <p:nvSpPr>
          <p:cNvPr id="15" name="矩形 14"/>
          <p:cNvSpPr/>
          <p:nvPr/>
        </p:nvSpPr>
        <p:spPr>
          <a:xfrm>
            <a:off x="10003249" y="0"/>
            <a:ext cx="2095400" cy="792000"/>
          </a:xfrm>
          <a:prstGeom prst="rect">
            <a:avLst/>
          </a:prstGeom>
          <a:solidFill>
            <a:srgbClr val="557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6" name="TextBox 10"/>
          <p:cNvSpPr txBox="1"/>
          <p:nvPr/>
        </p:nvSpPr>
        <p:spPr>
          <a:xfrm>
            <a:off x="84803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的应用</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17" name="TextBox 11"/>
          <p:cNvSpPr txBox="1"/>
          <p:nvPr/>
        </p:nvSpPr>
        <p:spPr>
          <a:xfrm>
            <a:off x="10064089" y="215903"/>
            <a:ext cx="2009849"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代码获取与环境配置</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cxnSp>
        <p:nvCxnSpPr>
          <p:cNvPr id="19"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15"/>
          <p:cNvCxnSpPr/>
          <p:nvPr/>
        </p:nvCxnSpPr>
        <p:spPr>
          <a:xfrm>
            <a:off x="49336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16"/>
          <p:cNvCxnSpPr/>
          <p:nvPr/>
        </p:nvCxnSpPr>
        <p:spPr>
          <a:xfrm>
            <a:off x="6635448"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18"/>
          <p:cNvCxnSpPr/>
          <p:nvPr/>
        </p:nvCxnSpPr>
        <p:spPr>
          <a:xfrm>
            <a:off x="8337248" y="313246"/>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6" name="Picture 2" descr="南京农业大学招生网_2022年南京农业大学艺术类招生简章_南京农业大学专业成绩查询-美术高考网www.mshao.com"/>
          <p:cNvPicPr>
            <a:picLocks noChangeAspect="1" noChangeArrowheads="1"/>
          </p:cNvPicPr>
          <p:nvPr/>
        </p:nvPicPr>
        <p:blipFill>
          <a:blip r:embed="rId1">
            <a:clrChange>
              <a:clrFrom>
                <a:srgbClr val="FFFFFF"/>
              </a:clrFrom>
              <a:clrTo>
                <a:srgbClr val="FFFFFF">
                  <a:alpha val="0"/>
                </a:srgbClr>
              </a:clrTo>
            </a:clrChange>
            <a:duotone>
              <a:prstClr val="black"/>
              <a:srgbClr val="9FACC3">
                <a:tint val="45000"/>
                <a:satMod val="400000"/>
              </a:srgbClr>
            </a:duotone>
            <a:extLst>
              <a:ext uri="{28A0092B-C50C-407E-A947-70E740481C1C}">
                <a14:useLocalDpi xmlns:a14="http://schemas.microsoft.com/office/drawing/2010/main" val="0"/>
              </a:ext>
            </a:extLst>
          </a:blip>
          <a:srcRect/>
          <a:stretch>
            <a:fillRect/>
          </a:stretch>
        </p:blipFill>
        <p:spPr bwMode="auto">
          <a:xfrm>
            <a:off x="265096" y="99681"/>
            <a:ext cx="2730300" cy="63176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9"/>
          <p:cNvSpPr txBox="1"/>
          <p:nvPr/>
        </p:nvSpPr>
        <p:spPr>
          <a:xfrm>
            <a:off x="67785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LLM</a:t>
            </a:r>
            <a:r>
              <a:rPr lang="zh-CN" altLang="en-US" sz="1600" b="1" dirty="0">
                <a:solidFill>
                  <a:srgbClr val="7F7F7F"/>
                </a:solidFill>
                <a:latin typeface="微软雅黑" panose="020B0503020204020204" pitchFamily="34" charset="-122"/>
                <a:ea typeface="微软雅黑" panose="020B0503020204020204" pitchFamily="34" charset="-122"/>
              </a:rPr>
              <a:t>技术原理</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28" name="TextBox 7"/>
          <p:cNvSpPr txBox="1"/>
          <p:nvPr/>
        </p:nvSpPr>
        <p:spPr>
          <a:xfrm>
            <a:off x="5076749" y="215904"/>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发展史</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
        <p:nvSpPr>
          <p:cNvPr id="29" name="TextBox 6"/>
          <p:cNvSpPr txBox="1"/>
          <p:nvPr/>
        </p:nvSpPr>
        <p:spPr>
          <a:xfrm>
            <a:off x="3374949" y="215903"/>
            <a:ext cx="1344000" cy="343159"/>
          </a:xfrm>
          <a:prstGeom prst="rect">
            <a:avLst/>
          </a:prstGeom>
          <a:noFill/>
        </p:spPr>
        <p:txBody>
          <a:bodyPr wrap="square" lIns="0" tIns="48000" rIns="0" bIns="48000" rtlCol="0">
            <a:spAutoFit/>
          </a:bodyPr>
          <a:lstStyle/>
          <a:p>
            <a:pPr algn="ctr"/>
            <a:r>
              <a:rPr lang="en-US" altLang="zh-CN" sz="1600" b="1" dirty="0">
                <a:solidFill>
                  <a:srgbClr val="7F7F7F"/>
                </a:solidFill>
                <a:latin typeface="微软雅黑" panose="020B0503020204020204" pitchFamily="34" charset="-122"/>
                <a:ea typeface="微软雅黑" panose="020B0503020204020204" pitchFamily="34" charset="-122"/>
              </a:rPr>
              <a:t>LM</a:t>
            </a:r>
            <a:r>
              <a:rPr lang="zh-CN" altLang="en-US" sz="1600" b="1" dirty="0">
                <a:solidFill>
                  <a:srgbClr val="7F7F7F"/>
                </a:solidFill>
                <a:latin typeface="微软雅黑" panose="020B0503020204020204" pitchFamily="34" charset="-122"/>
                <a:ea typeface="微软雅黑" panose="020B0503020204020204" pitchFamily="34" charset="-122"/>
              </a:rPr>
              <a:t>简介</a:t>
            </a:r>
            <a:endParaRPr lang="zh-CN" altLang="en-US" sz="1600" b="1" dirty="0">
              <a:solidFill>
                <a:srgbClr val="7F7F7F"/>
              </a:solidFill>
              <a:latin typeface="微软雅黑" panose="020B0503020204020204" pitchFamily="34" charset="-122"/>
              <a:ea typeface="微软雅黑" panose="020B0503020204020204" pitchFamily="34" charset="-122"/>
            </a:endParaRPr>
          </a:p>
        </p:txBody>
      </p:sp>
    </p:spTree>
  </p:cSld>
  <p:clrMapOvr>
    <a:masterClrMapping/>
  </p:clrMapOvr>
</p:sld>
</file>

<file path=ppt/tags/tag1.xml><?xml version="1.0" encoding="utf-8"?>
<p:tagLst xmlns:p="http://schemas.openxmlformats.org/presentationml/2006/main">
  <p:tag name="MH" val="20151121191650"/>
  <p:tag name="MH_LIBRARY" val="GRAPHIC"/>
  <p:tag name="MH_TYPE" val="Other"/>
  <p:tag name="MH_ORDER" val="8"/>
</p:tagLst>
</file>

<file path=ppt/tags/tag2.xml><?xml version="1.0" encoding="utf-8"?>
<p:tagLst xmlns:p="http://schemas.openxmlformats.org/presentationml/2006/main">
  <p:tag name="MH" val="20151121191650"/>
  <p:tag name="MH_LIBRARY" val="GRAPHIC"/>
  <p:tag name="MH_TYPE" val="Other"/>
  <p:tag name="MH_ORDER" val="8"/>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PP_MARK_KEY" val="9a145745-054e-4344-ae81-128cd4846326"/>
  <p:tag name="COMMONDATA" val="eyJoZGlkIjoiNGU5YTk2NWU3OTRhNTU0YjZlNWE0ODExMjY4YzM0MTgifQ=="/>
  <p:tag name="RESOURCE_RECORD_KEY" val="{&quot;29&quot;:[50053052,50053088,50053133,50053176,50053280,50052953,50053246]}"/>
</p:tagLst>
</file>

<file path=ppt/theme/theme1.xml><?xml version="1.0" encoding="utf-8"?>
<a:theme xmlns:a="http://schemas.openxmlformats.org/drawingml/2006/main" name="Office 主题​​">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7790</Words>
  <Application>WPS 演示</Application>
  <PresentationFormat>宽屏</PresentationFormat>
  <Paragraphs>784</Paragraphs>
  <Slides>41</Slides>
  <Notes>42</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41</vt:i4>
      </vt:variant>
    </vt:vector>
  </HeadingPairs>
  <TitlesOfParts>
    <vt:vector size="72" baseType="lpstr">
      <vt:lpstr>Arial</vt:lpstr>
      <vt:lpstr>宋体</vt:lpstr>
      <vt:lpstr>Wingdings</vt:lpstr>
      <vt:lpstr>楷体</vt:lpstr>
      <vt:lpstr>汉仪楷体KW</vt:lpstr>
      <vt:lpstr>微软雅黑</vt:lpstr>
      <vt:lpstr>Roboto Light</vt:lpstr>
      <vt:lpstr>汉仪书宋二KW</vt:lpstr>
      <vt:lpstr>汉仪旗黑</vt:lpstr>
      <vt:lpstr>Impact MT Std</vt:lpstr>
      <vt:lpstr>思源宋体</vt:lpstr>
      <vt:lpstr>等线</vt:lpstr>
      <vt:lpstr>汉仪中等线KW</vt:lpstr>
      <vt:lpstr>宋体</vt:lpstr>
      <vt:lpstr>Arial Unicode MS</vt:lpstr>
      <vt:lpstr>等线 Light</vt:lpstr>
      <vt:lpstr>华文宋体</vt:lpstr>
      <vt:lpstr>微软雅黑 Light</vt:lpstr>
      <vt:lpstr>Times New Roman</vt:lpstr>
      <vt:lpstr>Calibri</vt:lpstr>
      <vt:lpstr>inpin heiti</vt:lpstr>
      <vt:lpstr>Helvetica Neue</vt:lpstr>
      <vt:lpstr>苹方-简</vt:lpstr>
      <vt:lpstr>汉仪中黑KW</vt:lpstr>
      <vt:lpstr>Wingdings</vt:lpstr>
      <vt:lpstr>inpin heiti</vt:lpstr>
      <vt:lpstr>微软雅黑</vt:lpstr>
      <vt:lpstr>微软雅黑 Light</vt:lpstr>
      <vt:lpstr>思源宋体</vt:lpstr>
      <vt:lpstr>楷体</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答辩-19</dc:title>
  <dc:creator>LP</dc:creator>
  <cp:lastModifiedBy>karen</cp:lastModifiedBy>
  <cp:revision>300</cp:revision>
  <dcterms:created xsi:type="dcterms:W3CDTF">2026-02-11T13:50:45Z</dcterms:created>
  <dcterms:modified xsi:type="dcterms:W3CDTF">2026-02-11T13:50:45Z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2052-12.1.25195.25195</vt:lpwstr>
  </property>
  <property fmtid="{D5CDD505-2E9C-101B-9397-08002B2CF9AE}" pid="3" name="ICV">
    <vt:lpwstr>900B9435B2E640B5B2D6B38F52A56368</vt:lpwstr>
  </property>
</Properties>
</file>